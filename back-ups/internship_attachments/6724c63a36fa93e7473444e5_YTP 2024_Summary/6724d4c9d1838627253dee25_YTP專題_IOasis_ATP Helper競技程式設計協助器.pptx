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8" r:id="rId3"/>
    <p:sldId id="269" r:id="rId4"/>
    <p:sldId id="267" r:id="rId5"/>
    <p:sldId id="257" r:id="rId6"/>
    <p:sldId id="260" r:id="rId7"/>
    <p:sldId id="270" r:id="rId8"/>
    <p:sldId id="271" r:id="rId9"/>
    <p:sldId id="272" r:id="rId10"/>
    <p:sldId id="273" r:id="rId11"/>
    <p:sldId id="266" r:id="rId12"/>
    <p:sldId id="274" r:id="rId13"/>
    <p:sldId id="276" r:id="rId14"/>
    <p:sldId id="275" r:id="rId15"/>
    <p:sldId id="280" r:id="rId16"/>
    <p:sldId id="277" r:id="rId17"/>
    <p:sldId id="278" r:id="rId18"/>
    <p:sldId id="279" r:id="rId19"/>
    <p:sldId id="264" r:id="rId20"/>
    <p:sldId id="259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C89147FC-11B5-4C88-8DA4-52051BA9A031}">
          <p14:sldIdLst>
            <p14:sldId id="256"/>
            <p14:sldId id="268"/>
            <p14:sldId id="269"/>
            <p14:sldId id="267"/>
            <p14:sldId id="257"/>
            <p14:sldId id="260"/>
            <p14:sldId id="270"/>
            <p14:sldId id="271"/>
            <p14:sldId id="272"/>
            <p14:sldId id="273"/>
            <p14:sldId id="266"/>
            <p14:sldId id="274"/>
            <p14:sldId id="276"/>
            <p14:sldId id="275"/>
            <p14:sldId id="280"/>
            <p14:sldId id="277"/>
            <p14:sldId id="278"/>
            <p14:sldId id="279"/>
            <p14:sldId id="264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>
      <p:cViewPr varScale="1">
        <p:scale>
          <a:sx n="79" d="100"/>
          <a:sy n="79" d="100"/>
        </p:scale>
        <p:origin x="1589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FCCE-4C25-4247-A5F8-6B13D52C7D7D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2EA5A-01FC-4B7B-B8ED-4BFFC62BA9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642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r>
              <a:rPr lang="en-US" altLang="zh-TW" dirty="0"/>
              <a:t>12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70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646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22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92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34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379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638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36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181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290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299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123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B244C-98E9-483C-976D-6243DD23A744}" type="datetimeFigureOut">
              <a:rPr lang="zh-TW" altLang="en-US" smtClean="0"/>
              <a:t>2022/6/10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237C1-0EFD-4832-97F6-A90D04515C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379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文鼎粗圓" panose="020B0609010101010101" pitchFamily="49" charset="-120"/>
          <a:ea typeface="文鼎粗圓" panose="020B0609010101010101" pitchFamily="49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ahoma" panose="020B0604030504040204" pitchFamily="34" charset="0"/>
          <a:ea typeface="文鼎中圓" panose="020B0609010101010101" pitchFamily="49" charset="-120"/>
          <a:cs typeface="Tahom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文鼎中圓" panose="020B0609010101010101" pitchFamily="49" charset="-120"/>
          <a:ea typeface="文鼎中圓" panose="020B0609010101010101" pitchFamily="49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文鼎中圓" panose="020B0609010101010101" pitchFamily="49" charset="-120"/>
          <a:ea typeface="文鼎中圓" panose="020B0609010101010101" pitchFamily="49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文鼎中圓" panose="020B0609010101010101" pitchFamily="49" charset="-120"/>
          <a:ea typeface="文鼎中圓" panose="020B0609010101010101" pitchFamily="49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文鼎中圓" panose="020B0609010101010101" pitchFamily="49" charset="-120"/>
          <a:ea typeface="文鼎中圓" panose="020B0609010101010101" pitchFamily="49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319015"/>
            <a:ext cx="7772400" cy="1470025"/>
          </a:xfrm>
        </p:spPr>
        <p:txBody>
          <a:bodyPr>
            <a:noAutofit/>
          </a:bodyPr>
          <a:lstStyle/>
          <a:p>
            <a:pPr algn="r"/>
            <a:r>
              <a:rPr lang="en-US" altLang="zh-TW" b="1" dirty="0" err="1">
                <a:latin typeface="DIN-Medium" panose="020B0500000000000000" pitchFamily="34" charset="0"/>
                <a:ea typeface="文鼎新中黑" panose="020B0609010101010101" pitchFamily="49" charset="-120"/>
              </a:rPr>
              <a:t>IOasis</a:t>
            </a:r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 </a:t>
            </a:r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競程綠洲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051720" y="3980656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zh-TW" altLang="en-US" sz="2400" dirty="0">
                <a:solidFill>
                  <a:schemeClr val="bg1"/>
                </a:solidFill>
                <a:latin typeface="DIN-Medium" panose="020B0500000000000000" pitchFamily="34" charset="0"/>
                <a:ea typeface="文鼎新中黑" panose="020B0609010101010101" pitchFamily="49" charset="-120"/>
              </a:rPr>
              <a:t>曹宸睿、林禾堃、黃允謙</a:t>
            </a:r>
          </a:p>
        </p:txBody>
      </p:sp>
    </p:spTree>
    <p:extLst>
      <p:ext uri="{BB962C8B-B14F-4D97-AF65-F5344CB8AC3E}">
        <p14:creationId xmlns:p14="http://schemas.microsoft.com/office/powerpoint/2010/main" val="1591592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C1D9B7-04DA-4737-A125-7F75859D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緣起</a:t>
            </a:r>
          </a:p>
        </p:txBody>
      </p:sp>
      <p:pic>
        <p:nvPicPr>
          <p:cNvPr id="1026" name="Picture 2" descr="台灣各鄉鎮市區家戶平均所得(Family income by admin 3, Taiwan) - 小小整理網站Smallcollation">
            <a:extLst>
              <a:ext uri="{FF2B5EF4-FFF2-40B4-BE49-F238E27FC236}">
                <a16:creationId xmlns:a16="http://schemas.microsoft.com/office/drawing/2014/main" id="{46C15429-DBBE-4C5B-ABEA-A2A2CE58D7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052009"/>
            <a:ext cx="3164453" cy="525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6B57352-09DA-4044-B537-829A3DA331D5}"/>
              </a:ext>
            </a:extLst>
          </p:cNvPr>
          <p:cNvSpPr txBox="1">
            <a:spLocks/>
          </p:cNvSpPr>
          <p:nvPr/>
        </p:nvSpPr>
        <p:spPr>
          <a:xfrm>
            <a:off x="395536" y="1396042"/>
            <a:ext cx="5122912" cy="4815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文鼎中圓" panose="020B0609010101010101" pitchFamily="49" charset="-12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背景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臺南人 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x2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、宜蘭人 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x1</a:t>
            </a: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現正就讀臺大、清大資工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問題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南北資訊資源極度不均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南部資訊圈缺乏討論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解法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提供較不具排他性、可共享的教育資源</a:t>
            </a:r>
          </a:p>
          <a:p>
            <a:pPr lvl="1"/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361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C1D9B7-04DA-4737-A125-7F75859D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過去的努力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6B57352-09DA-4044-B537-829A3DA331D5}"/>
              </a:ext>
            </a:extLst>
          </p:cNvPr>
          <p:cNvSpPr txBox="1">
            <a:spLocks/>
          </p:cNvSpPr>
          <p:nvPr/>
        </p:nvSpPr>
        <p:spPr>
          <a:xfrm>
            <a:off x="118599" y="1196752"/>
            <a:ext cx="4947887" cy="48151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文鼎中圓" panose="020B0609010101010101" pitchFamily="49" charset="-12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校內</a:t>
            </a:r>
            <a:endParaRPr lang="en-US" altLang="zh-TW" sz="2400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創立台南一中資訊讀書會</a:t>
            </a:r>
            <a:endParaRPr lang="en-US" altLang="zh-TW" sz="2200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創立宜蘭高中資訊讀書會</a:t>
            </a:r>
            <a:endParaRPr lang="en-US" altLang="zh-TW" sz="2200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sz="2400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校外</a:t>
            </a:r>
            <a:endParaRPr lang="en-US" altLang="zh-TW" sz="2400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創立南台灣高中資訊社群</a:t>
            </a:r>
            <a:r>
              <a:rPr lang="en-US" altLang="zh-TW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(SCIST)</a:t>
            </a:r>
          </a:p>
          <a:p>
            <a:pPr lvl="1"/>
            <a:r>
              <a:rPr lang="zh-TW" altLang="en-US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撰寫</a:t>
            </a:r>
            <a:r>
              <a:rPr lang="en-US" altLang="zh-TW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&lt;</a:t>
            </a:r>
            <a:r>
              <a:rPr lang="zh-TW" altLang="en-US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從零開始的演算法競賽入門教學</a:t>
            </a:r>
            <a:r>
              <a:rPr lang="en-US" altLang="zh-TW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&gt;</a:t>
            </a:r>
          </a:p>
          <a:p>
            <a:pPr lvl="1"/>
            <a:r>
              <a:rPr lang="zh-TW" altLang="en-US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宜蘭林燈 </a:t>
            </a:r>
            <a:r>
              <a:rPr lang="en-US" altLang="zh-TW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APCS</a:t>
            </a:r>
            <a:r>
              <a:rPr lang="zh-TW" altLang="en-US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 程式設計班</a:t>
            </a:r>
            <a:endParaRPr lang="en-US" altLang="zh-TW" sz="2200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sz="2400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問題</a:t>
            </a:r>
            <a:endParaRPr lang="en-US" altLang="zh-TW" sz="2400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部份資源屬於單向給予，無法依照學生程度調整內容</a:t>
            </a:r>
            <a:endParaRPr lang="en-US" altLang="zh-TW" sz="2200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sz="2200" dirty="0">
                <a:latin typeface="DIN-Medium" panose="020B0500000000000000" pitchFamily="34" charset="0"/>
                <a:ea typeface="文鼎新中黑" panose="020B0609010101010101" pitchFamily="49" charset="-120"/>
              </a:rPr>
              <a:t>部份較好的資源具有排他性</a:t>
            </a:r>
            <a:endParaRPr lang="en-US" altLang="zh-TW" sz="2200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sz="2000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893BD01-BA8D-4FC2-AE73-142306EE8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176" y="2696544"/>
            <a:ext cx="1648055" cy="1267002"/>
          </a:xfrm>
          <a:prstGeom prst="rect">
            <a:avLst/>
          </a:prstGeom>
        </p:spPr>
      </p:pic>
      <p:pic>
        <p:nvPicPr>
          <p:cNvPr id="2050" name="Picture 2" descr="未提供相片說明。">
            <a:extLst>
              <a:ext uri="{FF2B5EF4-FFF2-40B4-BE49-F238E27FC236}">
                <a16:creationId xmlns:a16="http://schemas.microsoft.com/office/drawing/2014/main" id="{90911E90-DD21-4BF2-95E6-53FE79F55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537" y="1624354"/>
            <a:ext cx="1920639" cy="113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F98ED76-39CB-43CD-BA8A-EDCA49AFA8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72" y="4043714"/>
            <a:ext cx="3641385" cy="2141644"/>
          </a:xfrm>
          <a:prstGeom prst="rect">
            <a:avLst/>
          </a:prstGeom>
        </p:spPr>
      </p:pic>
      <p:pic>
        <p:nvPicPr>
          <p:cNvPr id="2052" name="Picture 4" descr="可能是顯示的文字是「南一中資訊社 資訊社 TFcis 」的圖像">
            <a:extLst>
              <a:ext uri="{FF2B5EF4-FFF2-40B4-BE49-F238E27FC236}">
                <a16:creationId xmlns:a16="http://schemas.microsoft.com/office/drawing/2014/main" id="{78110805-FCC0-401D-9DDA-1D1B3C6DD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803" y="1352671"/>
            <a:ext cx="1343873" cy="134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ternational Olympiad in Informatics (IOI)">
            <a:extLst>
              <a:ext uri="{FF2B5EF4-FFF2-40B4-BE49-F238E27FC236}">
                <a16:creationId xmlns:a16="http://schemas.microsoft.com/office/drawing/2014/main" id="{C8D9FA1F-BDE4-4B35-BE44-7182D7373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488" y="2564969"/>
            <a:ext cx="1629845" cy="127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CAF31ED-CEFB-EF1A-3630-700CE82C87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810" y="734687"/>
            <a:ext cx="1124744" cy="11247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64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競技程式設計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Competitive</a:t>
            </a:r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 </a:t>
            </a:r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Programming</a:t>
            </a: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在短時間（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2hr – 5hr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）間，解決給定的演算法題目，包括 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binary search, dynamic programming, graphs, data structure 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等等。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為何選擇競技程式設計？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對高中生來說較易上手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訓練面對問題的思考能力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易有階段成果，提昇自信心</a:t>
            </a:r>
          </a:p>
          <a:p>
            <a:pPr lvl="1"/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pic>
        <p:nvPicPr>
          <p:cNvPr id="4098" name="Picture 2" descr="未提供說明。">
            <a:extLst>
              <a:ext uri="{FF2B5EF4-FFF2-40B4-BE49-F238E27FC236}">
                <a16:creationId xmlns:a16="http://schemas.microsoft.com/office/drawing/2014/main" id="{8879A9DB-BC8F-402B-BF37-5B4B0560A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645024"/>
            <a:ext cx="3168352" cy="211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48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問題定義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3568" y="1268760"/>
            <a:ext cx="4176464" cy="4896544"/>
          </a:xfrm>
        </p:spPr>
        <p:txBody>
          <a:bodyPr>
            <a:normAutofit/>
          </a:bodyPr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想解決的問題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南北資訊落差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練習時需要協助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使用者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自學程式的學生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資訊社群的成員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資訊社團活動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marL="457200" lvl="1" indent="0">
              <a:buNone/>
            </a:pP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zh-TW" altLang="en-US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sp>
        <p:nvSpPr>
          <p:cNvPr id="55" name="內容版面配置區 2">
            <a:extLst>
              <a:ext uri="{FF2B5EF4-FFF2-40B4-BE49-F238E27FC236}">
                <a16:creationId xmlns:a16="http://schemas.microsoft.com/office/drawing/2014/main" id="{49CC1B4E-DCF0-485F-9738-257F82C809ED}"/>
              </a:ext>
            </a:extLst>
          </p:cNvPr>
          <p:cNvSpPr txBox="1">
            <a:spLocks/>
          </p:cNvSpPr>
          <p:nvPr/>
        </p:nvSpPr>
        <p:spPr>
          <a:xfrm>
            <a:off x="4572000" y="1982808"/>
            <a:ext cx="4176464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文鼎中圓" panose="020B0609010101010101" pitchFamily="49" charset="-12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文鼎中圓" panose="020B0609010101010101" pitchFamily="49" charset="-120"/>
                <a:ea typeface="文鼎中圓" panose="020B0609010101010101" pitchFamily="49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提案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演算法練習助手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ATP(Algorithm Training Partner)</a:t>
            </a:r>
          </a:p>
          <a:p>
            <a:pPr lvl="1"/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需求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衡量自身能力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提供學習方向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zh-TW" altLang="en-US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zh-TW" altLang="en-US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3834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演算法練習助手 </a:t>
            </a:r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-- ATP</a:t>
            </a:r>
            <a:endParaRPr lang="zh-TW" altLang="en-US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75658"/>
          </a:xfrm>
        </p:spPr>
        <p:txBody>
          <a:bodyPr>
            <a:normAutofit lnSpcReduction="10000"/>
          </a:bodyPr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題目推薦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透過演算法分析最適合使用者的題目！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使用 </a:t>
            </a:r>
            <a:r>
              <a:rPr lang="en-US" altLang="zh-TW" dirty="0" err="1">
                <a:latin typeface="DIN-Medium" panose="020B0500000000000000" pitchFamily="34" charset="0"/>
                <a:ea typeface="文鼎新中黑" panose="020B0609010101010101" pitchFamily="49" charset="-120"/>
              </a:rPr>
              <a:t>Codeforces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 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平台，題目品質最穩定！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能力分析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圖形化指標，各主題的熟悉程度一目了然！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Rating 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隨時更新，看見自己的成長！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採用 </a:t>
            </a:r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discord bot 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無須額外下載程式，最方便！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能直接邀請加入社群，與朋友一同切磋！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3084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610744" cy="1143000"/>
          </a:xfrm>
        </p:spPr>
        <p:txBody>
          <a:bodyPr/>
          <a:lstStyle/>
          <a:p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ATP </a:t>
            </a:r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功能介紹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8350374" cy="4675658"/>
          </a:xfrm>
        </p:spPr>
        <p:txBody>
          <a:bodyPr>
            <a:normAutofit/>
          </a:bodyPr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註冊使用者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將社群軟體 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discord 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帳號連結至題目平台 </a:t>
            </a:r>
            <a:r>
              <a:rPr lang="en-US" altLang="zh-TW" dirty="0" err="1">
                <a:latin typeface="DIN-Medium" panose="020B0500000000000000" pitchFamily="34" charset="0"/>
                <a:ea typeface="文鼎新中黑" panose="020B0609010101010101" pitchFamily="49" charset="-120"/>
              </a:rPr>
              <a:t>Codeforces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 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帳號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傳送 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Compile Error 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到 </a:t>
            </a:r>
            <a:r>
              <a:rPr lang="en-US" altLang="zh-TW" dirty="0" err="1">
                <a:latin typeface="DIN-Medium" panose="020B0500000000000000" pitchFamily="34" charset="0"/>
                <a:ea typeface="文鼎新中黑" panose="020B0609010101010101" pitchFamily="49" charset="-120"/>
              </a:rPr>
              <a:t>Codeforces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，驗證身份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自動抓取過往解題紀錄，不必從 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0 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開始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marL="457200" lvl="1" indent="0">
              <a:buNone/>
            </a:pP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C31CA5-0D2F-4CB9-B39F-1F6C8549D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57" y="4077072"/>
            <a:ext cx="5243686" cy="190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9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610744" cy="1143000"/>
          </a:xfrm>
        </p:spPr>
        <p:txBody>
          <a:bodyPr/>
          <a:lstStyle/>
          <a:p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ATP </a:t>
            </a:r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功能介紹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4258816" cy="4675658"/>
          </a:xfrm>
        </p:spPr>
        <p:txBody>
          <a:bodyPr>
            <a:normAutofit/>
          </a:bodyPr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個人檔案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將一個人的演算法能力分為六大類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採用雷達圖呈現，能力分佈一目了然，得知自身擅長領域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了解自己的能力後，開始挑戰之旅吧！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marL="457200" lvl="1" indent="0">
              <a:buNone/>
            </a:pP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A77300-7354-4B5F-8ED8-11E668C819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29"/>
          <a:stretch/>
        </p:blipFill>
        <p:spPr>
          <a:xfrm>
            <a:off x="5076786" y="735040"/>
            <a:ext cx="3615446" cy="538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63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610744" cy="1143000"/>
          </a:xfrm>
        </p:spPr>
        <p:txBody>
          <a:bodyPr/>
          <a:lstStyle/>
          <a:p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ATP </a:t>
            </a:r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功能介紹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4258816" cy="4675658"/>
          </a:xfrm>
        </p:spPr>
        <p:txBody>
          <a:bodyPr>
            <a:normAutofit/>
          </a:bodyPr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題目挑戰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設定想要的題目難度以及想練習的主題，交由系統推薦題目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也可以什麼都不打，讓演算法找到最適合你的題目！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marL="457200" lvl="1" indent="0">
              <a:buNone/>
            </a:pP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A61DC17-7E1D-41BE-A34C-0F63BAB367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479"/>
          <a:stretch/>
        </p:blipFill>
        <p:spPr>
          <a:xfrm>
            <a:off x="4743048" y="1628800"/>
            <a:ext cx="4211053" cy="337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2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610744" cy="1143000"/>
          </a:xfrm>
        </p:spPr>
        <p:txBody>
          <a:bodyPr/>
          <a:lstStyle/>
          <a:p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ATP </a:t>
            </a:r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功能介紹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4258816" cy="4675658"/>
          </a:xfrm>
        </p:spPr>
        <p:txBody>
          <a:bodyPr>
            <a:normAutofit/>
          </a:bodyPr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完成</a:t>
            </a:r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/</a:t>
            </a:r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放棄挑戰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完成挑戰了嗎？回報系統後通過檢查，就能得到相對應的分數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採用特殊演算法，對難題挑戰進行獎勵，成功有額外加分，失敗則可以扣比較少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8964BEF-9F83-4D32-9F54-FED5FD1A01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1122"/>
          <a:stretch/>
        </p:blipFill>
        <p:spPr>
          <a:xfrm>
            <a:off x="4932040" y="3356992"/>
            <a:ext cx="3852559" cy="253400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52E3F38-E624-46F3-8993-4B557560F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872" y="807748"/>
            <a:ext cx="3898727" cy="240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83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DEMO </a:t>
            </a:r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時間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使用方式</a:t>
            </a:r>
            <a:endParaRPr lang="en-US" altLang="zh-TW" b="1" dirty="0">
              <a:solidFill>
                <a:srgbClr val="333333"/>
              </a:solidFill>
              <a:latin typeface="-apple-system"/>
            </a:endParaRPr>
          </a:p>
          <a:p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題目挑戰</a:t>
            </a:r>
            <a:endParaRPr lang="en-US" altLang="zh-TW" b="1" dirty="0">
              <a:solidFill>
                <a:srgbClr val="333333"/>
              </a:solidFill>
              <a:latin typeface="-apple-system"/>
            </a:endParaRPr>
          </a:p>
          <a:p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能力分析</a:t>
            </a:r>
            <a:endParaRPr lang="en-US" altLang="zh-TW" b="1" dirty="0">
              <a:solidFill>
                <a:srgbClr val="333333"/>
              </a:solidFill>
              <a:latin typeface="-apple-system"/>
            </a:endParaRPr>
          </a:p>
          <a:p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題目推薦</a:t>
            </a:r>
            <a:endParaRPr lang="en-US" altLang="zh-TW" b="1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自訂模式</a:t>
            </a:r>
            <a:endParaRPr lang="en-US" altLang="zh-TW" b="1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pic>
        <p:nvPicPr>
          <p:cNvPr id="2050" name="Picture 2" descr="可能是一或多人、大家坐著、大家站著和室內的圖像">
            <a:extLst>
              <a:ext uri="{FF2B5EF4-FFF2-40B4-BE49-F238E27FC236}">
                <a16:creationId xmlns:a16="http://schemas.microsoft.com/office/drawing/2014/main" id="{50659ADE-E570-4B1D-BBF9-B51ECA960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29" y="2411998"/>
            <a:ext cx="5543171" cy="369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85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技術細節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背景設定</a:t>
            </a:r>
            <a:endParaRPr lang="en-US" altLang="zh-TW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lvl="1"/>
            <a:r>
              <a:rPr lang="zh-TW" altLang="en-US" i="0" dirty="0">
                <a:solidFill>
                  <a:srgbClr val="333333"/>
                </a:solidFill>
                <a:effectLst/>
                <a:latin typeface="-apple-system"/>
              </a:rPr>
              <a:t>利用 </a:t>
            </a:r>
            <a:r>
              <a:rPr lang="en-US" altLang="zh-TW" i="0" dirty="0" err="1">
                <a:solidFill>
                  <a:srgbClr val="333333"/>
                </a:solidFill>
                <a:effectLst/>
                <a:latin typeface="-apple-system"/>
              </a:rPr>
              <a:t>Codeforces</a:t>
            </a:r>
            <a:r>
              <a:rPr lang="en-US" altLang="zh-TW" i="0" dirty="0">
                <a:solidFill>
                  <a:srgbClr val="333333"/>
                </a:solidFill>
                <a:effectLst/>
                <a:latin typeface="-apple-system"/>
              </a:rPr>
              <a:t> API </a:t>
            </a:r>
            <a:r>
              <a:rPr lang="zh-TW" altLang="en-US" i="0" dirty="0">
                <a:solidFill>
                  <a:srgbClr val="333333"/>
                </a:solidFill>
                <a:effectLst/>
                <a:latin typeface="-apple-system"/>
              </a:rPr>
              <a:t>擷取各項資料（題庫、題目類別、上傳資訊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……</a:t>
            </a:r>
            <a:r>
              <a:rPr lang="zh-TW" altLang="en-US" i="0" dirty="0">
                <a:solidFill>
                  <a:srgbClr val="333333"/>
                </a:solidFill>
                <a:effectLst/>
                <a:latin typeface="-apple-system"/>
              </a:rPr>
              <a:t>）</a:t>
            </a:r>
            <a:endParaRPr lang="en-US" altLang="zh-TW" i="0" dirty="0">
              <a:solidFill>
                <a:srgbClr val="333333"/>
              </a:solidFill>
              <a:effectLst/>
              <a:latin typeface="-apple-system"/>
            </a:endParaRPr>
          </a:p>
          <a:p>
            <a:pPr lvl="1"/>
            <a:r>
              <a:rPr lang="zh-TW" altLang="en-US" i="0" dirty="0">
                <a:solidFill>
                  <a:srgbClr val="333333"/>
                </a:solidFill>
                <a:effectLst/>
                <a:latin typeface="-apple-system"/>
              </a:rPr>
              <a:t>啟動時直接將所有題庫資訊儲存於本地，減少</a:t>
            </a:r>
            <a:r>
              <a:rPr lang="en-US" altLang="zh-TW" i="0" dirty="0">
                <a:solidFill>
                  <a:srgbClr val="333333"/>
                </a:solidFill>
                <a:effectLst/>
                <a:latin typeface="-apple-system"/>
              </a:rPr>
              <a:t>API</a:t>
            </a:r>
            <a:r>
              <a:rPr lang="zh-TW" altLang="en-US" i="0" dirty="0">
                <a:solidFill>
                  <a:srgbClr val="333333"/>
                </a:solidFill>
                <a:effectLst/>
                <a:latin typeface="-apple-system"/>
              </a:rPr>
              <a:t> 請求時間</a:t>
            </a:r>
            <a:endParaRPr lang="en-US" altLang="zh-TW" i="0" dirty="0">
              <a:solidFill>
                <a:srgbClr val="333333"/>
              </a:solidFill>
              <a:effectLst/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使用 </a:t>
            </a:r>
            <a:r>
              <a:rPr lang="en-US" altLang="zh-TW" dirty="0" err="1">
                <a:solidFill>
                  <a:srgbClr val="333333"/>
                </a:solidFill>
                <a:latin typeface="-apple-system"/>
              </a:rPr>
              <a:t>sqlite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儲存使用者資料與挑戰紀錄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2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方便未來擴充網頁版功能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以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 python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 為主體，並利用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 discord.py 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提供的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API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 與撰寫機器人</a:t>
            </a:r>
            <a:endParaRPr lang="en-US" altLang="zh-TW" i="0" dirty="0">
              <a:solidFill>
                <a:srgbClr val="333333"/>
              </a:solidFill>
              <a:effectLst/>
              <a:latin typeface="-apple-system"/>
            </a:endParaRPr>
          </a:p>
          <a:p>
            <a:pPr lvl="1"/>
            <a:endParaRPr lang="en-US" altLang="zh-TW" dirty="0">
              <a:solidFill>
                <a:srgbClr val="333333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05226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技術細節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註冊使用者</a:t>
            </a:r>
            <a:endParaRPr lang="en-US" altLang="zh-TW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使用者輸入他於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CF 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平台上的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ID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，並利用該帳號上傳一筆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CE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 至指定題目。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利用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CF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API 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檢查該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ID 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是否確實於一分鐘內有指定上傳紀錄，並將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ID 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記錄於資料庫。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請求該帳號前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1000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 筆上傳資料並過濾出成功解出的題目，再利用這些題目計算使用者的初始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ratings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，最後將計算出來的數字與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1000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 取平均。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最終初始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rating 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會略低，一方面避免使用者高估自己能力，另一方面讓使用者在初期更容易建立信心。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altLang="zh-TW" dirty="0">
              <a:solidFill>
                <a:srgbClr val="333333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13183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技術細節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個人檔案</a:t>
            </a:r>
            <a:endParaRPr lang="en-US" altLang="zh-TW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將六項能力指標轉換為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Z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 分數，使能力差異更容易顯現。 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綜合能力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為六項的調和平均，使得低分能力值影響更大，以達到追求均衡發展之目的。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最終使用 </a:t>
            </a:r>
            <a:r>
              <a:rPr lang="en-US" altLang="zh-TW" dirty="0" err="1">
                <a:solidFill>
                  <a:srgbClr val="333333"/>
                </a:solidFill>
                <a:latin typeface="-apple-system"/>
              </a:rPr>
              <a:t>pygal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將六項能力指標以雷達圖視覺化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altLang="zh-TW" dirty="0">
              <a:solidFill>
                <a:srgbClr val="333333"/>
              </a:solidFill>
              <a:latin typeface="-apple-syste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FE97CD8-2989-C1E3-7F39-83FA1FAD250F}"/>
                  </a:ext>
                </a:extLst>
              </p:cNvPr>
              <p:cNvSpPr txBox="1"/>
              <p:nvPr/>
            </p:nvSpPr>
            <p:spPr>
              <a:xfrm>
                <a:off x="3743908" y="4149080"/>
                <a:ext cx="1656184" cy="791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den>
                    </m:f>
                  </m:oMath>
                </a14:m>
                <a:r>
                  <a:rPr lang="zh-TW" alt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FE97CD8-2989-C1E3-7F39-83FA1FAD2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908" y="4149080"/>
                <a:ext cx="1656184" cy="7918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448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技術細節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題目挑戰：推薦系統</a:t>
            </a:r>
            <a:endParaRPr lang="en-US" altLang="zh-TW" b="1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以最大化</a:t>
            </a:r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綜合能力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為目標，推薦最適合的題目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從題庫中計算各題在成功解出後，使用者新的綜合能力。並取前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20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名作為候選題目。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從候選題目中隨機選取一題，回傳給使用者。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altLang="zh-TW" dirty="0">
              <a:solidFill>
                <a:srgbClr val="333333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683937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技術細節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題目挑戰：指定項目</a:t>
            </a:r>
            <a:endParaRPr lang="en-US" altLang="zh-TW" b="1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使用者輸入指定難度與練習項目，從已下載的題庫中搜尋符合項目並尋找最佳推薦題目。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將該挑戰紀錄於資料庫中，等待使用者回報。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若使用者在一小時內完成挑戰則計為成功，反之放棄或超時則紀為失敗，並依此計算能力值變化。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altLang="zh-TW" dirty="0">
              <a:solidFill>
                <a:srgbClr val="333333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35666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技術細節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完成  </a:t>
            </a:r>
            <a:r>
              <a:rPr lang="en-US" altLang="zh-TW" b="1" dirty="0">
                <a:solidFill>
                  <a:srgbClr val="333333"/>
                </a:solidFill>
                <a:latin typeface="-apple-system"/>
              </a:rPr>
              <a:t>/</a:t>
            </a:r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 放棄挑戰</a:t>
            </a:r>
            <a:endParaRPr lang="en-US" altLang="zh-TW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請求挑戰題目所需的知識類別，並歸類到六大能力指標。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  <a:p>
            <a:pPr lvl="1"/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使用 </a:t>
            </a:r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ELO</a:t>
            </a:r>
            <a:r>
              <a:rPr lang="zh-TW" altLang="en-US" dirty="0">
                <a:solidFill>
                  <a:srgbClr val="333333"/>
                </a:solidFill>
                <a:latin typeface="-apple-system"/>
              </a:rPr>
              <a:t> 系統成功的期望值，並依此計算各項能力變化。</a:t>
            </a:r>
            <a:endParaRPr lang="en-US" altLang="zh-TW" dirty="0">
              <a:solidFill>
                <a:srgbClr val="333333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982793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技術細節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63272" cy="4525963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b="1" dirty="0">
                    <a:solidFill>
                      <a:srgbClr val="333333"/>
                    </a:solidFill>
                    <a:latin typeface="-apple-system"/>
                  </a:rPr>
                  <a:t>完成  </a:t>
                </a:r>
                <a:r>
                  <a:rPr lang="en-US" altLang="zh-TW" b="1" dirty="0">
                    <a:solidFill>
                      <a:srgbClr val="333333"/>
                    </a:solidFill>
                    <a:latin typeface="-apple-system"/>
                  </a:rPr>
                  <a:t>/</a:t>
                </a:r>
                <a:r>
                  <a:rPr lang="zh-TW" altLang="en-US" b="1" dirty="0">
                    <a:solidFill>
                      <a:srgbClr val="333333"/>
                    </a:solidFill>
                    <a:latin typeface="-apple-system"/>
                  </a:rPr>
                  <a:t> 放棄挑戰</a:t>
                </a:r>
                <a:endParaRPr lang="en-US" altLang="zh-TW" b="1" i="0" dirty="0">
                  <a:solidFill>
                    <a:srgbClr val="333333"/>
                  </a:solidFill>
                  <a:effectLst/>
                  <a:latin typeface="-apple-system"/>
                </a:endParaRPr>
              </a:p>
              <a:p>
                <a:pPr lvl="1"/>
                <a:r>
                  <a:rPr lang="zh-TW" altLang="en-US" dirty="0">
                    <a:solidFill>
                      <a:srgbClr val="333333"/>
                    </a:solidFill>
                    <a:latin typeface="-apple-system"/>
                  </a:rPr>
                  <a:t>題目難度為 </a:t>
                </a:r>
                <a:r>
                  <a:rPr lang="en-US" altLang="zh-TW" dirty="0">
                    <a:solidFill>
                      <a:srgbClr val="333333"/>
                    </a:solidFill>
                    <a:latin typeface="-apple-system"/>
                  </a:rPr>
                  <a:t>D</a:t>
                </a:r>
                <a:r>
                  <a:rPr lang="zh-TW" altLang="en-US" dirty="0">
                    <a:solidFill>
                      <a:srgbClr val="333333"/>
                    </a:solidFill>
                    <a:latin typeface="-apple-system"/>
                  </a:rPr>
                  <a:t>，使用者能力值為 </a:t>
                </a:r>
                <a:r>
                  <a:rPr lang="en-US" altLang="zh-TW" dirty="0">
                    <a:solidFill>
                      <a:srgbClr val="333333"/>
                    </a:solidFill>
                    <a:latin typeface="-apple-system"/>
                  </a:rPr>
                  <a:t>R</a:t>
                </a:r>
              </a:p>
              <a:p>
                <a:pPr lvl="1"/>
                <a:r>
                  <a:rPr lang="zh-TW" altLang="en-US" dirty="0">
                    <a:solidFill>
                      <a:srgbClr val="333333"/>
                    </a:solidFill>
                    <a:latin typeface="-apple-system"/>
                  </a:rPr>
                  <a:t>使用者能解出的期望值為</a:t>
                </a:r>
                <a:endParaRPr lang="en-US" altLang="zh-TW" dirty="0">
                  <a:solidFill>
                    <a:srgbClr val="333333"/>
                  </a:solidFill>
                  <a:latin typeface="-apple-system"/>
                </a:endParaRPr>
              </a:p>
              <a:p>
                <a:pPr lvl="1"/>
                <a:endParaRPr lang="en-US" altLang="zh-TW" dirty="0">
                  <a:solidFill>
                    <a:srgbClr val="333333"/>
                  </a:solidFill>
                  <a:latin typeface="-apple-system"/>
                </a:endParaRPr>
              </a:p>
              <a:p>
                <a:pPr lvl="1"/>
                <a:endParaRPr lang="en-US" altLang="zh-TW" dirty="0">
                  <a:solidFill>
                    <a:srgbClr val="333333"/>
                  </a:solidFill>
                  <a:latin typeface="-apple-system"/>
                </a:endParaRPr>
              </a:p>
              <a:p>
                <a:pPr lvl="1"/>
                <a:r>
                  <a:rPr lang="zh-TW" altLang="en-US" dirty="0">
                    <a:solidFill>
                      <a:srgbClr val="333333"/>
                    </a:solidFill>
                    <a:latin typeface="-apple-system"/>
                  </a:rPr>
                  <a:t>解題結果為 </a:t>
                </a:r>
                <a:r>
                  <a:rPr lang="en-US" altLang="zh-TW" dirty="0">
                    <a:solidFill>
                      <a:srgbClr val="333333"/>
                    </a:solidFill>
                    <a:latin typeface="-apple-system"/>
                  </a:rPr>
                  <a:t>F=(1</a:t>
                </a:r>
                <a:r>
                  <a:rPr lang="zh-TW" altLang="en-US" dirty="0">
                    <a:solidFill>
                      <a:srgbClr val="333333"/>
                    </a:solidFill>
                    <a:latin typeface="-apple-system"/>
                  </a:rPr>
                  <a:t>成功 </a:t>
                </a:r>
                <a:r>
                  <a:rPr lang="en-US" altLang="zh-TW" dirty="0">
                    <a:solidFill>
                      <a:srgbClr val="333333"/>
                    </a:solidFill>
                    <a:latin typeface="-apple-system"/>
                  </a:rPr>
                  <a:t>/</a:t>
                </a:r>
                <a:r>
                  <a:rPr lang="zh-TW" altLang="en-US" dirty="0">
                    <a:solidFill>
                      <a:srgbClr val="333333"/>
                    </a:solidFill>
                    <a:latin typeface="-apple-system"/>
                  </a:rPr>
                  <a:t> </a:t>
                </a:r>
                <a:r>
                  <a:rPr lang="en-US" altLang="zh-TW" dirty="0">
                    <a:solidFill>
                      <a:srgbClr val="333333"/>
                    </a:solidFill>
                    <a:latin typeface="-apple-system"/>
                  </a:rPr>
                  <a:t>0</a:t>
                </a:r>
                <a:r>
                  <a:rPr lang="zh-TW" altLang="en-US" dirty="0">
                    <a:solidFill>
                      <a:srgbClr val="333333"/>
                    </a:solidFill>
                    <a:latin typeface="-apple-system"/>
                  </a:rPr>
                  <a:t>失敗</a:t>
                </a:r>
                <a:r>
                  <a:rPr lang="en-US" altLang="zh-TW" dirty="0">
                    <a:solidFill>
                      <a:srgbClr val="333333"/>
                    </a:solidFill>
                    <a:latin typeface="-apple-system"/>
                  </a:rPr>
                  <a:t>)</a:t>
                </a:r>
                <a:r>
                  <a:rPr lang="zh-TW" altLang="en-US" dirty="0">
                    <a:solidFill>
                      <a:srgbClr val="333333"/>
                    </a:solidFill>
                    <a:latin typeface="-apple-system"/>
                  </a:rPr>
                  <a:t>，比重為 </a:t>
                </a:r>
                <a:r>
                  <a:rPr lang="en-US" altLang="zh-TW" dirty="0">
                    <a:solidFill>
                      <a:srgbClr val="333333"/>
                    </a:solidFill>
                    <a:latin typeface="-apple-system"/>
                  </a:rPr>
                  <a:t>W=(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１</m:t>
                        </m:r>
                      </m:num>
                      <m:den>
                        <m:r>
                          <a:rPr lang="en-US" altLang="zh-TW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𝑡𝑎𝑔</m:t>
                        </m:r>
                        <m:r>
                          <a:rPr lang="zh-TW" altLang="en-US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數量</m:t>
                        </m:r>
                      </m:den>
                    </m:f>
                    <m:r>
                      <a:rPr lang="en-US" altLang="zh-TW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>
                    <a:solidFill>
                      <a:srgbClr val="333333"/>
                    </a:solidFill>
                    <a:latin typeface="-apple-system"/>
                  </a:rPr>
                  <a:t>，使用者能力值變化為</a:t>
                </a:r>
                <a:endParaRPr lang="en-US" altLang="zh-TW" dirty="0">
                  <a:solidFill>
                    <a:srgbClr val="333333"/>
                  </a:solidFill>
                  <a:latin typeface="-apple-system"/>
                </a:endParaRPr>
              </a:p>
              <a:p>
                <a:pPr marL="457200" lvl="1" indent="0">
                  <a:buNone/>
                </a:pPr>
                <a:endParaRPr lang="en-US" altLang="zh-TW" dirty="0">
                  <a:solidFill>
                    <a:srgbClr val="333333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63272" cy="4525963"/>
              </a:xfrm>
              <a:blipFill>
                <a:blip r:embed="rId2"/>
                <a:stretch>
                  <a:fillRect l="-1676" t="-20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7EA2B4E-4751-62E0-544A-FF3FCBE064D8}"/>
                  </a:ext>
                </a:extLst>
              </p:cNvPr>
              <p:cNvSpPr txBox="1"/>
              <p:nvPr/>
            </p:nvSpPr>
            <p:spPr>
              <a:xfrm>
                <a:off x="3922453" y="3284903"/>
                <a:ext cx="1432765" cy="663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400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400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7EA2B4E-4751-62E0-544A-FF3FCBE06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453" y="3284903"/>
                <a:ext cx="1432765" cy="663580"/>
              </a:xfrm>
              <a:prstGeom prst="rect">
                <a:avLst/>
              </a:prstGeom>
              <a:blipFill>
                <a:blip r:embed="rId3"/>
                <a:stretch>
                  <a:fillRect l="-12766" t="-2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D63C2FF-0B87-B3BE-F9D4-7B0C37ECD4D9}"/>
                  </a:ext>
                </a:extLst>
              </p:cNvPr>
              <p:cNvSpPr txBox="1"/>
              <p:nvPr/>
            </p:nvSpPr>
            <p:spPr>
              <a:xfrm>
                <a:off x="2658616" y="5633186"/>
                <a:ext cx="39604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TW" sz="2400" i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100∗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TW" sz="2400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zh-TW" sz="2400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400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altLang="zh-TW" sz="2000" b="0" dirty="0">
                  <a:solidFill>
                    <a:srgbClr val="333333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D63C2FF-0B87-B3BE-F9D4-7B0C37ECD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616" y="5633186"/>
                <a:ext cx="396044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044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未來展望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加入其他 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-apple-system"/>
              </a:rPr>
              <a:t>OJ 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的題目</a:t>
            </a:r>
            <a:endParaRPr lang="en-US" altLang="zh-TW" b="1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題目評分自動調整</a:t>
            </a:r>
            <a:endParaRPr lang="en-US" altLang="zh-TW" b="1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TW" altLang="en-US" b="1" dirty="0">
                <a:solidFill>
                  <a:srgbClr val="333333"/>
                </a:solidFill>
                <a:latin typeface="-apple-system"/>
              </a:rPr>
              <a:t>網頁版介面</a:t>
            </a:r>
            <a:endParaRPr lang="zh-TW" altLang="en-US" b="1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社交功能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好友對戰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查看解題紀錄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開源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由學弟妹更新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pic>
        <p:nvPicPr>
          <p:cNvPr id="3076" name="Picture 4" descr="可能是一或多人、大家站著和室內的圖像">
            <a:extLst>
              <a:ext uri="{FF2B5EF4-FFF2-40B4-BE49-F238E27FC236}">
                <a16:creationId xmlns:a16="http://schemas.microsoft.com/office/drawing/2014/main" id="{76DC619B-C636-4712-A5FB-D088AA6AA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565" y="3023828"/>
            <a:ext cx="5496711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394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573822" y="-3679406"/>
            <a:ext cx="1068862" cy="287969"/>
          </a:xfrm>
        </p:spPr>
        <p:txBody>
          <a:bodyPr>
            <a:normAutofit fontScale="90000"/>
          </a:bodyPr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感謝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268760"/>
            <a:ext cx="5400600" cy="4525963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高中資訊老師、學長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en-US" altLang="zh-TW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YTP</a:t>
            </a: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高一時，我們懵懵懂懂，來吃 </a:t>
            </a:r>
            <a:r>
              <a:rPr lang="en-US" altLang="zh-TW" dirty="0">
                <a:latin typeface="DIN-Medium" panose="020B0500000000000000" pitchFamily="34" charset="0"/>
                <a:ea typeface="文鼎新中黑" panose="020B0609010101010101" pitchFamily="49" charset="-120"/>
              </a:rPr>
              <a:t>pizza </a:t>
            </a:r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快樂寫程式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高二時，我們潛心於演算法，獲得特別獎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pPr lvl="1"/>
            <a:r>
              <a:rPr lang="zh-TW" altLang="en-US" dirty="0">
                <a:latin typeface="DIN-Medium" panose="020B0500000000000000" pitchFamily="34" charset="0"/>
                <a:ea typeface="文鼎新中黑" panose="020B0609010101010101" pitchFamily="49" charset="-120"/>
              </a:rPr>
              <a:t>高三、大一時，我們得到程式設計營第一名，並運用所學，回饋家鄉</a:t>
            </a:r>
            <a:endParaRPr lang="en-US" altLang="zh-TW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聽到最後的各位</a:t>
            </a:r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  <a:p>
            <a:endParaRPr lang="en-US" altLang="zh-TW" b="1" dirty="0">
              <a:latin typeface="DIN-Medium" panose="020B0500000000000000" pitchFamily="34" charset="0"/>
              <a:ea typeface="文鼎新中黑" panose="020B0609010101010101" pitchFamily="49" charset="-120"/>
            </a:endParaRPr>
          </a:p>
        </p:txBody>
      </p:sp>
      <p:pic>
        <p:nvPicPr>
          <p:cNvPr id="1026" name="Picture 2" descr="可能是一或多人、大家站著和室內的圖像">
            <a:extLst>
              <a:ext uri="{FF2B5EF4-FFF2-40B4-BE49-F238E27FC236}">
                <a16:creationId xmlns:a16="http://schemas.microsoft.com/office/drawing/2014/main" id="{8262FC17-5607-4B16-9920-9D341173F5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7" t="12253" r="3390" b="7525"/>
          <a:stretch/>
        </p:blipFill>
        <p:spPr bwMode="auto">
          <a:xfrm>
            <a:off x="5724128" y="4496530"/>
            <a:ext cx="3120793" cy="188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未提供相片說明。">
            <a:extLst>
              <a:ext uri="{FF2B5EF4-FFF2-40B4-BE49-F238E27FC236}">
                <a16:creationId xmlns:a16="http://schemas.microsoft.com/office/drawing/2014/main" id="{2FCA6D80-7E5D-4C08-AAA3-4D8488776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2" t="19778" r="2610"/>
          <a:stretch/>
        </p:blipFill>
        <p:spPr bwMode="auto">
          <a:xfrm>
            <a:off x="5724128" y="2408945"/>
            <a:ext cx="3124008" cy="188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未提供相片說明。">
            <a:extLst>
              <a:ext uri="{FF2B5EF4-FFF2-40B4-BE49-F238E27FC236}">
                <a16:creationId xmlns:a16="http://schemas.microsoft.com/office/drawing/2014/main" id="{2AF7AAE2-0EAE-4352-BD6D-F95DCF1C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757" y="116360"/>
            <a:ext cx="3136164" cy="2090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5A971EFE-4D4A-4FD1-A2DB-1E41661FFF9A}"/>
              </a:ext>
            </a:extLst>
          </p:cNvPr>
          <p:cNvSpPr txBox="1">
            <a:spLocks/>
          </p:cNvSpPr>
          <p:nvPr/>
        </p:nvSpPr>
        <p:spPr>
          <a:xfrm>
            <a:off x="-1234988" y="1120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文鼎粗圓" panose="020B0609010101010101" pitchFamily="49" charset="-120"/>
                <a:ea typeface="文鼎粗圓" panose="020B0609010101010101" pitchFamily="49" charset="-120"/>
                <a:cs typeface="+mj-cs"/>
              </a:defRPr>
            </a:lvl1pPr>
          </a:lstStyle>
          <a:p>
            <a:r>
              <a:rPr lang="zh-TW" altLang="en-US" b="1" dirty="0">
                <a:latin typeface="DIN-Medium" panose="020B0500000000000000" pitchFamily="34" charset="0"/>
                <a:ea typeface="文鼎新中黑" panose="020B0609010101010101" pitchFamily="49" charset="-120"/>
              </a:rPr>
              <a:t>致謝</a:t>
            </a:r>
          </a:p>
        </p:txBody>
      </p:sp>
    </p:spTree>
    <p:extLst>
      <p:ext uri="{BB962C8B-B14F-4D97-AF65-F5344CB8AC3E}">
        <p14:creationId xmlns:p14="http://schemas.microsoft.com/office/powerpoint/2010/main" val="62924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1014</Words>
  <Application>Microsoft Office PowerPoint</Application>
  <PresentationFormat>如螢幕大小 (4:3)</PresentationFormat>
  <Paragraphs>148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9" baseType="lpstr">
      <vt:lpstr>-apple-system</vt:lpstr>
      <vt:lpstr>DIN-Medium</vt:lpstr>
      <vt:lpstr>文鼎中圓</vt:lpstr>
      <vt:lpstr>文鼎粗圓</vt:lpstr>
      <vt:lpstr>Arial</vt:lpstr>
      <vt:lpstr>Calibri</vt:lpstr>
      <vt:lpstr>Cambria Math</vt:lpstr>
      <vt:lpstr>Tahoma</vt:lpstr>
      <vt:lpstr>Office 佈景主題</vt:lpstr>
      <vt:lpstr>IOasis 競程綠洲</vt:lpstr>
      <vt:lpstr>緣起</vt:lpstr>
      <vt:lpstr>過去的努力</vt:lpstr>
      <vt:lpstr>競技程式設計</vt:lpstr>
      <vt:lpstr>問題定義</vt:lpstr>
      <vt:lpstr>演算法練習助手 -- ATP</vt:lpstr>
      <vt:lpstr>ATP 功能介紹</vt:lpstr>
      <vt:lpstr>ATP 功能介紹</vt:lpstr>
      <vt:lpstr>ATP 功能介紹</vt:lpstr>
      <vt:lpstr>ATP 功能介紹</vt:lpstr>
      <vt:lpstr>DEMO 時間</vt:lpstr>
      <vt:lpstr>技術細節</vt:lpstr>
      <vt:lpstr>技術細節</vt:lpstr>
      <vt:lpstr>技術細節</vt:lpstr>
      <vt:lpstr>技術細節</vt:lpstr>
      <vt:lpstr>技術細節</vt:lpstr>
      <vt:lpstr>技術細節</vt:lpstr>
      <vt:lpstr>技術細節</vt:lpstr>
      <vt:lpstr>未來展望</vt:lpstr>
      <vt:lpstr>感謝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ytp 少年圖靈計畫</dc:title>
  <dc:creator>Irene Li-李玲慧-行銷企劃暨公關處</dc:creator>
  <cp:lastModifiedBy>林禾</cp:lastModifiedBy>
  <cp:revision>50</cp:revision>
  <dcterms:created xsi:type="dcterms:W3CDTF">2016-12-02T09:27:28Z</dcterms:created>
  <dcterms:modified xsi:type="dcterms:W3CDTF">2022-06-10T04:28:33Z</dcterms:modified>
</cp:coreProperties>
</file>