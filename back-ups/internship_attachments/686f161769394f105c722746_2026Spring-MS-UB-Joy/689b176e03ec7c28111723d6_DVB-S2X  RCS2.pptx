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73" r:id="rId4"/>
    <p:sldId id="258" r:id="rId5"/>
    <p:sldId id="259" r:id="rId6"/>
    <p:sldId id="260" r:id="rId7"/>
    <p:sldId id="261" r:id="rId8"/>
    <p:sldId id="262" r:id="rId9"/>
    <p:sldId id="263" r:id="rId10"/>
    <p:sldId id="264" r:id="rId11"/>
    <p:sldId id="265" r:id="rId12"/>
    <p:sldId id="274" r:id="rId13"/>
    <p:sldId id="276" r:id="rId14"/>
    <p:sldId id="277" r:id="rId15"/>
    <p:sldId id="278" r:id="rId16"/>
    <p:sldId id="279" r:id="rId17"/>
    <p:sldId id="266" r:id="rId18"/>
    <p:sldId id="267" r:id="rId19"/>
    <p:sldId id="268" r:id="rId20"/>
    <p:sldId id="269" r:id="rId21"/>
    <p:sldId id="270" r:id="rId22"/>
    <p:sldId id="271" r:id="rId23"/>
    <p:sldId id="280" r:id="rId24"/>
    <p:sldId id="281" r:id="rId25"/>
    <p:sldId id="282" r:id="rId26"/>
    <p:sldId id="283" r:id="rId27"/>
    <p:sldId id="284" r:id="rId28"/>
    <p:sldId id="288" r:id="rId29"/>
    <p:sldId id="289" r:id="rId30"/>
    <p:sldId id="285" r:id="rId31"/>
    <p:sldId id="286" r:id="rId32"/>
    <p:sldId id="287" r:id="rId33"/>
    <p:sldId id="290" r:id="rId34"/>
    <p:sldId id="291" r:id="rId35"/>
    <p:sldId id="292" r:id="rId36"/>
    <p:sldId id="303" r:id="rId37"/>
    <p:sldId id="293" r:id="rId38"/>
    <p:sldId id="294" r:id="rId39"/>
    <p:sldId id="295" r:id="rId40"/>
    <p:sldId id="296" r:id="rId41"/>
    <p:sldId id="297" r:id="rId42"/>
    <p:sldId id="298" r:id="rId43"/>
    <p:sldId id="299" r:id="rId44"/>
    <p:sldId id="300" r:id="rId45"/>
    <p:sldId id="301" r:id="rId46"/>
    <p:sldId id="302" r:id="rId47"/>
    <p:sldId id="306" r:id="rId48"/>
    <p:sldId id="304" r:id="rId49"/>
    <p:sldId id="308" r:id="rId50"/>
    <p:sldId id="31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73547" autoAdjust="0"/>
  </p:normalViewPr>
  <p:slideViewPr>
    <p:cSldViewPr snapToGrid="0">
      <p:cViewPr>
        <p:scale>
          <a:sx n="75" d="100"/>
          <a:sy n="75" d="100"/>
        </p:scale>
        <p:origin x="1866" y="162"/>
      </p:cViewPr>
      <p:guideLst/>
    </p:cSldViewPr>
  </p:slideViewPr>
  <p:notesTextViewPr>
    <p:cViewPr>
      <p:scale>
        <a:sx n="125" d="100"/>
        <a:sy n="125" d="100"/>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F74120-51CE-4434-B9B6-49EB3F873632}" type="datetimeFigureOut">
              <a:rPr lang="en-ID" smtClean="0"/>
              <a:t>11/08/2025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9DC84E-9728-437B-BEB6-A90046F24629}" type="slidenum">
              <a:rPr lang="en-ID" smtClean="0"/>
              <a:t>‹#›</a:t>
            </a:fld>
            <a:endParaRPr lang="en-ID"/>
          </a:p>
        </p:txBody>
      </p:sp>
    </p:spTree>
    <p:extLst>
      <p:ext uri="{BB962C8B-B14F-4D97-AF65-F5344CB8AC3E}">
        <p14:creationId xmlns:p14="http://schemas.microsoft.com/office/powerpoint/2010/main" val="3280066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DVB-S2X is used </a:t>
            </a:r>
            <a:r>
              <a:rPr lang="en-US" b="1"/>
              <a:t>to send data from the satellite gateway to the users</a:t>
            </a:r>
            <a:r>
              <a:rPr lang="en-US"/>
              <a:t>. It’s highly optimized with features like variable coding, MODCODs, and flexible framing structures. The forward link is often </a:t>
            </a:r>
            <a:r>
              <a:rPr lang="en-US" b="1"/>
              <a:t>one-way</a:t>
            </a:r>
            <a:r>
              <a:rPr lang="en-US"/>
              <a:t>, but optimized for capacity and reliability.</a:t>
            </a:r>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4</a:t>
            </a:fld>
            <a:endParaRPr lang="en-ID"/>
          </a:p>
        </p:txBody>
      </p:sp>
    </p:spTree>
    <p:extLst>
      <p:ext uri="{BB962C8B-B14F-4D97-AF65-F5344CB8AC3E}">
        <p14:creationId xmlns:p14="http://schemas.microsoft.com/office/powerpoint/2010/main" val="2916714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a:t>
            </a:r>
            <a:r>
              <a:rPr lang="en-US" b="1"/>
              <a:t>uplink path</a:t>
            </a:r>
            <a:r>
              <a:rPr lang="en-US"/>
              <a:t>, where user terminals (like homes, ships, or ground stations) send data back to the satellite, then down to the gateway. It’s more complex due to </a:t>
            </a:r>
            <a:r>
              <a:rPr lang="en-US" b="1"/>
              <a:t>shared channel access</a:t>
            </a:r>
            <a:r>
              <a:rPr lang="en-US"/>
              <a:t> – terminals must be coordinated to avoid collisions.</a:t>
            </a:r>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5</a:t>
            </a:fld>
            <a:endParaRPr lang="en-ID"/>
          </a:p>
        </p:txBody>
      </p:sp>
    </p:spTree>
    <p:extLst>
      <p:ext uri="{BB962C8B-B14F-4D97-AF65-F5344CB8AC3E}">
        <p14:creationId xmlns:p14="http://schemas.microsoft.com/office/powerpoint/2010/main" val="2761362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step wraps and protects the data. BBFRAME is like a container, FEC protects it from errors, MODCOD decides efficiency vs. robustness, and PLFRAME is what’s physically transmitted via satellite.</a:t>
            </a:r>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6</a:t>
            </a:fld>
            <a:endParaRPr lang="en-ID"/>
          </a:p>
        </p:txBody>
      </p:sp>
    </p:spTree>
    <p:extLst>
      <p:ext uri="{BB962C8B-B14F-4D97-AF65-F5344CB8AC3E}">
        <p14:creationId xmlns:p14="http://schemas.microsoft.com/office/powerpoint/2010/main" val="3918133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uplink, the terminal must wait for permission/schedule to transmit. Think of it like a </a:t>
            </a:r>
            <a:r>
              <a:rPr lang="en-US" b="1"/>
              <a:t>shared classroom</a:t>
            </a:r>
            <a:r>
              <a:rPr lang="en-US"/>
              <a:t> – only one can speak at a time. This ensures the satellite doesn’t receive overlapping signals.</a:t>
            </a:r>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7</a:t>
            </a:fld>
            <a:endParaRPr lang="en-ID"/>
          </a:p>
        </p:txBody>
      </p:sp>
    </p:spTree>
    <p:extLst>
      <p:ext uri="{BB962C8B-B14F-4D97-AF65-F5344CB8AC3E}">
        <p14:creationId xmlns:p14="http://schemas.microsoft.com/office/powerpoint/2010/main" val="3054169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To show </a:t>
            </a:r>
            <a:r>
              <a:rPr lang="en-US" b="1"/>
              <a:t>how data is processed before being transmitted to the satellite</a:t>
            </a:r>
            <a:r>
              <a:rPr lang="en-US"/>
              <a:t>, focusing on </a:t>
            </a:r>
            <a:r>
              <a:rPr lang="en-US" b="1"/>
              <a:t>DVB-S2X</a:t>
            </a:r>
            <a:r>
              <a:rPr lang="en-US"/>
              <a:t> uplink side.</a:t>
            </a:r>
          </a:p>
          <a:p>
            <a:r>
              <a:rPr lang="en-US" b="1"/>
              <a:t>Gateway = </a:t>
            </a:r>
            <a:r>
              <a:rPr lang="en-US"/>
              <a:t>The entry point of the signal chain — data originates here. Think of it as the transmitter on Earth.</a:t>
            </a:r>
          </a:p>
          <a:p>
            <a:r>
              <a:rPr lang="en-ID" b="1"/>
              <a:t>BBFRAME = </a:t>
            </a:r>
            <a:r>
              <a:rPr lang="en-ID"/>
              <a:t>"Baseband Frame" — This wraps the actual payload (data) with necessary headers. Like putting your letter in an envelope.</a:t>
            </a:r>
          </a:p>
          <a:p>
            <a:r>
              <a:rPr lang="en-ID" b="1"/>
              <a:t>FEC (LDPC + BCH) = </a:t>
            </a:r>
            <a:r>
              <a:rPr lang="en-ID"/>
              <a:t>Adds error correction codes using </a:t>
            </a:r>
            <a:r>
              <a:rPr lang="en-ID" b="1"/>
              <a:t>LDPC</a:t>
            </a:r>
            <a:r>
              <a:rPr lang="en-ID"/>
              <a:t> (main) and </a:t>
            </a:r>
            <a:r>
              <a:rPr lang="en-ID" b="1"/>
              <a:t>BCH</a:t>
            </a:r>
            <a:r>
              <a:rPr lang="en-ID"/>
              <a:t> (outer) codes. Helps recover lost/corrupted data at receiver.</a:t>
            </a:r>
          </a:p>
          <a:p>
            <a:r>
              <a:rPr lang="en-ID" b="1"/>
              <a:t>MODCOD = </a:t>
            </a:r>
            <a:r>
              <a:rPr lang="en-ID"/>
              <a:t>Combines </a:t>
            </a:r>
            <a:r>
              <a:rPr lang="en-ID" b="1"/>
              <a:t>modulation</a:t>
            </a:r>
            <a:r>
              <a:rPr lang="en-ID"/>
              <a:t> (e.g., QPSK, 8PSK, 16APSK) and </a:t>
            </a:r>
            <a:r>
              <a:rPr lang="en-ID" b="1"/>
              <a:t>coding rate</a:t>
            </a:r>
            <a:r>
              <a:rPr lang="en-ID"/>
              <a:t> (e.g., 3/4). Optimizes bandwidth &amp; reliability.</a:t>
            </a:r>
          </a:p>
          <a:p>
            <a:r>
              <a:rPr lang="en-ID" b="1"/>
              <a:t>PLFRAME = </a:t>
            </a:r>
            <a:r>
              <a:rPr lang="en-ID"/>
              <a:t>"Physical Layer Frame" — packages all above into a standardized unit for modulation.</a:t>
            </a:r>
          </a:p>
          <a:p>
            <a:r>
              <a:rPr lang="en-ID" b="1"/>
              <a:t>Satellite (Relay) = </a:t>
            </a:r>
            <a:r>
              <a:rPr lang="en-ID"/>
              <a:t>Satellite just </a:t>
            </a:r>
            <a:r>
              <a:rPr lang="en-ID" b="1"/>
              <a:t>forwards the signal</a:t>
            </a:r>
            <a:r>
              <a:rPr lang="en-ID"/>
              <a:t> — it does </a:t>
            </a:r>
            <a:r>
              <a:rPr lang="en-ID" b="1"/>
              <a:t>not decode</a:t>
            </a:r>
            <a:r>
              <a:rPr lang="en-ID"/>
              <a:t>, just retransmits to the other side (user terminal).</a:t>
            </a:r>
          </a:p>
          <a:p>
            <a:endParaRPr lang="en-ID"/>
          </a:p>
          <a:p>
            <a:r>
              <a:rPr lang="en-US" b="1"/>
              <a:t>🧠 Analogy:</a:t>
            </a:r>
          </a:p>
          <a:p>
            <a:r>
              <a:rPr lang="en-US"/>
              <a:t>Like a letter going through:</a:t>
            </a:r>
          </a:p>
          <a:p>
            <a:pPr>
              <a:buFont typeface="+mj-lt"/>
              <a:buAutoNum type="arabicPeriod"/>
            </a:pPr>
            <a:r>
              <a:rPr lang="en-US"/>
              <a:t>Written → 2. Put in envelope → 3. Sealed → 4. Assigned postage → 5. Put in a box → 6. Shipped 🚚</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8</a:t>
            </a:fld>
            <a:endParaRPr lang="en-ID"/>
          </a:p>
        </p:txBody>
      </p:sp>
    </p:spTree>
    <p:extLst>
      <p:ext uri="{BB962C8B-B14F-4D97-AF65-F5344CB8AC3E}">
        <p14:creationId xmlns:p14="http://schemas.microsoft.com/office/powerpoint/2010/main" val="3289239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Purpose of this Slide:</a:t>
            </a:r>
          </a:p>
          <a:p>
            <a:r>
              <a:rPr lang="en-US"/>
              <a:t>To clearly show how:</a:t>
            </a:r>
          </a:p>
          <a:p>
            <a:pPr>
              <a:buFont typeface="Arial" panose="020B0604020202020204" pitchFamily="34" charset="0"/>
              <a:buChar char="•"/>
            </a:pPr>
            <a:r>
              <a:rPr lang="en-US" b="1"/>
              <a:t>DVB-S2X</a:t>
            </a:r>
            <a:r>
              <a:rPr lang="en-US"/>
              <a:t> is used for </a:t>
            </a:r>
            <a:r>
              <a:rPr lang="en-US" b="1"/>
              <a:t>downlink/forward</a:t>
            </a:r>
            <a:r>
              <a:rPr lang="en-US"/>
              <a:t> transmission (from Gateway to User Terminal),</a:t>
            </a:r>
          </a:p>
          <a:p>
            <a:pPr>
              <a:buFont typeface="Arial" panose="020B0604020202020204" pitchFamily="34" charset="0"/>
              <a:buChar char="•"/>
            </a:pPr>
            <a:r>
              <a:rPr lang="en-US" b="1"/>
              <a:t>DVB-RCS2</a:t>
            </a:r>
            <a:r>
              <a:rPr lang="en-US"/>
              <a:t> is used for </a:t>
            </a:r>
            <a:r>
              <a:rPr lang="en-US" b="1"/>
              <a:t>uplink/return</a:t>
            </a:r>
            <a:r>
              <a:rPr lang="en-US"/>
              <a:t> transmission (from User Terminal back to Gateway),</a:t>
            </a:r>
          </a:p>
          <a:p>
            <a:pPr>
              <a:buFont typeface="Arial" panose="020B0604020202020204" pitchFamily="34" charset="0"/>
              <a:buChar char="•"/>
            </a:pPr>
            <a:r>
              <a:rPr lang="en-US"/>
              <a:t>Both operate via a </a:t>
            </a:r>
            <a:r>
              <a:rPr lang="en-US" b="1"/>
              <a:t>“bent pipe” satellite</a:t>
            </a:r>
            <a:r>
              <a:rPr lang="en-US"/>
              <a:t>, which just </a:t>
            </a:r>
            <a:r>
              <a:rPr lang="en-US" b="1"/>
              <a:t>forwards signals</a:t>
            </a:r>
            <a:r>
              <a:rPr lang="en-US"/>
              <a:t> without decoding.</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10</a:t>
            </a:fld>
            <a:endParaRPr lang="en-ID"/>
          </a:p>
        </p:txBody>
      </p:sp>
    </p:spTree>
    <p:extLst>
      <p:ext uri="{BB962C8B-B14F-4D97-AF65-F5344CB8AC3E}">
        <p14:creationId xmlns:p14="http://schemas.microsoft.com/office/powerpoint/2010/main" val="872836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15</a:t>
            </a:fld>
            <a:endParaRPr lang="en-ID"/>
          </a:p>
        </p:txBody>
      </p:sp>
    </p:spTree>
    <p:extLst>
      <p:ext uri="{BB962C8B-B14F-4D97-AF65-F5344CB8AC3E}">
        <p14:creationId xmlns:p14="http://schemas.microsoft.com/office/powerpoint/2010/main" val="94479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16</a:t>
            </a:fld>
            <a:endParaRPr lang="en-ID"/>
          </a:p>
        </p:txBody>
      </p:sp>
    </p:spTree>
    <p:extLst>
      <p:ext uri="{BB962C8B-B14F-4D97-AF65-F5344CB8AC3E}">
        <p14:creationId xmlns:p14="http://schemas.microsoft.com/office/powerpoint/2010/main" val="91060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a:t>
            </a:r>
            <a:r>
              <a:rPr lang="en-US" b="1"/>
              <a:t>main components</a:t>
            </a:r>
            <a:r>
              <a:rPr lang="en-US"/>
              <a:t> of the DVB-RCS2 system and show how </a:t>
            </a:r>
            <a:r>
              <a:rPr lang="en-US" b="1"/>
              <a:t>data flows</a:t>
            </a:r>
            <a:r>
              <a:rPr lang="en-US"/>
              <a:t> in the forward and return links via satellite. This sets the groundwork for understanding how terminals, gateways, and the satellite interact.</a:t>
            </a:r>
          </a:p>
          <a:p>
            <a:r>
              <a:rPr lang="en-US" b="1"/>
              <a:t>1. RCST (Remote Control Satellite Terminal)</a:t>
            </a:r>
          </a:p>
          <a:p>
            <a:pPr>
              <a:buFont typeface="Arial" panose="020B0604020202020204" pitchFamily="34" charset="0"/>
              <a:buChar char="•"/>
            </a:pPr>
            <a:r>
              <a:rPr lang="en-US"/>
              <a:t>The </a:t>
            </a:r>
            <a:r>
              <a:rPr lang="en-US" b="1"/>
              <a:t>user terminal</a:t>
            </a:r>
            <a:r>
              <a:rPr lang="en-US"/>
              <a:t> at the edge (e.g., a satellite dish on the customer side).</a:t>
            </a:r>
          </a:p>
          <a:p>
            <a:pPr>
              <a:buFont typeface="Arial" panose="020B0604020202020204" pitchFamily="34" charset="0"/>
              <a:buChar char="•"/>
            </a:pPr>
            <a:r>
              <a:rPr lang="en-US"/>
              <a:t>It </a:t>
            </a:r>
            <a:r>
              <a:rPr lang="en-US" b="1"/>
              <a:t>receives</a:t>
            </a:r>
            <a:r>
              <a:rPr lang="en-US"/>
              <a:t> data from the </a:t>
            </a:r>
            <a:r>
              <a:rPr lang="en-US" b="1"/>
              <a:t>Forward Link</a:t>
            </a:r>
            <a:r>
              <a:rPr lang="en-US"/>
              <a:t> (DVB-S2X) and </a:t>
            </a:r>
            <a:r>
              <a:rPr lang="en-US" b="1"/>
              <a:t>sends</a:t>
            </a:r>
            <a:r>
              <a:rPr lang="en-US"/>
              <a:t> data on the </a:t>
            </a:r>
            <a:r>
              <a:rPr lang="en-US" b="1"/>
              <a:t>Return Link</a:t>
            </a:r>
            <a:r>
              <a:rPr lang="en-US"/>
              <a:t> (DVB-RCS2).</a:t>
            </a:r>
          </a:p>
          <a:p>
            <a:pPr>
              <a:buFont typeface="Arial" panose="020B0604020202020204" pitchFamily="34" charset="0"/>
              <a:buChar char="•"/>
            </a:pPr>
            <a:r>
              <a:rPr lang="en-US"/>
              <a:t>It does not transmit freely — it must request access from the network.</a:t>
            </a:r>
          </a:p>
          <a:p>
            <a:r>
              <a:rPr lang="en-US" b="1"/>
              <a:t>2. Satellite (Transparent/Bent-Pipe)</a:t>
            </a:r>
          </a:p>
          <a:p>
            <a:pPr>
              <a:buFont typeface="Arial" panose="020B0604020202020204" pitchFamily="34" charset="0"/>
              <a:buChar char="•"/>
            </a:pPr>
            <a:r>
              <a:rPr lang="en-US"/>
              <a:t>A </a:t>
            </a:r>
            <a:r>
              <a:rPr lang="en-US" b="1"/>
              <a:t>relay</a:t>
            </a:r>
            <a:r>
              <a:rPr lang="en-US"/>
              <a:t> between ground segments (no onboard data processing).</a:t>
            </a:r>
          </a:p>
          <a:p>
            <a:pPr>
              <a:buFont typeface="Arial" panose="020B0604020202020204" pitchFamily="34" charset="0"/>
              <a:buChar char="•"/>
            </a:pPr>
            <a:r>
              <a:rPr lang="en-US"/>
              <a:t>Just amplifies and redirects signals:</a:t>
            </a:r>
          </a:p>
          <a:p>
            <a:pPr marL="742950" lvl="1" indent="-285750">
              <a:buFont typeface="Arial" panose="020B0604020202020204" pitchFamily="34" charset="0"/>
              <a:buChar char="•"/>
            </a:pPr>
            <a:r>
              <a:rPr lang="en-US"/>
              <a:t>Forward Link: Gateway → Satellite → RCST</a:t>
            </a:r>
          </a:p>
          <a:p>
            <a:pPr marL="742950" lvl="1" indent="-285750">
              <a:buFont typeface="Arial" panose="020B0604020202020204" pitchFamily="34" charset="0"/>
              <a:buChar char="•"/>
            </a:pPr>
            <a:r>
              <a:rPr lang="en-US"/>
              <a:t>Return Link: RCST → Satellite → Gateway</a:t>
            </a:r>
          </a:p>
          <a:p>
            <a:r>
              <a:rPr lang="en-US" b="1"/>
              <a:t>3. Gateway (Hub Station)</a:t>
            </a:r>
          </a:p>
          <a:p>
            <a:pPr>
              <a:buFont typeface="Arial" panose="020B0604020202020204" pitchFamily="34" charset="0"/>
              <a:buChar char="•"/>
            </a:pPr>
            <a:r>
              <a:rPr lang="en-US"/>
              <a:t>Connects the satellite system to the </a:t>
            </a:r>
            <a:r>
              <a:rPr lang="en-US" b="1"/>
              <a:t>terrestrial network</a:t>
            </a:r>
            <a:r>
              <a:rPr lang="en-US"/>
              <a:t> (e.g., internet).</a:t>
            </a:r>
          </a:p>
          <a:p>
            <a:pPr>
              <a:buFont typeface="Arial" panose="020B0604020202020204" pitchFamily="34" charset="0"/>
              <a:buChar char="•"/>
            </a:pPr>
            <a:r>
              <a:rPr lang="en-US" b="1"/>
              <a:t>Sends</a:t>
            </a:r>
            <a:r>
              <a:rPr lang="en-US"/>
              <a:t> user data and control messages on the </a:t>
            </a:r>
            <a:r>
              <a:rPr lang="en-US" b="1"/>
              <a:t>Forward Link</a:t>
            </a:r>
            <a:r>
              <a:rPr lang="en-US"/>
              <a:t>.</a:t>
            </a:r>
          </a:p>
          <a:p>
            <a:pPr>
              <a:buFont typeface="Arial" panose="020B0604020202020204" pitchFamily="34" charset="0"/>
              <a:buChar char="•"/>
            </a:pPr>
            <a:r>
              <a:rPr lang="en-US" b="1"/>
              <a:t>Receives</a:t>
            </a:r>
            <a:r>
              <a:rPr lang="en-US"/>
              <a:t> bursts from RCSTs on the </a:t>
            </a:r>
            <a:r>
              <a:rPr lang="en-US" b="1"/>
              <a:t>Return Link</a:t>
            </a:r>
            <a:r>
              <a:rPr lang="en-US"/>
              <a:t>.</a:t>
            </a:r>
          </a:p>
          <a:p>
            <a:pPr>
              <a:buFont typeface="Arial" panose="020B0604020202020204" pitchFamily="34" charset="0"/>
              <a:buChar char="•"/>
            </a:pPr>
            <a:r>
              <a:rPr lang="en-US"/>
              <a:t>Demodulates and routes them into the internet.</a:t>
            </a:r>
          </a:p>
          <a:p>
            <a:r>
              <a:rPr lang="en-US" b="1"/>
              <a:t>4. NCC (Network Control Center)</a:t>
            </a:r>
          </a:p>
          <a:p>
            <a:pPr>
              <a:buFont typeface="Arial" panose="020B0604020202020204" pitchFamily="34" charset="0"/>
              <a:buChar char="•"/>
            </a:pPr>
            <a:r>
              <a:rPr lang="en-US"/>
              <a:t>Responsible for </a:t>
            </a:r>
            <a:r>
              <a:rPr lang="en-US" b="1"/>
              <a:t>network management</a:t>
            </a:r>
            <a:r>
              <a:rPr lang="en-US"/>
              <a:t>, </a:t>
            </a:r>
            <a:r>
              <a:rPr lang="en-US" b="1"/>
              <a:t>resource allocation</a:t>
            </a:r>
            <a:r>
              <a:rPr lang="en-US"/>
              <a:t>, and </a:t>
            </a:r>
            <a:r>
              <a:rPr lang="en-US" b="1"/>
              <a:t>burst scheduling</a:t>
            </a:r>
            <a:r>
              <a:rPr lang="en-US"/>
              <a:t>.</a:t>
            </a:r>
          </a:p>
          <a:p>
            <a:pPr>
              <a:buFont typeface="Arial" panose="020B0604020202020204" pitchFamily="34" charset="0"/>
              <a:buChar char="•"/>
            </a:pPr>
            <a:r>
              <a:rPr lang="en-US"/>
              <a:t>Sends timing plans, burst profiles, and Terminal Parameter Groups (TPGs) via the Forward Link.</a:t>
            </a:r>
          </a:p>
          <a:p>
            <a:pPr>
              <a:buFont typeface="Arial" panose="020B0604020202020204" pitchFamily="34" charset="0"/>
              <a:buChar char="•"/>
            </a:pPr>
            <a:r>
              <a:rPr lang="en-US"/>
              <a:t>Works alongside the Gateway but logically can be a separate entity.</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17</a:t>
            </a:fld>
            <a:endParaRPr lang="en-ID"/>
          </a:p>
        </p:txBody>
      </p:sp>
    </p:spTree>
    <p:extLst>
      <p:ext uri="{BB962C8B-B14F-4D97-AF65-F5344CB8AC3E}">
        <p14:creationId xmlns:p14="http://schemas.microsoft.com/office/powerpoint/2010/main" val="493014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Return Link Dynamics:</a:t>
            </a:r>
          </a:p>
          <a:p>
            <a:pPr>
              <a:buFont typeface="Arial" panose="020B0604020202020204" pitchFamily="34" charset="0"/>
              <a:buChar char="•"/>
            </a:pPr>
            <a:r>
              <a:rPr lang="en-US"/>
              <a:t>RCSTs don’t transmit freely — they must </a:t>
            </a:r>
            <a:r>
              <a:rPr lang="en-US" b="1"/>
              <a:t>request bandwidth</a:t>
            </a:r>
            <a:r>
              <a:rPr lang="en-US"/>
              <a:t> first.</a:t>
            </a:r>
          </a:p>
          <a:p>
            <a:pPr>
              <a:buFont typeface="Arial" panose="020B0604020202020204" pitchFamily="34" charset="0"/>
              <a:buChar char="•"/>
            </a:pPr>
            <a:r>
              <a:rPr lang="en-US"/>
              <a:t>RCSTs send </a:t>
            </a:r>
            <a:r>
              <a:rPr lang="en-US" b="1"/>
              <a:t>Scheduling Requests (SR)</a:t>
            </a:r>
            <a:r>
              <a:rPr lang="en-US"/>
              <a:t> to the NCC via a </a:t>
            </a:r>
            <a:r>
              <a:rPr lang="en-US" b="1"/>
              <a:t>Contention-based Access (CRA)</a:t>
            </a:r>
            <a:r>
              <a:rPr lang="en-US"/>
              <a:t> or </a:t>
            </a:r>
            <a:r>
              <a:rPr lang="en-US" b="1"/>
              <a:t>Dedicated Control Slots</a:t>
            </a:r>
            <a:r>
              <a:rPr lang="en-US"/>
              <a:t>.</a:t>
            </a:r>
          </a:p>
          <a:p>
            <a:pPr>
              <a:buFont typeface="Arial" panose="020B0604020202020204" pitchFamily="34" charset="0"/>
              <a:buNone/>
            </a:pPr>
            <a:endParaRPr lang="en-US"/>
          </a:p>
          <a:p>
            <a:r>
              <a:rPr lang="en-US" b="1"/>
              <a:t>🧠 NCC’s Role:</a:t>
            </a:r>
          </a:p>
          <a:p>
            <a:pPr>
              <a:buFont typeface="Arial" panose="020B0604020202020204" pitchFamily="34" charset="0"/>
              <a:buChar char="•"/>
            </a:pPr>
            <a:r>
              <a:rPr lang="en-US"/>
              <a:t>The </a:t>
            </a:r>
            <a:r>
              <a:rPr lang="en-US" b="1"/>
              <a:t>NCC (Network Control Center)</a:t>
            </a:r>
            <a:r>
              <a:rPr lang="en-US"/>
              <a:t> is the </a:t>
            </a:r>
            <a:r>
              <a:rPr lang="en-US" b="1"/>
              <a:t>centralized scheduler</a:t>
            </a:r>
            <a:r>
              <a:rPr lang="en-US"/>
              <a:t>.</a:t>
            </a:r>
          </a:p>
          <a:p>
            <a:pPr>
              <a:buFont typeface="Arial" panose="020B0604020202020204" pitchFamily="34" charset="0"/>
              <a:buChar char="•"/>
            </a:pPr>
            <a:r>
              <a:rPr lang="en-US"/>
              <a:t>It collects:</a:t>
            </a:r>
          </a:p>
          <a:p>
            <a:pPr marL="742950" lvl="1" indent="-285750">
              <a:buFont typeface="Arial" panose="020B0604020202020204" pitchFamily="34" charset="0"/>
              <a:buChar char="•"/>
            </a:pPr>
            <a:r>
              <a:rPr lang="en-US" b="1"/>
              <a:t>Traffic demand</a:t>
            </a:r>
            <a:r>
              <a:rPr lang="en-US"/>
              <a:t> from RCSTs (e.g., data queues, QoS class).</a:t>
            </a:r>
          </a:p>
          <a:p>
            <a:pPr marL="742950" lvl="1" indent="-285750">
              <a:buFont typeface="Arial" panose="020B0604020202020204" pitchFamily="34" charset="0"/>
              <a:buChar char="•"/>
            </a:pPr>
            <a:r>
              <a:rPr lang="en-US" b="1"/>
              <a:t>Channel conditions</a:t>
            </a:r>
            <a:r>
              <a:rPr lang="en-US"/>
              <a:t> and </a:t>
            </a:r>
            <a:r>
              <a:rPr lang="en-US" b="1"/>
              <a:t>terminal status</a:t>
            </a:r>
            <a:r>
              <a:rPr lang="en-US"/>
              <a:t>.</a:t>
            </a:r>
          </a:p>
          <a:p>
            <a:pPr>
              <a:buFont typeface="Arial" panose="020B0604020202020204" pitchFamily="34" charset="0"/>
              <a:buChar char="•"/>
            </a:pPr>
            <a:r>
              <a:rPr lang="en-US"/>
              <a:t>Then, it computes a </a:t>
            </a:r>
            <a:r>
              <a:rPr lang="en-US" b="1"/>
              <a:t>TDMA (Time Division Multiple Access) frame schedule</a:t>
            </a:r>
            <a:r>
              <a:rPr lang="en-US"/>
              <a:t>, assigning slots per RCST.</a:t>
            </a:r>
          </a:p>
          <a:p>
            <a:pPr>
              <a:buFont typeface="Arial" panose="020B0604020202020204" pitchFamily="34" charset="0"/>
              <a:buChar char="•"/>
            </a:pPr>
            <a:r>
              <a:rPr lang="en-US"/>
              <a:t>The frame is </a:t>
            </a:r>
            <a:r>
              <a:rPr lang="en-US" b="1"/>
              <a:t>broadcast back</a:t>
            </a:r>
            <a:r>
              <a:rPr lang="en-US"/>
              <a:t> to all RCSTs via the </a:t>
            </a:r>
            <a:r>
              <a:rPr lang="en-US" b="1"/>
              <a:t>DVB-S2X forward link</a:t>
            </a:r>
            <a:r>
              <a:rPr lang="en-US"/>
              <a:t> from the Gateway.</a:t>
            </a:r>
          </a:p>
          <a:p>
            <a:pPr>
              <a:buFont typeface="Arial" panose="020B0604020202020204" pitchFamily="34" charset="0"/>
              <a:buNone/>
            </a:pPr>
            <a:endParaRPr lang="en-US"/>
          </a:p>
          <a:p>
            <a:r>
              <a:rPr lang="en-US" b="1"/>
              <a:t>🧭 Gateway’s Role:</a:t>
            </a:r>
          </a:p>
          <a:p>
            <a:pPr>
              <a:buFont typeface="Arial" panose="020B0604020202020204" pitchFamily="34" charset="0"/>
              <a:buChar char="•"/>
            </a:pPr>
            <a:r>
              <a:rPr lang="en-US"/>
              <a:t>Acts as the </a:t>
            </a:r>
            <a:r>
              <a:rPr lang="en-US" b="1"/>
              <a:t>modulator of the DVB-S2X forward link</a:t>
            </a:r>
            <a:r>
              <a:rPr lang="en-US"/>
              <a:t>.</a:t>
            </a:r>
          </a:p>
          <a:p>
            <a:pPr>
              <a:buFont typeface="Arial" panose="020B0604020202020204" pitchFamily="34" charset="0"/>
              <a:buChar char="•"/>
            </a:pPr>
            <a:r>
              <a:rPr lang="en-US"/>
              <a:t>Transmits data + signaling frames (burst profiles, slot allocation tables).</a:t>
            </a:r>
          </a:p>
          <a:p>
            <a:pPr>
              <a:buFont typeface="Arial" panose="020B0604020202020204" pitchFamily="34" charset="0"/>
              <a:buNone/>
            </a:pPr>
            <a:endParaRPr lang="en-US"/>
          </a:p>
          <a:p>
            <a:r>
              <a:rPr lang="en-US" b="1"/>
              <a:t>🔁 Feedback Loop:</a:t>
            </a:r>
          </a:p>
          <a:p>
            <a:pPr>
              <a:buFont typeface="Arial" panose="020B0604020202020204" pitchFamily="34" charset="0"/>
              <a:buChar char="•"/>
            </a:pPr>
            <a:r>
              <a:rPr lang="en-US"/>
              <a:t>RCSTs </a:t>
            </a:r>
            <a:r>
              <a:rPr lang="en-US" b="1"/>
              <a:t>adapt their transmission behavior</a:t>
            </a:r>
            <a:r>
              <a:rPr lang="en-US"/>
              <a:t> based on NCC’s commands.</a:t>
            </a:r>
          </a:p>
          <a:p>
            <a:pPr>
              <a:buFont typeface="Arial" panose="020B0604020202020204" pitchFamily="34" charset="0"/>
              <a:buChar char="•"/>
            </a:pPr>
            <a:r>
              <a:rPr lang="en-US"/>
              <a:t>Helps optimize bandwidth, reduce collisions, and meet QoS targets.</a:t>
            </a:r>
          </a:p>
          <a:p>
            <a:pPr>
              <a:buFont typeface="Arial" panose="020B0604020202020204" pitchFamily="34" charset="0"/>
              <a:buNone/>
            </a:pPr>
            <a:endParaRPr lang="en-US"/>
          </a:p>
          <a:p>
            <a:r>
              <a:rPr lang="en-US" b="1"/>
              <a:t>🧩 Add this optional explanation box:</a:t>
            </a:r>
          </a:p>
          <a:p>
            <a:r>
              <a:rPr lang="en-US" b="1"/>
              <a:t>“In DVB-RCS2, RCSTs do not control their uplink independently. They rely on a centralized scheduler (NCC), which dynamically allocates time slots and adjusts traffic priorities to optimize satellite link utilization.”</a:t>
            </a:r>
            <a:endParaRPr lang="en-US"/>
          </a:p>
          <a:p>
            <a:r>
              <a:rPr lang="en-US" b="1"/>
              <a:t>Summary Sentence (bottom of slide):</a:t>
            </a:r>
          </a:p>
          <a:p>
            <a:r>
              <a:rPr lang="en-US" i="1"/>
              <a:t>“DVB-RCS2 return link relies on a centrally coordinated TDMA system, with intelligent scheduling by the NCC and real-time feedback from RCSTs.”</a:t>
            </a:r>
            <a:endParaRPr lang="en-US"/>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18</a:t>
            </a:fld>
            <a:endParaRPr lang="en-ID"/>
          </a:p>
        </p:txBody>
      </p:sp>
    </p:spTree>
    <p:extLst>
      <p:ext uri="{BB962C8B-B14F-4D97-AF65-F5344CB8AC3E}">
        <p14:creationId xmlns:p14="http://schemas.microsoft.com/office/powerpoint/2010/main" val="2931165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Explanation Breakdown for the Slide:</a:t>
            </a:r>
          </a:p>
          <a:p>
            <a:r>
              <a:rPr lang="en-US" b="1"/>
              <a:t>🟩 RCST Capabilities:</a:t>
            </a:r>
          </a:p>
          <a:p>
            <a:pPr>
              <a:buFont typeface="Arial" panose="020B0604020202020204" pitchFamily="34" charset="0"/>
              <a:buChar char="•"/>
            </a:pPr>
            <a:r>
              <a:rPr lang="en-US" b="1"/>
              <a:t>Receives Control Info</a:t>
            </a:r>
            <a:r>
              <a:rPr lang="en-US"/>
              <a:t>: RCST gets </a:t>
            </a:r>
            <a:r>
              <a:rPr lang="en-US" b="1"/>
              <a:t>Timing &amp; TPG (Terminal Parameter Group)</a:t>
            </a:r>
            <a:r>
              <a:rPr lang="en-US"/>
              <a:t> instructions via the </a:t>
            </a:r>
            <a:r>
              <a:rPr lang="en-US" b="1"/>
              <a:t>forward link</a:t>
            </a:r>
            <a:r>
              <a:rPr lang="en-US"/>
              <a:t> (from the Gateway).</a:t>
            </a:r>
          </a:p>
          <a:p>
            <a:pPr>
              <a:buFont typeface="Arial" panose="020B0604020202020204" pitchFamily="34" charset="0"/>
              <a:buChar char="•"/>
            </a:pPr>
            <a:r>
              <a:rPr lang="en-US" b="1"/>
              <a:t>Requests Access</a:t>
            </a:r>
            <a:r>
              <a:rPr lang="en-US"/>
              <a:t>: Before sending data, the RCST must </a:t>
            </a:r>
            <a:r>
              <a:rPr lang="en-US" b="1"/>
              <a:t>request uplink slots</a:t>
            </a:r>
            <a:r>
              <a:rPr lang="en-US"/>
              <a:t> from the NCC.</a:t>
            </a:r>
          </a:p>
          <a:p>
            <a:pPr>
              <a:buFont typeface="Arial" panose="020B0604020202020204" pitchFamily="34" charset="0"/>
              <a:buChar char="•"/>
            </a:pPr>
            <a:r>
              <a:rPr lang="en-US" b="1"/>
              <a:t>Transmits in Assigned Slots</a:t>
            </a:r>
            <a:r>
              <a:rPr lang="en-US"/>
              <a:t>: After receiving permission, it transmits bursts in the scheduled </a:t>
            </a:r>
            <a:r>
              <a:rPr lang="en-US" b="1"/>
              <a:t>TDMA slots</a:t>
            </a:r>
            <a:r>
              <a:rPr lang="en-US"/>
              <a:t>.</a:t>
            </a:r>
          </a:p>
          <a:p>
            <a:pPr>
              <a:buFont typeface="Arial" panose="020B0604020202020204" pitchFamily="34" charset="0"/>
              <a:buChar char="•"/>
            </a:pPr>
            <a:r>
              <a:rPr lang="en-US" b="1"/>
              <a:t>Adapts Modulation/Coding</a:t>
            </a:r>
            <a:r>
              <a:rPr lang="en-US"/>
              <a:t>: Based on current </a:t>
            </a:r>
            <a:r>
              <a:rPr lang="en-US" b="1"/>
              <a:t>link budget (signal quality, path loss, etc.)</a:t>
            </a:r>
            <a:r>
              <a:rPr lang="en-US"/>
              <a:t>, RCST adapts its physical layer parameters to maintain optimal performance.</a:t>
            </a:r>
          </a:p>
          <a:p>
            <a:pPr>
              <a:buFont typeface="Arial" panose="020B0604020202020204" pitchFamily="34" charset="0"/>
              <a:buNone/>
            </a:pPr>
            <a:endParaRPr lang="en-US"/>
          </a:p>
          <a:p>
            <a:r>
              <a:rPr lang="en-US" b="1"/>
              <a:t>🔄 Communication Flows:</a:t>
            </a:r>
          </a:p>
          <a:p>
            <a:pPr>
              <a:buFont typeface="Arial" panose="020B0604020202020204" pitchFamily="34" charset="0"/>
              <a:buChar char="•"/>
            </a:pPr>
            <a:r>
              <a:rPr lang="en-US" b="1"/>
              <a:t>To Satellite</a:t>
            </a:r>
            <a:r>
              <a:rPr lang="en-US"/>
              <a:t>: RCST sends both </a:t>
            </a:r>
            <a:r>
              <a:rPr lang="en-US" b="1"/>
              <a:t>data bursts</a:t>
            </a:r>
            <a:r>
              <a:rPr lang="en-US"/>
              <a:t> and </a:t>
            </a:r>
            <a:r>
              <a:rPr lang="en-US" b="1"/>
              <a:t>access requests</a:t>
            </a:r>
            <a:r>
              <a:rPr lang="en-US"/>
              <a:t>.</a:t>
            </a:r>
          </a:p>
          <a:p>
            <a:pPr>
              <a:buFont typeface="Arial" panose="020B0604020202020204" pitchFamily="34" charset="0"/>
              <a:buChar char="•"/>
            </a:pPr>
            <a:r>
              <a:rPr lang="en-US" b="1"/>
              <a:t>From Satellite</a:t>
            </a:r>
            <a:r>
              <a:rPr lang="en-US"/>
              <a:t>: It receives </a:t>
            </a:r>
            <a:r>
              <a:rPr lang="en-US" b="1"/>
              <a:t>TPG and timing data</a:t>
            </a:r>
            <a:r>
              <a:rPr lang="en-US"/>
              <a:t>, allowing synchronization with the TDMA schedule.</a:t>
            </a:r>
          </a:p>
          <a:p>
            <a:pPr>
              <a:buFont typeface="Arial" panose="020B0604020202020204" pitchFamily="34" charset="0"/>
              <a:buChar char="•"/>
            </a:pPr>
            <a:r>
              <a:rPr lang="en-US" b="1"/>
              <a:t>To NCC</a:t>
            </a:r>
            <a:r>
              <a:rPr lang="en-US"/>
              <a:t>: RCST gives </a:t>
            </a:r>
            <a:r>
              <a:rPr lang="en-US" b="1"/>
              <a:t>feedback</a:t>
            </a:r>
            <a:r>
              <a:rPr lang="en-US"/>
              <a:t>, including demand and performance metrics.</a:t>
            </a:r>
          </a:p>
          <a:p>
            <a:pPr>
              <a:buFont typeface="Arial" panose="020B0604020202020204" pitchFamily="34" charset="0"/>
              <a:buNone/>
            </a:pPr>
            <a:endParaRPr lang="en-US"/>
          </a:p>
          <a:p>
            <a:r>
              <a:rPr lang="en-US" b="1"/>
              <a:t>🔁 Adaptive Access:</a:t>
            </a:r>
          </a:p>
          <a:p>
            <a:pPr>
              <a:buFont typeface="Arial" panose="020B0604020202020204" pitchFamily="34" charset="0"/>
              <a:buChar char="•"/>
            </a:pPr>
            <a:r>
              <a:rPr lang="en-US"/>
              <a:t>DVB-RCS2 uses </a:t>
            </a:r>
            <a:r>
              <a:rPr lang="en-US" b="1"/>
              <a:t>Adaptive Coding and Modulation (ACM)</a:t>
            </a:r>
            <a:r>
              <a:rPr lang="en-US"/>
              <a:t> not only on forward links (DVB-S2X), but also on return links.</a:t>
            </a:r>
          </a:p>
          <a:p>
            <a:pPr>
              <a:buFont typeface="Arial" panose="020B0604020202020204" pitchFamily="34" charset="0"/>
              <a:buChar char="•"/>
            </a:pPr>
            <a:r>
              <a:rPr lang="en-US"/>
              <a:t>RCST dynamically adjusts its transmission to </a:t>
            </a:r>
            <a:r>
              <a:rPr lang="en-US" b="1"/>
              <a:t>optimize throughput</a:t>
            </a:r>
            <a:r>
              <a:rPr lang="en-US"/>
              <a:t>, avoid congestion, and fit the shared medium.</a:t>
            </a:r>
          </a:p>
          <a:p>
            <a:pPr>
              <a:buFont typeface="Arial" panose="020B0604020202020204" pitchFamily="34" charset="0"/>
              <a:buNone/>
            </a:pPr>
            <a:endParaRPr lang="en-US"/>
          </a:p>
          <a:p>
            <a:r>
              <a:rPr lang="en-US" b="1"/>
              <a:t>🧩 Optional Box (Bottom of Slide):</a:t>
            </a:r>
          </a:p>
          <a:p>
            <a:r>
              <a:rPr lang="en-US" b="1"/>
              <a:t>"RCSTs are not passive receivers — they actively participate in the return link scheduling process, adapt to changing channel conditions, and optimize the use of shared satellite resources."</a:t>
            </a:r>
            <a:endParaRPr lang="en-US"/>
          </a:p>
          <a:p>
            <a:r>
              <a:rPr lang="en-US" b="1"/>
              <a:t>Final Summary:</a:t>
            </a:r>
          </a:p>
          <a:p>
            <a:r>
              <a:rPr lang="en-US" i="1"/>
              <a:t>"DVB-RCS2 empowers user terminals (RCSTs) with intelligence: they request access, adapt transmission strategies, and maintain synchronized communication with the gateway and NCC."</a:t>
            </a:r>
            <a:endParaRPr lang="en-US"/>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19</a:t>
            </a:fld>
            <a:endParaRPr lang="en-ID"/>
          </a:p>
        </p:txBody>
      </p:sp>
    </p:spTree>
    <p:extLst>
      <p:ext uri="{BB962C8B-B14F-4D97-AF65-F5344CB8AC3E}">
        <p14:creationId xmlns:p14="http://schemas.microsoft.com/office/powerpoint/2010/main" val="1416725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DVB-RCS2 defines a layered protocol stack to structure communication from the user terminal (RCST) to the gateway. At the top, user applications like VoIP, video streaming, or file transfer generate IP packets. These traverse the standard transport (TCP/UDP) and network (IP) layers before being passed to SI-SAP, which handles convergence and encapsulation.</a:t>
            </a:r>
          </a:p>
          <a:p>
            <a:r>
              <a:rPr lang="en-US"/>
              <a:t>The MAC layer is responsible for access control, timeslot scheduling, and QoS classification. It determines when and how a terminal can transmit. Finally, the physical layer transmits data bursts over the return link using modulated RF waveforms.</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20</a:t>
            </a:fld>
            <a:endParaRPr lang="en-ID"/>
          </a:p>
        </p:txBody>
      </p:sp>
    </p:spTree>
    <p:extLst>
      <p:ext uri="{BB962C8B-B14F-4D97-AF65-F5344CB8AC3E}">
        <p14:creationId xmlns:p14="http://schemas.microsoft.com/office/powerpoint/2010/main" val="456253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Explanation:</a:t>
            </a:r>
          </a:p>
          <a:p>
            <a:pPr>
              <a:buFont typeface="+mj-lt"/>
              <a:buAutoNum type="arabicPeriod"/>
            </a:pPr>
            <a:r>
              <a:rPr lang="en-US" b="1"/>
              <a:t>Burst Structure (Left Diagram)</a:t>
            </a:r>
            <a:r>
              <a:rPr lang="en-US"/>
              <a:t>:</a:t>
            </a:r>
          </a:p>
          <a:p>
            <a:pPr marL="742950" lvl="1" indent="-285750">
              <a:buFont typeface="+mj-lt"/>
              <a:buAutoNum type="arabicPeriod"/>
            </a:pPr>
            <a:r>
              <a:rPr lang="en-US"/>
              <a:t>Each </a:t>
            </a:r>
            <a:r>
              <a:rPr lang="en-US" b="1"/>
              <a:t>RCST (user terminal)</a:t>
            </a:r>
            <a:r>
              <a:rPr lang="en-US"/>
              <a:t> sends a </a:t>
            </a:r>
            <a:r>
              <a:rPr lang="en-US" b="1"/>
              <a:t>burst</a:t>
            </a:r>
            <a:r>
              <a:rPr lang="en-US"/>
              <a:t> on the return link that follows a structured format:</a:t>
            </a:r>
          </a:p>
          <a:p>
            <a:pPr marL="1143000" lvl="2" indent="-228600">
              <a:buFont typeface="+mj-lt"/>
              <a:buAutoNum type="arabicPeriod"/>
            </a:pPr>
            <a:r>
              <a:rPr lang="en-US" b="1"/>
              <a:t>Preamble</a:t>
            </a:r>
            <a:r>
              <a:rPr lang="en-US"/>
              <a:t>: Used for synchronization.</a:t>
            </a:r>
          </a:p>
          <a:p>
            <a:pPr marL="1143000" lvl="2" indent="-228600">
              <a:buFont typeface="+mj-lt"/>
              <a:buAutoNum type="arabicPeriod"/>
            </a:pPr>
            <a:r>
              <a:rPr lang="en-US" b="1"/>
              <a:t>Header</a:t>
            </a:r>
            <a:r>
              <a:rPr lang="en-US"/>
              <a:t>: Contains burst control and addressing info.</a:t>
            </a:r>
          </a:p>
          <a:p>
            <a:pPr marL="1143000" lvl="2" indent="-228600">
              <a:buFont typeface="+mj-lt"/>
              <a:buAutoNum type="arabicPeriod"/>
            </a:pPr>
            <a:r>
              <a:rPr lang="en-US" b="1"/>
              <a:t>Payload</a:t>
            </a:r>
            <a:r>
              <a:rPr lang="en-US"/>
              <a:t>: Actual user data being sent.</a:t>
            </a:r>
          </a:p>
          <a:p>
            <a:pPr marL="1143000" lvl="2" indent="-228600">
              <a:buFont typeface="+mj-lt"/>
              <a:buAutoNum type="arabicPeriod"/>
            </a:pPr>
            <a:r>
              <a:rPr lang="en-US" b="1"/>
              <a:t>Guard Time</a:t>
            </a:r>
            <a:r>
              <a:rPr lang="en-US"/>
              <a:t>: Prevents overlapping between bursts due to propagation delay.</a:t>
            </a:r>
          </a:p>
          <a:p>
            <a:pPr>
              <a:buFont typeface="+mj-lt"/>
              <a:buAutoNum type="arabicPeriod"/>
            </a:pPr>
            <a:r>
              <a:rPr lang="en-US" b="1"/>
              <a:t>MF-TDMA (Right Diagram)</a:t>
            </a:r>
            <a:r>
              <a:rPr lang="en-US"/>
              <a:t>:</a:t>
            </a:r>
          </a:p>
          <a:p>
            <a:pPr marL="742950" lvl="1" indent="-285750">
              <a:buFont typeface="+mj-lt"/>
              <a:buAutoNum type="arabicPeriod"/>
            </a:pPr>
            <a:r>
              <a:rPr lang="en-US"/>
              <a:t>Return link uses </a:t>
            </a:r>
            <a:r>
              <a:rPr lang="en-US" b="1"/>
              <a:t>Multi-Frequency Time Division Multiple Access (MF-TDMA)</a:t>
            </a:r>
            <a:r>
              <a:rPr lang="en-US"/>
              <a:t>.</a:t>
            </a:r>
          </a:p>
          <a:p>
            <a:pPr marL="742950" lvl="1" indent="-285750">
              <a:buFont typeface="+mj-lt"/>
              <a:buAutoNum type="arabicPeriod"/>
            </a:pPr>
            <a:r>
              <a:rPr lang="en-US"/>
              <a:t>Multiple RCSTs can transmit </a:t>
            </a:r>
            <a:r>
              <a:rPr lang="en-US" b="1"/>
              <a:t>simultaneously</a:t>
            </a:r>
            <a:r>
              <a:rPr lang="en-US"/>
              <a:t> on </a:t>
            </a:r>
            <a:r>
              <a:rPr lang="en-US" b="1"/>
              <a:t>different frequencies</a:t>
            </a:r>
            <a:r>
              <a:rPr lang="en-US"/>
              <a:t> and </a:t>
            </a:r>
            <a:r>
              <a:rPr lang="en-US" b="1"/>
              <a:t>different time slots</a:t>
            </a:r>
            <a:r>
              <a:rPr lang="en-US"/>
              <a:t>.</a:t>
            </a:r>
          </a:p>
          <a:p>
            <a:pPr marL="742950" lvl="1" indent="-285750">
              <a:buFont typeface="+mj-lt"/>
              <a:buAutoNum type="arabicPeriod"/>
            </a:pPr>
            <a:r>
              <a:rPr lang="en-US"/>
              <a:t>Efficient way to share bandwidth dynamically among many terminals.</a:t>
            </a:r>
          </a:p>
          <a:p>
            <a:pPr marL="742950" lvl="1" indent="-285750">
              <a:buFont typeface="+mj-lt"/>
              <a:buAutoNum type="arabicPeriod"/>
            </a:pPr>
            <a:r>
              <a:rPr lang="en-US"/>
              <a:t>This is orchestrated by the </a:t>
            </a:r>
            <a:r>
              <a:rPr lang="en-US" b="1"/>
              <a:t>NCC scheduler</a:t>
            </a:r>
            <a:r>
              <a:rPr lang="en-US"/>
              <a:t>, which assigns slots to RCSTs based on demand and traffic.</a:t>
            </a:r>
          </a:p>
        </p:txBody>
      </p:sp>
      <p:sp>
        <p:nvSpPr>
          <p:cNvPr id="4" name="Slide Number Placeholder 3"/>
          <p:cNvSpPr>
            <a:spLocks noGrp="1"/>
          </p:cNvSpPr>
          <p:nvPr>
            <p:ph type="sldNum" sz="quarter" idx="5"/>
          </p:nvPr>
        </p:nvSpPr>
        <p:spPr/>
        <p:txBody>
          <a:bodyPr/>
          <a:lstStyle/>
          <a:p>
            <a:fld id="{269DC84E-9728-437B-BEB6-A90046F24629}" type="slidenum">
              <a:rPr lang="en-ID" smtClean="0"/>
              <a:t>21</a:t>
            </a:fld>
            <a:endParaRPr lang="en-ID"/>
          </a:p>
        </p:txBody>
      </p:sp>
    </p:spTree>
    <p:extLst>
      <p:ext uri="{BB962C8B-B14F-4D97-AF65-F5344CB8AC3E}">
        <p14:creationId xmlns:p14="http://schemas.microsoft.com/office/powerpoint/2010/main" val="2259086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User terminals request return link access via Dynamic Resource Allocation (DRA), prioritizing traffic based on Quality of Service (QoS) class. The NCC scheduler adapts dynamically and assigns MF-TDMA slots accordingly.</a:t>
            </a:r>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22</a:t>
            </a:fld>
            <a:endParaRPr lang="en-ID"/>
          </a:p>
        </p:txBody>
      </p:sp>
    </p:spTree>
    <p:extLst>
      <p:ext uri="{BB962C8B-B14F-4D97-AF65-F5344CB8AC3E}">
        <p14:creationId xmlns:p14="http://schemas.microsoft.com/office/powerpoint/2010/main" val="2960203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24</a:t>
            </a:fld>
            <a:endParaRPr lang="en-ID"/>
          </a:p>
        </p:txBody>
      </p:sp>
    </p:spTree>
    <p:extLst>
      <p:ext uri="{BB962C8B-B14F-4D97-AF65-F5344CB8AC3E}">
        <p14:creationId xmlns:p14="http://schemas.microsoft.com/office/powerpoint/2010/main" val="1518280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explain how DVB-S2X </a:t>
            </a:r>
            <a:r>
              <a:rPr lang="en-US" b="1"/>
              <a:t>protects the BBFRAME</a:t>
            </a:r>
            <a:r>
              <a:rPr lang="en-US"/>
              <a:t> from data corruption using </a:t>
            </a:r>
            <a:r>
              <a:rPr lang="en-US" b="1"/>
              <a:t>two layers of error correction</a:t>
            </a:r>
            <a:r>
              <a:rPr lang="en-US"/>
              <a:t>, before it becomes a PLFRAME.</a:t>
            </a:r>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26</a:t>
            </a:fld>
            <a:endParaRPr lang="en-ID"/>
          </a:p>
        </p:txBody>
      </p:sp>
    </p:spTree>
    <p:extLst>
      <p:ext uri="{BB962C8B-B14F-4D97-AF65-F5344CB8AC3E}">
        <p14:creationId xmlns:p14="http://schemas.microsoft.com/office/powerpoint/2010/main" val="3892045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explain what the </a:t>
            </a:r>
            <a:r>
              <a:rPr lang="en-US" b="1"/>
              <a:t>Physical Layer Frame (PLFRAME)</a:t>
            </a:r>
            <a:r>
              <a:rPr lang="en-US"/>
              <a:t> looks like, and the critical role of the </a:t>
            </a:r>
            <a:r>
              <a:rPr lang="en-US" b="1"/>
              <a:t>PLS Header</a:t>
            </a:r>
            <a:r>
              <a:rPr lang="en-US"/>
              <a:t> in helping the receiver interpret the frame.</a:t>
            </a:r>
            <a:endParaRPr lang="id-ID"/>
          </a:p>
          <a:p>
            <a:r>
              <a:rPr lang="en-US" b="1"/>
              <a:t>🔹 What is a PLFRAME?</a:t>
            </a:r>
          </a:p>
          <a:p>
            <a:pPr>
              <a:buFont typeface="Arial" panose="020B0604020202020204" pitchFamily="34" charset="0"/>
              <a:buChar char="•"/>
            </a:pPr>
            <a:r>
              <a:rPr lang="en-US"/>
              <a:t>The </a:t>
            </a:r>
            <a:r>
              <a:rPr lang="en-US" b="1"/>
              <a:t>final data frame</a:t>
            </a:r>
            <a:r>
              <a:rPr lang="en-US"/>
              <a:t> transmitted over the air by the satellite system.</a:t>
            </a:r>
          </a:p>
          <a:p>
            <a:pPr>
              <a:buFont typeface="Arial" panose="020B0604020202020204" pitchFamily="34" charset="0"/>
              <a:buChar char="•"/>
            </a:pPr>
            <a:r>
              <a:rPr lang="en-US"/>
              <a:t>It contains:</a:t>
            </a:r>
          </a:p>
          <a:p>
            <a:pPr marL="742950" lvl="1" indent="-285750">
              <a:buFont typeface="Arial" panose="020B0604020202020204" pitchFamily="34" charset="0"/>
              <a:buChar char="•"/>
            </a:pPr>
            <a:r>
              <a:rPr lang="en-US"/>
              <a:t>A </a:t>
            </a:r>
            <a:r>
              <a:rPr lang="en-US" b="1"/>
              <a:t>PLS Header</a:t>
            </a:r>
            <a:r>
              <a:rPr lang="en-US"/>
              <a:t> (Physical Layer Signaling Header)</a:t>
            </a:r>
          </a:p>
          <a:p>
            <a:pPr marL="742950" lvl="1" indent="-285750">
              <a:buFont typeface="Arial" panose="020B0604020202020204" pitchFamily="34" charset="0"/>
              <a:buChar char="•"/>
            </a:pPr>
            <a:r>
              <a:rPr lang="en-US"/>
              <a:t>A </a:t>
            </a:r>
            <a:r>
              <a:rPr lang="en-US" b="1"/>
              <a:t>payload</a:t>
            </a:r>
            <a:r>
              <a:rPr lang="en-US"/>
              <a:t> (which is the FEC-protected BBFRAME)</a:t>
            </a:r>
          </a:p>
          <a:p>
            <a:pPr marL="742950" lvl="1" indent="-285750">
              <a:buFont typeface="Arial" panose="020B0604020202020204" pitchFamily="34" charset="0"/>
              <a:buChar char="•"/>
            </a:pPr>
            <a:r>
              <a:rPr lang="en-US" b="1"/>
              <a:t>Pilot Symbols</a:t>
            </a:r>
            <a:r>
              <a:rPr lang="en-US"/>
              <a:t> for signal tracking and synchronization</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27</a:t>
            </a:fld>
            <a:endParaRPr lang="en-ID"/>
          </a:p>
        </p:txBody>
      </p:sp>
    </p:spTree>
    <p:extLst>
      <p:ext uri="{BB962C8B-B14F-4D97-AF65-F5344CB8AC3E}">
        <p14:creationId xmlns:p14="http://schemas.microsoft.com/office/powerpoint/2010/main" val="1362545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show how the </a:t>
            </a:r>
            <a:r>
              <a:rPr lang="en-US" b="1"/>
              <a:t>gateway dynamically chooses</a:t>
            </a:r>
            <a:r>
              <a:rPr lang="en-US"/>
              <a:t> the best modulation &amp; coding rate (MODCOD) for each user — based on </a:t>
            </a:r>
            <a:r>
              <a:rPr lang="en-US" b="1"/>
              <a:t>link quality</a:t>
            </a:r>
            <a:r>
              <a:rPr lang="en-US"/>
              <a:t> like SNR.</a:t>
            </a:r>
            <a:endParaRPr lang="id-ID"/>
          </a:p>
          <a:p>
            <a:endParaRPr lang="id-ID"/>
          </a:p>
          <a:p>
            <a:r>
              <a:rPr lang="en-US" b="1"/>
              <a:t>✅ What is ACM?</a:t>
            </a:r>
          </a:p>
          <a:p>
            <a:r>
              <a:rPr lang="en-US" b="1"/>
              <a:t>ACM = Adaptive Coding and Modulation</a:t>
            </a:r>
            <a:br>
              <a:rPr lang="en-US"/>
            </a:br>
            <a:r>
              <a:rPr lang="en-US"/>
              <a:t>It's a </a:t>
            </a:r>
            <a:r>
              <a:rPr lang="en-US" b="1"/>
              <a:t>smart technique</a:t>
            </a:r>
            <a:r>
              <a:rPr lang="en-US"/>
              <a:t> used in satellite communication systems (like DVB-S2X) that </a:t>
            </a:r>
            <a:r>
              <a:rPr lang="en-US" b="1"/>
              <a:t>automatically adjusts</a:t>
            </a:r>
            <a:r>
              <a:rPr lang="en-US"/>
              <a:t>:</a:t>
            </a:r>
          </a:p>
          <a:p>
            <a:pPr>
              <a:buFont typeface="Arial" panose="020B0604020202020204" pitchFamily="34" charset="0"/>
              <a:buChar char="•"/>
            </a:pPr>
            <a:r>
              <a:rPr lang="en-US"/>
              <a:t>🌀 </a:t>
            </a:r>
            <a:r>
              <a:rPr lang="en-US" b="1"/>
              <a:t>Modulation type</a:t>
            </a:r>
            <a:r>
              <a:rPr lang="en-US"/>
              <a:t> (QPSK, 8PSK, 16APSK, etc.)</a:t>
            </a:r>
          </a:p>
          <a:p>
            <a:pPr>
              <a:buFont typeface="Arial" panose="020B0604020202020204" pitchFamily="34" charset="0"/>
              <a:buChar char="•"/>
            </a:pPr>
            <a:r>
              <a:rPr lang="en-US"/>
              <a:t>🧩 </a:t>
            </a:r>
            <a:r>
              <a:rPr lang="en-US" b="1"/>
              <a:t>Coding rate</a:t>
            </a:r>
            <a:r>
              <a:rPr lang="en-US"/>
              <a:t> (how much error protection is added)</a:t>
            </a:r>
          </a:p>
          <a:p>
            <a:r>
              <a:rPr lang="en-US"/>
              <a:t>…based on </a:t>
            </a:r>
            <a:r>
              <a:rPr lang="en-US" b="1"/>
              <a:t>real-time link quality</a:t>
            </a:r>
            <a:r>
              <a:rPr lang="en-US"/>
              <a:t> (mainly SNR – signal-to-noise ratio).</a:t>
            </a:r>
          </a:p>
          <a:p>
            <a:r>
              <a:rPr lang="en-US" b="1"/>
              <a:t>🧠 Simple Analogy:</a:t>
            </a:r>
          </a:p>
          <a:p>
            <a:r>
              <a:rPr lang="en-US"/>
              <a:t>Imagine you're on a video call while walking around:</a:t>
            </a:r>
          </a:p>
          <a:p>
            <a:pPr>
              <a:buFont typeface="Arial" panose="020B0604020202020204" pitchFamily="34" charset="0"/>
              <a:buChar char="•"/>
            </a:pPr>
            <a:r>
              <a:rPr lang="en-US"/>
              <a:t>In a </a:t>
            </a:r>
            <a:r>
              <a:rPr lang="en-US" b="1"/>
              <a:t>quiet room with strong Wi-Fi</a:t>
            </a:r>
            <a:r>
              <a:rPr lang="en-US"/>
              <a:t>, your call is </a:t>
            </a:r>
            <a:r>
              <a:rPr lang="en-US" b="1"/>
              <a:t>HD quality</a:t>
            </a:r>
            <a:r>
              <a:rPr lang="en-US"/>
              <a:t> — high throughput.</a:t>
            </a:r>
          </a:p>
          <a:p>
            <a:pPr>
              <a:buFont typeface="Arial" panose="020B0604020202020204" pitchFamily="34" charset="0"/>
              <a:buChar char="•"/>
            </a:pPr>
            <a:r>
              <a:rPr lang="en-US"/>
              <a:t>But when you're in an elevator with </a:t>
            </a:r>
            <a:r>
              <a:rPr lang="en-US" b="1"/>
              <a:t>bad signal</a:t>
            </a:r>
            <a:r>
              <a:rPr lang="en-US"/>
              <a:t>, your phone automatically lowers the video quality — less data, but </a:t>
            </a:r>
            <a:r>
              <a:rPr lang="en-US" b="1"/>
              <a:t>more reliable</a:t>
            </a:r>
            <a:r>
              <a:rPr lang="en-US"/>
              <a:t>.</a:t>
            </a:r>
          </a:p>
          <a:p>
            <a:r>
              <a:rPr lang="en-US"/>
              <a:t>That’s </a:t>
            </a:r>
            <a:r>
              <a:rPr lang="en-US" b="1"/>
              <a:t>ACM in action</a:t>
            </a:r>
            <a:r>
              <a:rPr lang="en-US"/>
              <a:t>, but for </a:t>
            </a:r>
            <a:r>
              <a:rPr lang="en-US" b="1"/>
              <a:t>satellite links</a:t>
            </a:r>
            <a:r>
              <a:rPr lang="en-US"/>
              <a:t>.</a:t>
            </a:r>
          </a:p>
          <a:p>
            <a:r>
              <a:rPr lang="en-US" b="1"/>
              <a:t>🛰️ In DVB-S2X:</a:t>
            </a:r>
          </a:p>
          <a:p>
            <a:pPr>
              <a:buFont typeface="Arial" panose="020B0604020202020204" pitchFamily="34" charset="0"/>
              <a:buChar char="•"/>
            </a:pPr>
            <a:r>
              <a:rPr lang="en-US"/>
              <a:t>The </a:t>
            </a:r>
            <a:r>
              <a:rPr lang="en-US" b="1"/>
              <a:t>gateway (hub)</a:t>
            </a:r>
            <a:r>
              <a:rPr lang="en-US"/>
              <a:t> monitors how good each user’s satellite signal is.</a:t>
            </a:r>
          </a:p>
          <a:p>
            <a:pPr>
              <a:buFont typeface="Arial" panose="020B0604020202020204" pitchFamily="34" charset="0"/>
              <a:buChar char="•"/>
            </a:pPr>
            <a:r>
              <a:rPr lang="en-US"/>
              <a:t>For </a:t>
            </a:r>
            <a:r>
              <a:rPr lang="en-US" b="1"/>
              <a:t>strong signals</a:t>
            </a:r>
            <a:r>
              <a:rPr lang="en-US"/>
              <a:t>, it sends more data using </a:t>
            </a:r>
            <a:r>
              <a:rPr lang="en-US" b="1"/>
              <a:t>faster modulations</a:t>
            </a:r>
            <a:r>
              <a:rPr lang="en-US"/>
              <a:t> (e.g., 32APSK, 64APSK) and </a:t>
            </a:r>
            <a:r>
              <a:rPr lang="en-US" b="1"/>
              <a:t>less redundancy</a:t>
            </a:r>
            <a:r>
              <a:rPr lang="en-US"/>
              <a:t>.</a:t>
            </a:r>
          </a:p>
          <a:p>
            <a:pPr>
              <a:buFont typeface="Arial" panose="020B0604020202020204" pitchFamily="34" charset="0"/>
              <a:buChar char="•"/>
            </a:pPr>
            <a:r>
              <a:rPr lang="en-US"/>
              <a:t>For </a:t>
            </a:r>
            <a:r>
              <a:rPr lang="en-US" b="1"/>
              <a:t>weak signals</a:t>
            </a:r>
            <a:r>
              <a:rPr lang="en-US"/>
              <a:t> (like rain fade), it switches to </a:t>
            </a:r>
            <a:r>
              <a:rPr lang="en-US" b="1"/>
              <a:t>simpler modulations</a:t>
            </a:r>
            <a:r>
              <a:rPr lang="en-US"/>
              <a:t> (e.g., QPSK) with </a:t>
            </a:r>
            <a:r>
              <a:rPr lang="en-US" b="1"/>
              <a:t>stronger error correction</a:t>
            </a:r>
            <a:r>
              <a:rPr lang="en-US"/>
              <a:t>.</a:t>
            </a:r>
          </a:p>
          <a:p>
            <a:r>
              <a:rPr lang="en-US"/>
              <a:t>This helps:</a:t>
            </a:r>
          </a:p>
          <a:p>
            <a:pPr>
              <a:buFont typeface="Arial" panose="020B0604020202020204" pitchFamily="34" charset="0"/>
              <a:buChar char="•"/>
            </a:pPr>
            <a:r>
              <a:rPr lang="en-US"/>
              <a:t>📈 Maximize throughput</a:t>
            </a:r>
          </a:p>
          <a:p>
            <a:pPr>
              <a:buFont typeface="Arial" panose="020B0604020202020204" pitchFamily="34" charset="0"/>
              <a:buChar char="•"/>
            </a:pPr>
            <a:r>
              <a:rPr lang="en-US"/>
              <a:t>✅ Maintain reliability</a:t>
            </a:r>
          </a:p>
          <a:p>
            <a:pPr>
              <a:buFont typeface="Arial" panose="020B0604020202020204" pitchFamily="34" charset="0"/>
              <a:buChar char="•"/>
            </a:pPr>
            <a:r>
              <a:rPr lang="en-US"/>
              <a:t>⚡ Avoid wasting bandwidth</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28</a:t>
            </a:fld>
            <a:endParaRPr lang="en-ID"/>
          </a:p>
        </p:txBody>
      </p:sp>
    </p:spTree>
    <p:extLst>
      <p:ext uri="{BB962C8B-B14F-4D97-AF65-F5344CB8AC3E}">
        <p14:creationId xmlns:p14="http://schemas.microsoft.com/office/powerpoint/2010/main" val="3871634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Purpose of This Slide:</a:t>
            </a:r>
          </a:p>
          <a:p>
            <a:r>
              <a:rPr lang="en-US"/>
              <a:t>To explain how </a:t>
            </a:r>
            <a:r>
              <a:rPr lang="en-US" b="1"/>
              <a:t>DVB-S2X organizes multiple PLFRAMEs</a:t>
            </a:r>
            <a:r>
              <a:rPr lang="en-US"/>
              <a:t> into a larger, synchronized </a:t>
            </a:r>
            <a:r>
              <a:rPr lang="en-US" b="1"/>
              <a:t>Superframe</a:t>
            </a:r>
            <a:r>
              <a:rPr lang="en-US"/>
              <a:t> — enabling </a:t>
            </a:r>
            <a:r>
              <a:rPr lang="en-US" b="1"/>
              <a:t>beam hopping</a:t>
            </a:r>
            <a:r>
              <a:rPr lang="en-US"/>
              <a:t>, </a:t>
            </a:r>
            <a:r>
              <a:rPr lang="en-US" b="1"/>
              <a:t>terminal synchronization</a:t>
            </a:r>
            <a:r>
              <a:rPr lang="en-US"/>
              <a:t>, and </a:t>
            </a:r>
            <a:r>
              <a:rPr lang="en-US" b="1"/>
              <a:t>carrier coordination</a:t>
            </a:r>
            <a:r>
              <a:rPr lang="en-US"/>
              <a:t>, especially for advanced systems like HTS and NGSO.</a:t>
            </a:r>
          </a:p>
          <a:p>
            <a:endParaRPr lang="en-US"/>
          </a:p>
          <a:p>
            <a:r>
              <a:rPr lang="en-US" b="1"/>
              <a:t>🔸 What is a Superframe?</a:t>
            </a:r>
          </a:p>
          <a:p>
            <a:pPr>
              <a:buFont typeface="Arial" panose="020B0604020202020204" pitchFamily="34" charset="0"/>
              <a:buChar char="•"/>
            </a:pPr>
            <a:r>
              <a:rPr lang="en-US"/>
              <a:t>A </a:t>
            </a:r>
            <a:r>
              <a:rPr lang="en-US" b="1"/>
              <a:t>Superframe</a:t>
            </a:r>
            <a:r>
              <a:rPr lang="en-US"/>
              <a:t> is a larger framing unit composed of:</a:t>
            </a:r>
          </a:p>
          <a:p>
            <a:pPr marL="742950" lvl="1" indent="-285750">
              <a:buFont typeface="Arial" panose="020B0604020202020204" pitchFamily="34" charset="0"/>
              <a:buChar char="•"/>
            </a:pPr>
            <a:r>
              <a:rPr lang="en-US"/>
              <a:t>A </a:t>
            </a:r>
            <a:r>
              <a:rPr lang="en-US" b="1"/>
              <a:t>Start of Superframe (SoSF)</a:t>
            </a:r>
            <a:r>
              <a:rPr lang="en-US"/>
              <a:t> marker</a:t>
            </a:r>
          </a:p>
          <a:p>
            <a:pPr marL="742950" lvl="1" indent="-285750">
              <a:buFont typeface="Arial" panose="020B0604020202020204" pitchFamily="34" charset="0"/>
              <a:buChar char="•"/>
            </a:pPr>
            <a:r>
              <a:rPr lang="en-US"/>
              <a:t>Multiple </a:t>
            </a:r>
            <a:r>
              <a:rPr lang="en-US" b="1"/>
              <a:t>PLFRAMEs</a:t>
            </a:r>
            <a:endParaRPr lang="en-US"/>
          </a:p>
          <a:p>
            <a:pPr marL="742950" lvl="1" indent="-285750">
              <a:buFont typeface="Arial" panose="020B0604020202020204" pitchFamily="34" charset="0"/>
              <a:buChar char="•"/>
            </a:pPr>
            <a:r>
              <a:rPr lang="en-US"/>
              <a:t>Periodic </a:t>
            </a:r>
            <a:r>
              <a:rPr lang="en-US" b="1"/>
              <a:t>Pilot blocks</a:t>
            </a:r>
            <a:endParaRPr lang="en-US"/>
          </a:p>
          <a:p>
            <a:pPr marL="742950" lvl="1" indent="-285750">
              <a:buFont typeface="Arial" panose="020B0604020202020204" pitchFamily="34" charset="0"/>
              <a:buChar char="•"/>
            </a:pPr>
            <a:r>
              <a:rPr lang="en-US"/>
              <a:t>Optional </a:t>
            </a:r>
            <a:r>
              <a:rPr lang="en-US" b="1"/>
              <a:t>Bundled PLFRAMEs</a:t>
            </a:r>
            <a:endParaRPr lang="en-US"/>
          </a:p>
          <a:p>
            <a:pPr>
              <a:buFont typeface="Arial" panose="020B0604020202020204" pitchFamily="34" charset="0"/>
              <a:buChar char="•"/>
            </a:pPr>
            <a:r>
              <a:rPr lang="en-US"/>
              <a:t>It has a </a:t>
            </a:r>
            <a:r>
              <a:rPr lang="en-US" b="1"/>
              <a:t>fixed duration</a:t>
            </a:r>
            <a:r>
              <a:rPr lang="en-US"/>
              <a:t> (e.g., 1s or 250ms depending on system design)</a:t>
            </a:r>
          </a:p>
          <a:p>
            <a:pPr>
              <a:buFont typeface="Arial" panose="020B0604020202020204" pitchFamily="34" charset="0"/>
              <a:buChar char="•"/>
            </a:pPr>
            <a:r>
              <a:rPr lang="en-US"/>
              <a:t>All beams and carriers are aligned to the same superframe clock</a:t>
            </a:r>
          </a:p>
          <a:p>
            <a:endParaRPr lang="en-US"/>
          </a:p>
          <a:p>
            <a:r>
              <a:rPr lang="en-ID" b="1"/>
              <a:t>Why Superframes Matter:</a:t>
            </a:r>
          </a:p>
          <a:p>
            <a:r>
              <a:rPr lang="en-ID"/>
              <a:t>Synchronization = Helps terminals lock onto the carrier timing</a:t>
            </a:r>
          </a:p>
          <a:p>
            <a:r>
              <a:rPr lang="en-ID"/>
              <a:t>Beam Hopping = Ensures terminals know </a:t>
            </a:r>
            <a:r>
              <a:rPr lang="en-ID" b="1"/>
              <a:t>when their beam is active</a:t>
            </a:r>
          </a:p>
          <a:p>
            <a:r>
              <a:rPr lang="en-ID"/>
              <a:t>Multi-Beam Systems = Aligns timing across beams to reduce interference</a:t>
            </a:r>
          </a:p>
          <a:p>
            <a:r>
              <a:rPr lang="en-ID"/>
              <a:t>Channel Bonding = Enables combining multiple carriers to one superframe</a:t>
            </a:r>
          </a:p>
          <a:p>
            <a:endParaRPr lang="en-ID"/>
          </a:p>
          <a:p>
            <a:r>
              <a:rPr lang="en-US" b="1"/>
              <a:t>🔹 Advanced Framing Features:</a:t>
            </a:r>
          </a:p>
          <a:p>
            <a:pPr>
              <a:buFont typeface="Arial" panose="020B0604020202020204" pitchFamily="34" charset="0"/>
              <a:buChar char="•"/>
            </a:pPr>
            <a:r>
              <a:rPr lang="en-US" b="1"/>
              <a:t>Bundled PLFRAMEs</a:t>
            </a:r>
            <a:r>
              <a:rPr lang="en-US"/>
              <a:t> → Reduces signaling overhead by grouping frames</a:t>
            </a:r>
          </a:p>
          <a:p>
            <a:pPr>
              <a:buFont typeface="Arial" panose="020B0604020202020204" pitchFamily="34" charset="0"/>
              <a:buChar char="•"/>
            </a:pPr>
            <a:r>
              <a:rPr lang="en-US" b="1"/>
              <a:t>Pilot Structures</a:t>
            </a:r>
            <a:r>
              <a:rPr lang="en-US"/>
              <a:t> → Provide timing, frequency, and phase reference</a:t>
            </a:r>
          </a:p>
          <a:p>
            <a:pPr>
              <a:buFont typeface="Arial" panose="020B0604020202020204" pitchFamily="34" charset="0"/>
              <a:buChar char="•"/>
            </a:pPr>
            <a:r>
              <a:rPr lang="en-US" b="1"/>
              <a:t>SoSF Marker</a:t>
            </a:r>
            <a:r>
              <a:rPr lang="en-US"/>
              <a:t> → Uniquely identifies the start of each superframe</a:t>
            </a:r>
          </a:p>
          <a:p>
            <a:endParaRPr lang="en-ID"/>
          </a:p>
          <a:p>
            <a:r>
              <a:rPr lang="en-US"/>
              <a:t>DVB-S2X Superframes bring timing structure and alignment across carriers and beams, enabling precise synchronization and efficient resource scheduling in modern satellite systems.</a:t>
            </a:r>
            <a:endParaRPr lang="en-ID"/>
          </a:p>
          <a:p>
            <a:endParaRPr lang="en-ID"/>
          </a:p>
          <a:p>
            <a:endParaRPr lang="en-ID"/>
          </a:p>
          <a:p>
            <a:endParaRPr lang="en-US"/>
          </a:p>
        </p:txBody>
      </p:sp>
      <p:sp>
        <p:nvSpPr>
          <p:cNvPr id="4" name="Slide Number Placeholder 3"/>
          <p:cNvSpPr>
            <a:spLocks noGrp="1"/>
          </p:cNvSpPr>
          <p:nvPr>
            <p:ph type="sldNum" sz="quarter" idx="5"/>
          </p:nvPr>
        </p:nvSpPr>
        <p:spPr/>
        <p:txBody>
          <a:bodyPr/>
          <a:lstStyle/>
          <a:p>
            <a:fld id="{269DC84E-9728-437B-BEB6-A90046F24629}" type="slidenum">
              <a:rPr lang="en-ID" smtClean="0"/>
              <a:t>29</a:t>
            </a:fld>
            <a:endParaRPr lang="en-ID"/>
          </a:p>
        </p:txBody>
      </p:sp>
    </p:spTree>
    <p:extLst>
      <p:ext uri="{BB962C8B-B14F-4D97-AF65-F5344CB8AC3E}">
        <p14:creationId xmlns:p14="http://schemas.microsoft.com/office/powerpoint/2010/main" val="38909290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Purpose of This Slide:</a:t>
            </a:r>
          </a:p>
          <a:p>
            <a:r>
              <a:rPr lang="en-US"/>
              <a:t>Introduce how </a:t>
            </a:r>
            <a:r>
              <a:rPr lang="en-US" b="1"/>
              <a:t>data is framed and transmitted from the user (RCST) back to the gateway</a:t>
            </a:r>
            <a:r>
              <a:rPr lang="en-US"/>
              <a:t>, using </a:t>
            </a:r>
            <a:r>
              <a:rPr lang="en-US" b="1"/>
              <a:t>MF-TDMA bursts</a:t>
            </a:r>
            <a:r>
              <a:rPr lang="en-US"/>
              <a:t>.</a:t>
            </a:r>
          </a:p>
          <a:p>
            <a:r>
              <a:rPr lang="en-US"/>
              <a:t>This is where </a:t>
            </a:r>
            <a:r>
              <a:rPr lang="en-US" b="1"/>
              <a:t>time and frequency slots</a:t>
            </a:r>
            <a:r>
              <a:rPr lang="en-US"/>
              <a:t> are assigned to multiple users to avoid collisions.</a:t>
            </a:r>
          </a:p>
          <a:p>
            <a:endParaRPr lang="id-ID"/>
          </a:p>
          <a:p>
            <a:r>
              <a:rPr lang="en-US" b="1"/>
              <a:t>Burst = Framed Data from RCST</a:t>
            </a:r>
          </a:p>
          <a:p>
            <a:r>
              <a:rPr lang="en-US"/>
              <a:t>Each </a:t>
            </a:r>
            <a:r>
              <a:rPr lang="en-US" b="1"/>
              <a:t>burst</a:t>
            </a:r>
            <a:r>
              <a:rPr lang="en-US"/>
              <a:t> contains:</a:t>
            </a:r>
          </a:p>
          <a:p>
            <a:pPr>
              <a:buFont typeface="Arial" panose="020B0604020202020204" pitchFamily="34" charset="0"/>
              <a:buChar char="•"/>
            </a:pPr>
            <a:r>
              <a:rPr lang="en-US" b="1"/>
              <a:t>Preamble</a:t>
            </a:r>
            <a:endParaRPr lang="en-US"/>
          </a:p>
          <a:p>
            <a:pPr marL="742950" lvl="1" indent="-285750">
              <a:buFont typeface="Arial" panose="020B0604020202020204" pitchFamily="34" charset="0"/>
              <a:buChar char="•"/>
            </a:pPr>
            <a:r>
              <a:rPr lang="en-US"/>
              <a:t>Helps the satellite </a:t>
            </a:r>
            <a:r>
              <a:rPr lang="en-US" b="1"/>
              <a:t>detect and sync</a:t>
            </a:r>
            <a:r>
              <a:rPr lang="en-US"/>
              <a:t> with the signal</a:t>
            </a:r>
          </a:p>
          <a:p>
            <a:pPr marL="742950" lvl="1" indent="-285750">
              <a:buFont typeface="Arial" panose="020B0604020202020204" pitchFamily="34" charset="0"/>
              <a:buChar char="•"/>
            </a:pPr>
            <a:r>
              <a:rPr lang="en-US"/>
              <a:t>Similar to a “knock on the door”</a:t>
            </a:r>
          </a:p>
          <a:p>
            <a:pPr>
              <a:buFont typeface="Arial" panose="020B0604020202020204" pitchFamily="34" charset="0"/>
              <a:buChar char="•"/>
            </a:pPr>
            <a:r>
              <a:rPr lang="en-US" b="1"/>
              <a:t>Header</a:t>
            </a:r>
            <a:endParaRPr lang="en-US"/>
          </a:p>
          <a:p>
            <a:pPr marL="742950" lvl="1" indent="-285750">
              <a:buFont typeface="Arial" panose="020B0604020202020204" pitchFamily="34" charset="0"/>
              <a:buChar char="•"/>
            </a:pPr>
            <a:r>
              <a:rPr lang="en-US"/>
              <a:t>Identifies the sender</a:t>
            </a:r>
          </a:p>
          <a:p>
            <a:pPr marL="742950" lvl="1" indent="-285750">
              <a:buFont typeface="Arial" panose="020B0604020202020204" pitchFamily="34" charset="0"/>
              <a:buChar char="•"/>
            </a:pPr>
            <a:r>
              <a:rPr lang="en-US"/>
              <a:t>Indicates burst type (data, control)</a:t>
            </a:r>
          </a:p>
          <a:p>
            <a:pPr>
              <a:buFont typeface="Arial" panose="020B0604020202020204" pitchFamily="34" charset="0"/>
              <a:buChar char="•"/>
            </a:pPr>
            <a:r>
              <a:rPr lang="en-US" b="1"/>
              <a:t>Payload</a:t>
            </a:r>
            <a:endParaRPr lang="en-US"/>
          </a:p>
          <a:p>
            <a:pPr marL="742950" lvl="1" indent="-285750">
              <a:buFont typeface="Arial" panose="020B0604020202020204" pitchFamily="34" charset="0"/>
              <a:buChar char="•"/>
            </a:pPr>
            <a:r>
              <a:rPr lang="en-US"/>
              <a:t>The actual user data</a:t>
            </a:r>
          </a:p>
          <a:p>
            <a:pPr>
              <a:buFont typeface="Arial" panose="020B0604020202020204" pitchFamily="34" charset="0"/>
              <a:buChar char="•"/>
            </a:pPr>
            <a:r>
              <a:rPr lang="en-US" b="1"/>
              <a:t>Guard Time</a:t>
            </a:r>
            <a:endParaRPr lang="en-US"/>
          </a:p>
          <a:p>
            <a:pPr marL="742950" lvl="1" indent="-285750">
              <a:buFont typeface="Arial" panose="020B0604020202020204" pitchFamily="34" charset="0"/>
              <a:buChar char="•"/>
            </a:pPr>
            <a:r>
              <a:rPr lang="en-US"/>
              <a:t>A small pause added after the burst to avoid overlapping with others (compensates for propagation delay)</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30</a:t>
            </a:fld>
            <a:endParaRPr lang="en-ID"/>
          </a:p>
        </p:txBody>
      </p:sp>
    </p:spTree>
    <p:extLst>
      <p:ext uri="{BB962C8B-B14F-4D97-AF65-F5344CB8AC3E}">
        <p14:creationId xmlns:p14="http://schemas.microsoft.com/office/powerpoint/2010/main" val="147749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Dynamic Scheduling</a:t>
            </a:r>
          </a:p>
          <a:p>
            <a:pPr>
              <a:buFont typeface="Arial" panose="020B0604020202020204" pitchFamily="34" charset="0"/>
              <a:buChar char="•"/>
            </a:pPr>
            <a:r>
              <a:rPr lang="en-US"/>
              <a:t>The </a:t>
            </a:r>
            <a:r>
              <a:rPr lang="en-US" b="1"/>
              <a:t>NCC</a:t>
            </a:r>
            <a:r>
              <a:rPr lang="en-US"/>
              <a:t> (Network Control Center) sends instructions to RCSTs telling:</a:t>
            </a:r>
          </a:p>
          <a:p>
            <a:pPr marL="742950" lvl="1" indent="-285750">
              <a:buFont typeface="Arial" panose="020B0604020202020204" pitchFamily="34" charset="0"/>
              <a:buChar char="•"/>
            </a:pPr>
            <a:r>
              <a:rPr lang="en-US"/>
              <a:t>Which frequency to use</a:t>
            </a:r>
          </a:p>
          <a:p>
            <a:pPr marL="742950" lvl="1" indent="-285750">
              <a:buFont typeface="Arial" panose="020B0604020202020204" pitchFamily="34" charset="0"/>
              <a:buChar char="•"/>
            </a:pPr>
            <a:r>
              <a:rPr lang="en-US"/>
              <a:t>At what time</a:t>
            </a:r>
          </a:p>
          <a:p>
            <a:pPr marL="742950" lvl="1" indent="-285750">
              <a:buFont typeface="Arial" panose="020B0604020202020204" pitchFamily="34" charset="0"/>
              <a:buChar char="•"/>
            </a:pPr>
            <a:r>
              <a:rPr lang="en-US"/>
              <a:t>For how long</a:t>
            </a:r>
          </a:p>
          <a:p>
            <a:pPr marL="742950" lvl="1" indent="-285750">
              <a:buFont typeface="Arial" panose="020B0604020202020204" pitchFamily="34" charset="0"/>
              <a:buChar char="•"/>
            </a:pPr>
            <a:r>
              <a:rPr lang="en-US"/>
              <a:t>With which modulation (MODCOD)</a:t>
            </a:r>
          </a:p>
          <a:p>
            <a:endParaRPr lang="id-ID"/>
          </a:p>
          <a:p>
            <a:r>
              <a:rPr lang="en-US"/>
              <a:t>In DVB-RCS2, return link capacity is divided into a time-frequency grid, enabling many RCSTs to share bandwidth efficiently. The NCC dynamically allocates these bursts to match traffic demand and QoS requirements.</a:t>
            </a:r>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31</a:t>
            </a:fld>
            <a:endParaRPr lang="en-ID"/>
          </a:p>
        </p:txBody>
      </p:sp>
    </p:spTree>
    <p:extLst>
      <p:ext uri="{BB962C8B-B14F-4D97-AF65-F5344CB8AC3E}">
        <p14:creationId xmlns:p14="http://schemas.microsoft.com/office/powerpoint/2010/main" val="65232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Purpose of This Slide:</a:t>
            </a:r>
          </a:p>
          <a:p>
            <a:r>
              <a:rPr lang="en-US"/>
              <a:t>To explain </a:t>
            </a:r>
            <a:r>
              <a:rPr lang="en-US" b="1"/>
              <a:t>how the network decides</a:t>
            </a:r>
            <a:r>
              <a:rPr lang="en-US"/>
              <a:t> which RCST gets which time-frequency slots, and the </a:t>
            </a:r>
            <a:r>
              <a:rPr lang="en-US" b="1"/>
              <a:t>two main methods of assignment</a:t>
            </a:r>
            <a:r>
              <a:rPr lang="en-US"/>
              <a:t>:</a:t>
            </a:r>
          </a:p>
          <a:p>
            <a:pPr>
              <a:buFont typeface="Arial" panose="020B0604020202020204" pitchFamily="34" charset="0"/>
              <a:buChar char="•"/>
            </a:pPr>
            <a:r>
              <a:rPr lang="en-US" b="1"/>
              <a:t>Scheduled (reservation-based)</a:t>
            </a:r>
            <a:endParaRPr lang="en-US"/>
          </a:p>
          <a:p>
            <a:pPr>
              <a:buFont typeface="Arial" panose="020B0604020202020204" pitchFamily="34" charset="0"/>
              <a:buChar char="•"/>
            </a:pPr>
            <a:r>
              <a:rPr lang="en-US" b="1"/>
              <a:t>Contention-based (requesting slots)</a:t>
            </a:r>
            <a:endParaRPr lang="id-ID" b="1"/>
          </a:p>
          <a:p>
            <a:endParaRPr lang="id-ID" b="1"/>
          </a:p>
          <a:p>
            <a:r>
              <a:rPr lang="en-US" b="1"/>
              <a:t>🔁 How the Scheduler Works:</a:t>
            </a:r>
          </a:p>
          <a:p>
            <a:pPr>
              <a:buFont typeface="Arial" panose="020B0604020202020204" pitchFamily="34" charset="0"/>
              <a:buChar char="•"/>
            </a:pPr>
            <a:r>
              <a:rPr lang="en-US"/>
              <a:t>The </a:t>
            </a:r>
            <a:r>
              <a:rPr lang="en-US" b="1"/>
              <a:t>NCC scheduler</a:t>
            </a:r>
            <a:r>
              <a:rPr lang="en-US"/>
              <a:t> constantly updates assignments.</a:t>
            </a:r>
          </a:p>
          <a:p>
            <a:pPr>
              <a:buFont typeface="Arial" panose="020B0604020202020204" pitchFamily="34" charset="0"/>
              <a:buChar char="•"/>
            </a:pPr>
            <a:r>
              <a:rPr lang="en-US"/>
              <a:t>RCSTs receive updates via </a:t>
            </a:r>
            <a:r>
              <a:rPr lang="en-US" b="1"/>
              <a:t>forward link control messages</a:t>
            </a:r>
            <a:r>
              <a:rPr lang="en-US"/>
              <a:t>.</a:t>
            </a:r>
          </a:p>
          <a:p>
            <a:pPr>
              <a:buFont typeface="Arial" panose="020B0604020202020204" pitchFamily="34" charset="0"/>
              <a:buChar char="•"/>
            </a:pPr>
            <a:r>
              <a:rPr lang="en-US"/>
              <a:t>Dynamic allocation adapts to:</a:t>
            </a:r>
            <a:endParaRPr lang="id-ID"/>
          </a:p>
          <a:p>
            <a:pPr marL="628650" lvl="1" indent="-171450">
              <a:buFont typeface="Arial" panose="020B0604020202020204" pitchFamily="34" charset="0"/>
              <a:buChar char="•"/>
            </a:pPr>
            <a:r>
              <a:rPr lang="en-ID"/>
              <a:t>Congestion</a:t>
            </a:r>
          </a:p>
          <a:p>
            <a:pPr marL="628650" lvl="1" indent="-171450">
              <a:buFont typeface="Arial" panose="020B0604020202020204" pitchFamily="34" charset="0"/>
              <a:buChar char="•"/>
            </a:pPr>
            <a:r>
              <a:rPr lang="en-ID"/>
              <a:t>Traffic load</a:t>
            </a:r>
          </a:p>
          <a:p>
            <a:pPr marL="628650" lvl="1" indent="-171450">
              <a:buFont typeface="Arial" panose="020B0604020202020204" pitchFamily="34" charset="0"/>
              <a:buChar char="•"/>
            </a:pPr>
            <a:r>
              <a:rPr lang="en-ID"/>
              <a:t>Terminal conditions</a:t>
            </a:r>
            <a:endParaRPr lang="id-ID"/>
          </a:p>
          <a:p>
            <a:pPr>
              <a:buFont typeface="Arial" panose="020B0604020202020204" pitchFamily="34" charset="0"/>
              <a:buNone/>
            </a:pPr>
            <a:r>
              <a:rPr lang="en-US"/>
              <a:t>DVB-RCS2 uses a flexible slot assignment model: reserved slots for guaranteed delivery, and contention-based access for best-effort data. The NCC dynamically balances both to optimize return link performance.</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32</a:t>
            </a:fld>
            <a:endParaRPr lang="en-ID"/>
          </a:p>
        </p:txBody>
      </p:sp>
    </p:spTree>
    <p:extLst>
      <p:ext uri="{BB962C8B-B14F-4D97-AF65-F5344CB8AC3E}">
        <p14:creationId xmlns:p14="http://schemas.microsoft.com/office/powerpoint/2010/main" val="1376576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how </a:t>
            </a:r>
            <a:r>
              <a:rPr lang="en-US" b="1"/>
              <a:t>user terminals (RCSTs)</a:t>
            </a:r>
            <a:r>
              <a:rPr lang="en-US"/>
              <a:t> transmit return bursts in </a:t>
            </a:r>
            <a:r>
              <a:rPr lang="en-US" b="1"/>
              <a:t>precisely timed windows</a:t>
            </a:r>
            <a:r>
              <a:rPr lang="en-US"/>
              <a:t> within the </a:t>
            </a:r>
            <a:r>
              <a:rPr lang="en-US" b="1"/>
              <a:t>MF-TDMA grid</a:t>
            </a:r>
            <a:r>
              <a:rPr lang="en-US"/>
              <a:t>. Accurate burst timing ensures no collisions and efficient spectrum usage.</a:t>
            </a:r>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33</a:t>
            </a:fld>
            <a:endParaRPr lang="en-ID"/>
          </a:p>
        </p:txBody>
      </p:sp>
    </p:spTree>
    <p:extLst>
      <p:ext uri="{BB962C8B-B14F-4D97-AF65-F5344CB8AC3E}">
        <p14:creationId xmlns:p14="http://schemas.microsoft.com/office/powerpoint/2010/main" val="7158722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b="1"/>
              <a:t>📄 Slide Content (Text):</a:t>
            </a:r>
          </a:p>
          <a:p>
            <a:r>
              <a:rPr lang="en-ID" b="1"/>
              <a:t>🔹 What is MODCOD?</a:t>
            </a:r>
          </a:p>
          <a:p>
            <a:r>
              <a:rPr lang="en-ID"/>
              <a:t>MODCOD = </a:t>
            </a:r>
            <a:r>
              <a:rPr lang="en-ID" b="1"/>
              <a:t>Modulation + FEC Coding Scheme</a:t>
            </a:r>
            <a:br>
              <a:rPr lang="en-ID"/>
            </a:br>
            <a:r>
              <a:rPr lang="en-ID"/>
              <a:t>Each RCST uses a MODCOD configuration to transmit data with the </a:t>
            </a:r>
            <a:r>
              <a:rPr lang="en-ID" b="1"/>
              <a:t>best balance between throughput and robustness</a:t>
            </a:r>
            <a:r>
              <a:rPr lang="en-ID"/>
              <a:t>.</a:t>
            </a:r>
          </a:p>
          <a:p>
            <a:endParaRPr lang="en-ID"/>
          </a:p>
          <a:p>
            <a:r>
              <a:rPr lang="en-ID" b="1"/>
              <a:t>🔹 Modulation Types Used in RCS2:</a:t>
            </a:r>
          </a:p>
          <a:p>
            <a:pPr>
              <a:buFont typeface="Arial" panose="020B0604020202020204" pitchFamily="34" charset="0"/>
              <a:buChar char="•"/>
            </a:pPr>
            <a:r>
              <a:rPr lang="en-ID" b="1"/>
              <a:t>QPSK</a:t>
            </a:r>
            <a:r>
              <a:rPr lang="en-ID"/>
              <a:t> – Highly robust, used in poor link conditions</a:t>
            </a:r>
          </a:p>
          <a:p>
            <a:pPr>
              <a:buFont typeface="Arial" panose="020B0604020202020204" pitchFamily="34" charset="0"/>
              <a:buChar char="•"/>
            </a:pPr>
            <a:r>
              <a:rPr lang="en-ID" b="1"/>
              <a:t>8PSK</a:t>
            </a:r>
            <a:r>
              <a:rPr lang="en-ID"/>
              <a:t>, </a:t>
            </a:r>
            <a:r>
              <a:rPr lang="en-ID" b="1"/>
              <a:t>16QAM</a:t>
            </a:r>
            <a:r>
              <a:rPr lang="en-ID"/>
              <a:t>, </a:t>
            </a:r>
            <a:r>
              <a:rPr lang="en-ID" b="1"/>
              <a:t>32QAM</a:t>
            </a:r>
            <a:r>
              <a:rPr lang="en-ID"/>
              <a:t> – Higher throughput, used in good link conditions</a:t>
            </a:r>
          </a:p>
          <a:p>
            <a:pPr>
              <a:buFont typeface="Arial" panose="020B0604020202020204" pitchFamily="34" charset="0"/>
              <a:buNone/>
            </a:pPr>
            <a:endParaRPr lang="en-ID"/>
          </a:p>
          <a:p>
            <a:r>
              <a:rPr lang="en-ID" b="1"/>
              <a:t>🔹 Coding Schemes:</a:t>
            </a:r>
          </a:p>
          <a:p>
            <a:pPr>
              <a:buFont typeface="Arial" panose="020B0604020202020204" pitchFamily="34" charset="0"/>
              <a:buChar char="•"/>
            </a:pPr>
            <a:r>
              <a:rPr lang="en-ID"/>
              <a:t>Uses </a:t>
            </a:r>
            <a:r>
              <a:rPr lang="en-ID" b="1"/>
              <a:t>Turbo Coding</a:t>
            </a:r>
            <a:r>
              <a:rPr lang="en-ID"/>
              <a:t> for Return Link</a:t>
            </a:r>
          </a:p>
          <a:p>
            <a:pPr>
              <a:buFont typeface="Arial" panose="020B0604020202020204" pitchFamily="34" charset="0"/>
              <a:buChar char="•"/>
            </a:pPr>
            <a:r>
              <a:rPr lang="en-ID"/>
              <a:t>Code rates (examples): 1/3, 1/2, 2/3, 3/4</a:t>
            </a:r>
          </a:p>
          <a:p>
            <a:pPr>
              <a:buFont typeface="Arial" panose="020B0604020202020204" pitchFamily="34" charset="0"/>
              <a:buChar char="•"/>
            </a:pPr>
            <a:r>
              <a:rPr lang="en-ID"/>
              <a:t>Higher code rate → less redundancy → higher throughput, but needs better signal quality</a:t>
            </a:r>
          </a:p>
          <a:p>
            <a:pPr>
              <a:buFont typeface="Arial" panose="020B0604020202020204" pitchFamily="34" charset="0"/>
              <a:buNone/>
            </a:pPr>
            <a:endParaRPr lang="en-ID"/>
          </a:p>
          <a:p>
            <a:r>
              <a:rPr lang="en-ID" b="1"/>
              <a:t>🔹 Adaptive Coding &amp; Modulation (ACM):</a:t>
            </a:r>
          </a:p>
          <a:p>
            <a:pPr>
              <a:buFont typeface="Arial" panose="020B0604020202020204" pitchFamily="34" charset="0"/>
              <a:buChar char="•"/>
            </a:pPr>
            <a:r>
              <a:rPr lang="en-ID" b="1"/>
              <a:t>Optional in return link</a:t>
            </a:r>
            <a:r>
              <a:rPr lang="en-ID"/>
              <a:t>, depending on system setup</a:t>
            </a:r>
          </a:p>
          <a:p>
            <a:pPr>
              <a:buFont typeface="Arial" panose="020B0604020202020204" pitchFamily="34" charset="0"/>
              <a:buChar char="•"/>
            </a:pPr>
            <a:r>
              <a:rPr lang="en-ID"/>
              <a:t>RCST can be assigned MODCODs based on:</a:t>
            </a:r>
          </a:p>
          <a:p>
            <a:pPr marL="742950" lvl="1" indent="-285750">
              <a:buFont typeface="Arial" panose="020B0604020202020204" pitchFamily="34" charset="0"/>
              <a:buChar char="•"/>
            </a:pPr>
            <a:r>
              <a:rPr lang="en-ID"/>
              <a:t>Channel quality</a:t>
            </a:r>
          </a:p>
          <a:p>
            <a:pPr marL="742950" lvl="1" indent="-285750">
              <a:buFont typeface="Arial" panose="020B0604020202020204" pitchFamily="34" charset="0"/>
              <a:buChar char="•"/>
            </a:pPr>
            <a:r>
              <a:rPr lang="en-ID"/>
              <a:t>Terminal capability</a:t>
            </a:r>
          </a:p>
          <a:p>
            <a:pPr marL="742950" lvl="1" indent="-285750">
              <a:buFont typeface="Arial" panose="020B0604020202020204" pitchFamily="34" charset="0"/>
              <a:buChar char="•"/>
            </a:pPr>
            <a:r>
              <a:rPr lang="en-ID"/>
              <a:t>Traffic priority</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34</a:t>
            </a:fld>
            <a:endParaRPr lang="en-ID"/>
          </a:p>
        </p:txBody>
      </p:sp>
    </p:spTree>
    <p:extLst>
      <p:ext uri="{BB962C8B-B14F-4D97-AF65-F5344CB8AC3E}">
        <p14:creationId xmlns:p14="http://schemas.microsoft.com/office/powerpoint/2010/main" val="26103918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 Purpose of the Slide:</a:t>
            </a:r>
          </a:p>
          <a:p>
            <a:r>
              <a:rPr lang="en-US"/>
              <a:t>To give a final, big-picture view of how data is framed and transmitted across both directions — from </a:t>
            </a:r>
            <a:r>
              <a:rPr lang="en-US" b="1"/>
              <a:t>Gateway to RCST</a:t>
            </a:r>
            <a:r>
              <a:rPr lang="en-US"/>
              <a:t> and from </a:t>
            </a:r>
            <a:r>
              <a:rPr lang="en-US" b="1"/>
              <a:t>RCST to Gateway</a:t>
            </a:r>
            <a:r>
              <a:rPr lang="en-US"/>
              <a:t> — covering both physical and logical layers.</a:t>
            </a:r>
          </a:p>
          <a:p>
            <a:endParaRPr lang="en-ID"/>
          </a:p>
          <a:p>
            <a:r>
              <a:rPr lang="en-ID" b="1"/>
              <a:t>🛰️ Forward Link (DVB-S2X): Gateway → User Terminal</a:t>
            </a:r>
          </a:p>
          <a:p>
            <a:pPr>
              <a:buFont typeface="+mj-lt"/>
              <a:buAutoNum type="arabicPeriod"/>
            </a:pPr>
            <a:r>
              <a:rPr lang="en-ID" b="1"/>
              <a:t>IP Packets</a:t>
            </a:r>
            <a:r>
              <a:rPr lang="en-ID"/>
              <a:t> enter the system</a:t>
            </a:r>
          </a:p>
          <a:p>
            <a:pPr>
              <a:buFont typeface="+mj-lt"/>
              <a:buAutoNum type="arabicPeriod"/>
            </a:pPr>
            <a:r>
              <a:rPr lang="en-ID"/>
              <a:t>Wrapped into </a:t>
            </a:r>
            <a:r>
              <a:rPr lang="en-ID" b="1"/>
              <a:t>GSE</a:t>
            </a:r>
            <a:r>
              <a:rPr lang="en-ID"/>
              <a:t> packets</a:t>
            </a:r>
          </a:p>
          <a:p>
            <a:pPr>
              <a:buFont typeface="+mj-lt"/>
              <a:buAutoNum type="arabicPeriod"/>
            </a:pPr>
            <a:r>
              <a:rPr lang="en-ID"/>
              <a:t>Grouped into a </a:t>
            </a:r>
            <a:r>
              <a:rPr lang="en-ID" b="1"/>
              <a:t>Baseband Frame (BBFRAME)</a:t>
            </a:r>
            <a:endParaRPr lang="en-ID"/>
          </a:p>
          <a:p>
            <a:pPr>
              <a:buFont typeface="+mj-lt"/>
              <a:buAutoNum type="arabicPeriod"/>
            </a:pPr>
            <a:r>
              <a:rPr lang="en-ID" b="1"/>
              <a:t>FEC</a:t>
            </a:r>
            <a:r>
              <a:rPr lang="en-ID"/>
              <a:t> (LDPC + BCH) applied for protection</a:t>
            </a:r>
          </a:p>
          <a:p>
            <a:pPr>
              <a:buFont typeface="+mj-lt"/>
              <a:buAutoNum type="arabicPeriod"/>
            </a:pPr>
            <a:r>
              <a:rPr lang="en-ID"/>
              <a:t>Encapsulated into </a:t>
            </a:r>
            <a:r>
              <a:rPr lang="en-ID" b="1"/>
              <a:t>PLFRAME</a:t>
            </a:r>
            <a:endParaRPr lang="en-ID"/>
          </a:p>
          <a:p>
            <a:pPr>
              <a:buFont typeface="+mj-lt"/>
              <a:buAutoNum type="arabicPeriod"/>
            </a:pPr>
            <a:r>
              <a:rPr lang="en-ID"/>
              <a:t>PLFRAMEs are </a:t>
            </a:r>
            <a:r>
              <a:rPr lang="en-ID" b="1"/>
              <a:t>time-multiplexed</a:t>
            </a:r>
            <a:r>
              <a:rPr lang="en-ID"/>
              <a:t> into </a:t>
            </a:r>
            <a:r>
              <a:rPr lang="en-ID" b="1"/>
              <a:t>Superframes</a:t>
            </a:r>
            <a:endParaRPr lang="en-ID"/>
          </a:p>
          <a:p>
            <a:pPr>
              <a:buFont typeface="+mj-lt"/>
              <a:buAutoNum type="arabicPeriod"/>
            </a:pPr>
            <a:r>
              <a:rPr lang="en-ID"/>
              <a:t>Sent over the satellite with </a:t>
            </a:r>
            <a:r>
              <a:rPr lang="en-ID" b="1"/>
              <a:t>Pilot symbols</a:t>
            </a:r>
            <a:r>
              <a:rPr lang="en-ID"/>
              <a:t> for synchronization</a:t>
            </a:r>
          </a:p>
          <a:p>
            <a:pPr>
              <a:buFont typeface="+mj-lt"/>
              <a:buNone/>
            </a:pPr>
            <a:endParaRPr lang="en-ID"/>
          </a:p>
          <a:p>
            <a:r>
              <a:rPr lang="en-ID" b="1"/>
              <a:t>📡 Return Link (DVB-RCS2): User Terminal → Gateway</a:t>
            </a:r>
          </a:p>
          <a:p>
            <a:pPr>
              <a:buFont typeface="+mj-lt"/>
              <a:buAutoNum type="arabicPeriod"/>
            </a:pPr>
            <a:r>
              <a:rPr lang="en-ID" b="1"/>
              <a:t>User Data</a:t>
            </a:r>
            <a:r>
              <a:rPr lang="en-ID"/>
              <a:t> framed with Preamble + Header + Payload + Guard</a:t>
            </a:r>
          </a:p>
          <a:p>
            <a:pPr>
              <a:buFont typeface="+mj-lt"/>
              <a:buAutoNum type="arabicPeriod"/>
            </a:pPr>
            <a:r>
              <a:rPr lang="en-ID"/>
              <a:t>Framed as </a:t>
            </a:r>
            <a:r>
              <a:rPr lang="en-ID" b="1"/>
              <a:t>Bursts</a:t>
            </a:r>
            <a:r>
              <a:rPr lang="en-ID"/>
              <a:t> in </a:t>
            </a:r>
            <a:r>
              <a:rPr lang="en-ID" b="1"/>
              <a:t>MF-TDMA</a:t>
            </a:r>
            <a:r>
              <a:rPr lang="en-ID"/>
              <a:t> structure</a:t>
            </a:r>
          </a:p>
          <a:p>
            <a:pPr>
              <a:buFont typeface="+mj-lt"/>
              <a:buAutoNum type="arabicPeriod"/>
            </a:pPr>
            <a:r>
              <a:rPr lang="en-ID"/>
              <a:t>Sent in scheduled </a:t>
            </a:r>
            <a:r>
              <a:rPr lang="en-ID" b="1"/>
              <a:t>time-frequency slots</a:t>
            </a:r>
            <a:endParaRPr lang="en-ID"/>
          </a:p>
          <a:p>
            <a:pPr>
              <a:buFont typeface="+mj-lt"/>
              <a:buAutoNum type="arabicPeriod"/>
            </a:pPr>
            <a:r>
              <a:rPr lang="en-ID"/>
              <a:t>MODCODs assigned based on </a:t>
            </a:r>
            <a:r>
              <a:rPr lang="en-ID" b="1"/>
              <a:t>channel quality</a:t>
            </a:r>
            <a:endParaRPr lang="en-ID"/>
          </a:p>
          <a:p>
            <a:pPr>
              <a:buFont typeface="+mj-lt"/>
              <a:buAutoNum type="arabicPeriod"/>
            </a:pPr>
            <a:r>
              <a:rPr lang="en-ID"/>
              <a:t>Received by gateway and </a:t>
            </a:r>
            <a:r>
              <a:rPr lang="en-ID" b="1"/>
              <a:t>decoded via Turbo Coding</a:t>
            </a:r>
            <a:endParaRPr lang="en-ID"/>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35</a:t>
            </a:fld>
            <a:endParaRPr lang="en-ID"/>
          </a:p>
        </p:txBody>
      </p:sp>
    </p:spTree>
    <p:extLst>
      <p:ext uri="{BB962C8B-B14F-4D97-AF65-F5344CB8AC3E}">
        <p14:creationId xmlns:p14="http://schemas.microsoft.com/office/powerpoint/2010/main" val="6937823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Purpose of the Slide:</a:t>
            </a:r>
          </a:p>
          <a:p>
            <a:pPr>
              <a:buFont typeface="Arial" panose="020B0604020202020204" pitchFamily="34" charset="0"/>
              <a:buChar char="•"/>
            </a:pPr>
            <a:r>
              <a:rPr lang="en-US"/>
              <a:t>Smoothly bridge from </a:t>
            </a:r>
            <a:r>
              <a:rPr lang="en-US" i="1"/>
              <a:t>framing</a:t>
            </a:r>
            <a:r>
              <a:rPr lang="en-US"/>
              <a:t> to </a:t>
            </a:r>
            <a:r>
              <a:rPr lang="en-US" i="1"/>
              <a:t>how those frames are used</a:t>
            </a:r>
            <a:r>
              <a:rPr lang="en-US"/>
              <a:t>.</a:t>
            </a:r>
          </a:p>
          <a:p>
            <a:pPr>
              <a:buFont typeface="Arial" panose="020B0604020202020204" pitchFamily="34" charset="0"/>
              <a:buChar char="•"/>
            </a:pPr>
            <a:r>
              <a:rPr lang="en-US"/>
              <a:t>Set the stage for the more detailed S2X and RCS2 channel mapping in later slides.</a:t>
            </a:r>
          </a:p>
          <a:p>
            <a:pPr>
              <a:buFont typeface="Arial" panose="020B0604020202020204" pitchFamily="34" charset="0"/>
              <a:buChar char="•"/>
            </a:pPr>
            <a:r>
              <a:rPr lang="en-US"/>
              <a:t>Give a clear, </a:t>
            </a:r>
            <a:r>
              <a:rPr lang="en-US" i="1"/>
              <a:t>plain-language</a:t>
            </a:r>
            <a:r>
              <a:rPr lang="en-US"/>
              <a:t> definition before diving into the DVB-specific examples.</a:t>
            </a:r>
          </a:p>
          <a:p>
            <a:pPr>
              <a:buFont typeface="Arial" panose="020B0604020202020204" pitchFamily="34" charset="0"/>
              <a:buNone/>
            </a:pPr>
            <a:endParaRPr lang="en-US"/>
          </a:p>
          <a:p>
            <a:r>
              <a:rPr lang="en-US" b="1"/>
              <a:t>Core Content (Bullets):</a:t>
            </a:r>
          </a:p>
          <a:p>
            <a:r>
              <a:rPr lang="en-US" b="1"/>
              <a:t>1. Why This Section Matters</a:t>
            </a:r>
            <a:endParaRPr lang="en-US"/>
          </a:p>
          <a:p>
            <a:pPr>
              <a:buFont typeface="Arial" panose="020B0604020202020204" pitchFamily="34" charset="0"/>
              <a:buChar char="•"/>
            </a:pPr>
            <a:r>
              <a:rPr lang="en-US"/>
              <a:t>After building frames (BBFRAME, PLFRAME, bursts), the system needs to decide </a:t>
            </a:r>
            <a:r>
              <a:rPr lang="en-US" b="1"/>
              <a:t>what data goes where</a:t>
            </a:r>
            <a:r>
              <a:rPr lang="en-US"/>
              <a:t>.</a:t>
            </a:r>
          </a:p>
          <a:p>
            <a:pPr>
              <a:buFont typeface="Arial" panose="020B0604020202020204" pitchFamily="34" charset="0"/>
              <a:buChar char="•"/>
            </a:pPr>
            <a:r>
              <a:rPr lang="en-US"/>
              <a:t>This decision is managed via </a:t>
            </a:r>
            <a:r>
              <a:rPr lang="en-US" i="1"/>
              <a:t>logical channels</a:t>
            </a:r>
            <a:r>
              <a:rPr lang="en-US"/>
              <a:t> and </a:t>
            </a:r>
            <a:r>
              <a:rPr lang="en-US" i="1"/>
              <a:t>physical channels</a:t>
            </a:r>
            <a:r>
              <a:rPr lang="en-US"/>
              <a:t>.</a:t>
            </a:r>
          </a:p>
          <a:p>
            <a:pPr>
              <a:buFont typeface="Arial" panose="020B0604020202020204" pitchFamily="34" charset="0"/>
              <a:buNone/>
            </a:pPr>
            <a:endParaRPr lang="en-US"/>
          </a:p>
          <a:p>
            <a:r>
              <a:rPr lang="en-US" b="1"/>
              <a:t>2. Logical Channels (Concept)</a:t>
            </a:r>
            <a:endParaRPr lang="en-US"/>
          </a:p>
          <a:p>
            <a:pPr>
              <a:buFont typeface="Arial" panose="020B0604020202020204" pitchFamily="34" charset="0"/>
              <a:buChar char="•"/>
            </a:pPr>
            <a:r>
              <a:rPr lang="en-US"/>
              <a:t>Carry </a:t>
            </a:r>
            <a:r>
              <a:rPr lang="en-US" b="1"/>
              <a:t>the type of information</a:t>
            </a:r>
            <a:r>
              <a:rPr lang="en-US"/>
              <a:t> (e.g., user data, control messages, management info).</a:t>
            </a:r>
          </a:p>
          <a:p>
            <a:pPr>
              <a:buFont typeface="Arial" panose="020B0604020202020204" pitchFamily="34" charset="0"/>
              <a:buChar char="•"/>
            </a:pPr>
            <a:r>
              <a:rPr lang="en-US"/>
              <a:t>Think: </a:t>
            </a:r>
            <a:r>
              <a:rPr lang="en-US" i="1"/>
              <a:t>“What am I sending?”</a:t>
            </a:r>
          </a:p>
          <a:p>
            <a:pPr>
              <a:buFont typeface="Arial" panose="020B0604020202020204" pitchFamily="34" charset="0"/>
              <a:buNone/>
            </a:pPr>
            <a:endParaRPr lang="en-US"/>
          </a:p>
          <a:p>
            <a:r>
              <a:rPr lang="en-US" b="1"/>
              <a:t>3. Physical Channels (Concept)</a:t>
            </a:r>
            <a:endParaRPr lang="en-US"/>
          </a:p>
          <a:p>
            <a:pPr>
              <a:buFont typeface="Arial" panose="020B0604020202020204" pitchFamily="34" charset="0"/>
              <a:buChar char="•"/>
            </a:pPr>
            <a:r>
              <a:rPr lang="en-US"/>
              <a:t>Represent </a:t>
            </a:r>
            <a:r>
              <a:rPr lang="en-US" b="1"/>
              <a:t>the actual resources</a:t>
            </a:r>
            <a:r>
              <a:rPr lang="en-US"/>
              <a:t> used to send it (e.g., a time slot in MF-TDMA, a carrier frequency in S2X).</a:t>
            </a:r>
          </a:p>
          <a:p>
            <a:pPr>
              <a:buFont typeface="Arial" panose="020B0604020202020204" pitchFamily="34" charset="0"/>
              <a:buChar char="•"/>
            </a:pPr>
            <a:r>
              <a:rPr lang="en-US"/>
              <a:t>Think: </a:t>
            </a:r>
            <a:r>
              <a:rPr lang="en-US" i="1"/>
              <a:t>“Where and how am I sending it?”</a:t>
            </a:r>
          </a:p>
          <a:p>
            <a:pPr>
              <a:buFont typeface="Arial" panose="020B0604020202020204" pitchFamily="34" charset="0"/>
              <a:buNone/>
            </a:pPr>
            <a:endParaRPr lang="en-US"/>
          </a:p>
          <a:p>
            <a:r>
              <a:rPr lang="en-US" b="1"/>
              <a:t>4. Key Difference:</a:t>
            </a:r>
            <a:endParaRPr lang="en-US"/>
          </a:p>
          <a:p>
            <a:pPr>
              <a:buFont typeface="Arial" panose="020B0604020202020204" pitchFamily="34" charset="0"/>
              <a:buChar char="•"/>
            </a:pPr>
            <a:r>
              <a:rPr lang="en-US"/>
              <a:t>Logical = abstract data flow type</a:t>
            </a:r>
          </a:p>
          <a:p>
            <a:pPr>
              <a:buFont typeface="Arial" panose="020B0604020202020204" pitchFamily="34" charset="0"/>
              <a:buChar char="•"/>
            </a:pPr>
            <a:r>
              <a:rPr lang="en-US"/>
              <a:t>Physical = concrete slot, frequency, or modulation settings</a:t>
            </a:r>
          </a:p>
          <a:p>
            <a:pPr>
              <a:buFont typeface="Arial" panose="020B0604020202020204" pitchFamily="34" charset="0"/>
              <a:buChar char="•"/>
            </a:pPr>
            <a:r>
              <a:rPr lang="en-US"/>
              <a:t>Both are mapped together before transmission</a:t>
            </a:r>
          </a:p>
          <a:p>
            <a:endParaRPr lang="en-ID"/>
          </a:p>
          <a:p>
            <a:pPr marL="0" marR="0" lvl="0" indent="0" algn="l" defTabSz="914400" rtl="0" eaLnBrk="1" fontAlgn="auto" latinLnBrk="0" hangingPunct="1">
              <a:lnSpc>
                <a:spcPct val="100000"/>
              </a:lnSpc>
              <a:spcBef>
                <a:spcPts val="0"/>
              </a:spcBef>
              <a:spcAft>
                <a:spcPts val="0"/>
              </a:spcAft>
              <a:buClrTx/>
              <a:buSzTx/>
              <a:buFontTx/>
              <a:buNone/>
              <a:tabLst/>
              <a:defRPr/>
            </a:pPr>
            <a:r>
              <a:rPr lang="en-US"/>
              <a:t>In DVB systems, </a:t>
            </a:r>
            <a:r>
              <a:rPr lang="en-US" i="1"/>
              <a:t>logical channels</a:t>
            </a:r>
            <a:r>
              <a:rPr lang="en-US"/>
              <a:t> and </a:t>
            </a:r>
            <a:r>
              <a:rPr lang="en-US" i="1"/>
              <a:t>physical channels</a:t>
            </a:r>
            <a:r>
              <a:rPr lang="en-US"/>
              <a:t> are tightly linked, but </a:t>
            </a:r>
            <a:r>
              <a:rPr lang="en-US" b="1"/>
              <a:t>the mapping is not fixed forever</a:t>
            </a:r>
            <a:r>
              <a:rPr lang="en-US"/>
              <a:t> — it’s dynamically assigned based on the system’s needs.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r>
              <a:rPr lang="en-US" b="1"/>
              <a:t>Logical Channels = “What am I sending?”</a:t>
            </a:r>
          </a:p>
          <a:p>
            <a:pPr>
              <a:buFont typeface="Arial" panose="020B0604020202020204" pitchFamily="34" charset="0"/>
              <a:buChar char="•"/>
            </a:pPr>
            <a:r>
              <a:rPr lang="en-US"/>
              <a:t>Examples:</a:t>
            </a:r>
          </a:p>
          <a:p>
            <a:pPr marL="742950" lvl="1" indent="-285750">
              <a:buFont typeface="Arial" panose="020B0604020202020204" pitchFamily="34" charset="0"/>
              <a:buChar char="•"/>
            </a:pPr>
            <a:r>
              <a:rPr lang="en-US" b="1"/>
              <a:t>GSE Stream (User Data)</a:t>
            </a:r>
            <a:r>
              <a:rPr lang="en-US"/>
              <a:t> → carries internet traffic or video streams.</a:t>
            </a:r>
          </a:p>
          <a:p>
            <a:pPr marL="742950" lvl="1" indent="-285750">
              <a:buFont typeface="Arial" panose="020B0604020202020204" pitchFamily="34" charset="0"/>
              <a:buChar char="•"/>
            </a:pPr>
            <a:r>
              <a:rPr lang="en-US" b="1"/>
              <a:t>Control Channel</a:t>
            </a:r>
            <a:r>
              <a:rPr lang="en-US"/>
              <a:t> → NCC commands, timing updates.</a:t>
            </a:r>
          </a:p>
          <a:p>
            <a:pPr marL="742950" lvl="1" indent="-285750">
              <a:buFont typeface="Arial" panose="020B0604020202020204" pitchFamily="34" charset="0"/>
              <a:buChar char="•"/>
            </a:pPr>
            <a:r>
              <a:rPr lang="en-US" b="1"/>
              <a:t>Signaling Channel</a:t>
            </a:r>
            <a:r>
              <a:rPr lang="en-US"/>
              <a:t> → tells the receiver about parameters (e.g., MODCOD, beam ID).</a:t>
            </a:r>
          </a:p>
          <a:p>
            <a:pPr>
              <a:buFont typeface="Arial" panose="020B0604020202020204" pitchFamily="34" charset="0"/>
              <a:buChar char="•"/>
            </a:pPr>
            <a:r>
              <a:rPr lang="en-US"/>
              <a:t>They exist </a:t>
            </a:r>
            <a:r>
              <a:rPr lang="en-US" i="1"/>
              <a:t>above</a:t>
            </a:r>
            <a:r>
              <a:rPr lang="en-US"/>
              <a:t> the actual transmission and don’t care </a:t>
            </a:r>
            <a:r>
              <a:rPr lang="en-US" i="1"/>
              <a:t>how</a:t>
            </a:r>
            <a:r>
              <a:rPr lang="en-US"/>
              <a:t> they get sent — just that they reach the destination.</a:t>
            </a:r>
          </a:p>
          <a:p>
            <a:pPr>
              <a:buFont typeface="Arial" panose="020B0604020202020204" pitchFamily="34" charset="0"/>
              <a:buChar char="•"/>
            </a:pPr>
            <a:endParaRPr lang="en-US"/>
          </a:p>
          <a:p>
            <a:r>
              <a:rPr lang="en-US" b="1"/>
              <a:t>Physical Channels = “Where/how is it sent?”</a:t>
            </a:r>
          </a:p>
          <a:p>
            <a:pPr>
              <a:buFont typeface="Arial" panose="020B0604020202020204" pitchFamily="34" charset="0"/>
              <a:buChar char="•"/>
            </a:pPr>
            <a:r>
              <a:rPr lang="en-US"/>
              <a:t>Examples:</a:t>
            </a:r>
          </a:p>
          <a:p>
            <a:pPr marL="742950" lvl="1" indent="-285750">
              <a:buFont typeface="Arial" panose="020B0604020202020204" pitchFamily="34" charset="0"/>
              <a:buChar char="•"/>
            </a:pPr>
            <a:r>
              <a:rPr lang="en-US" b="1"/>
              <a:t>Slot #3</a:t>
            </a:r>
            <a:r>
              <a:rPr lang="en-US"/>
              <a:t> → in MF-TDMA, a specific time window to transmit.</a:t>
            </a:r>
          </a:p>
          <a:p>
            <a:pPr marL="742950" lvl="1" indent="-285750">
              <a:buFont typeface="Arial" panose="020B0604020202020204" pitchFamily="34" charset="0"/>
              <a:buChar char="•"/>
            </a:pPr>
            <a:r>
              <a:rPr lang="en-US" b="1"/>
              <a:t>Frequency 12.75 GHz</a:t>
            </a:r>
            <a:r>
              <a:rPr lang="en-US"/>
              <a:t> → the RF carrier you’re modulating onto.</a:t>
            </a:r>
          </a:p>
          <a:p>
            <a:pPr marL="742950" lvl="1" indent="-285750">
              <a:buFont typeface="Arial" panose="020B0604020202020204" pitchFamily="34" charset="0"/>
              <a:buChar char="•"/>
            </a:pPr>
            <a:r>
              <a:rPr lang="en-US" b="1"/>
              <a:t>MODCOD 16APSK</a:t>
            </a:r>
            <a:r>
              <a:rPr lang="en-US"/>
              <a:t> → the modulation + coding scheme used for robustness or speed.</a:t>
            </a:r>
          </a:p>
          <a:p>
            <a:pPr>
              <a:buFont typeface="Arial" panose="020B0604020202020204" pitchFamily="34" charset="0"/>
              <a:buChar char="•"/>
            </a:pPr>
            <a:r>
              <a:rPr lang="en-US"/>
              <a:t>They exist </a:t>
            </a:r>
            <a:r>
              <a:rPr lang="en-US" i="1"/>
              <a:t>in the physical layer</a:t>
            </a:r>
            <a:r>
              <a:rPr lang="en-US"/>
              <a:t>, meaning they directly relate to the actual carrier waveform over the satellite link.</a:t>
            </a:r>
          </a:p>
          <a:p>
            <a:pPr>
              <a:buFont typeface="Arial" panose="020B0604020202020204" pitchFamily="34" charset="0"/>
              <a:buNone/>
            </a:pPr>
            <a:endParaRPr lang="en-US"/>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37</a:t>
            </a:fld>
            <a:endParaRPr lang="en-ID"/>
          </a:p>
        </p:txBody>
      </p:sp>
    </p:spTree>
    <p:extLst>
      <p:ext uri="{BB962C8B-B14F-4D97-AF65-F5344CB8AC3E}">
        <p14:creationId xmlns:p14="http://schemas.microsoft.com/office/powerpoint/2010/main" val="34691313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DVB systems, </a:t>
            </a:r>
            <a:r>
              <a:rPr lang="en-US" b="1"/>
              <a:t>logical channels</a:t>
            </a:r>
            <a:r>
              <a:rPr lang="en-US"/>
              <a:t> are defined in ETSI standards (EN 302 307-2 for DVB-S2X and EN 301 545-2 for DVB-RCS2) as </a:t>
            </a:r>
            <a:r>
              <a:rPr lang="en-US" b="1"/>
              <a:t>abstract data flows</a:t>
            </a:r>
            <a:r>
              <a:rPr lang="en-US"/>
              <a:t> that carry specific types of information before mapping to physical transmission resources. They represent the functional classification of the transmitted information.</a:t>
            </a:r>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38</a:t>
            </a:fld>
            <a:endParaRPr lang="en-ID"/>
          </a:p>
        </p:txBody>
      </p:sp>
    </p:spTree>
    <p:extLst>
      <p:ext uri="{BB962C8B-B14F-4D97-AF65-F5344CB8AC3E}">
        <p14:creationId xmlns:p14="http://schemas.microsoft.com/office/powerpoint/2010/main" val="28334418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b="1"/>
              <a:t>Definition:</a:t>
            </a:r>
            <a:endParaRPr lang="en-ID"/>
          </a:p>
          <a:p>
            <a:pPr>
              <a:buFont typeface="Arial" panose="020B0604020202020204" pitchFamily="34" charset="0"/>
              <a:buChar char="•"/>
            </a:pPr>
            <a:r>
              <a:rPr lang="en-ID"/>
              <a:t>Logical channels in DVB-S2X represent </a:t>
            </a:r>
            <a:r>
              <a:rPr lang="en-ID" i="1"/>
              <a:t>functional data flows</a:t>
            </a:r>
            <a:r>
              <a:rPr lang="en-ID"/>
              <a:t> at the MAC and upper PHY interface before mapping to physical layer resources.</a:t>
            </a:r>
          </a:p>
          <a:p>
            <a:pPr>
              <a:buFont typeface="Arial" panose="020B0604020202020204" pitchFamily="34" charset="0"/>
              <a:buChar char="•"/>
            </a:pPr>
            <a:r>
              <a:rPr lang="en-ID"/>
              <a:t>Each logical channel carries a specific type of data or control information, which will be encapsulated into Baseband Frames (BBFRAMEs) and transmitted as Physical Layer Frames (PLFRAMEs).</a:t>
            </a:r>
          </a:p>
          <a:p>
            <a:pPr>
              <a:buFont typeface="Arial" panose="020B0604020202020204" pitchFamily="34" charset="0"/>
              <a:buNone/>
            </a:pPr>
            <a:endParaRPr lang="en-ID"/>
          </a:p>
          <a:p>
            <a:r>
              <a:rPr lang="en-ID" b="1"/>
              <a:t>Types:</a:t>
            </a:r>
            <a:endParaRPr lang="en-ID"/>
          </a:p>
          <a:p>
            <a:pPr>
              <a:buFont typeface="+mj-lt"/>
              <a:buAutoNum type="arabicPeriod"/>
            </a:pPr>
            <a:r>
              <a:rPr lang="en-ID" b="1"/>
              <a:t>GSE Logical Channel</a:t>
            </a:r>
            <a:endParaRPr lang="en-ID"/>
          </a:p>
          <a:p>
            <a:pPr marL="742950" lvl="1" indent="-285750">
              <a:buFont typeface="+mj-lt"/>
              <a:buAutoNum type="arabicPeriod"/>
            </a:pPr>
            <a:r>
              <a:rPr lang="en-ID"/>
              <a:t>Carries </a:t>
            </a:r>
            <a:r>
              <a:rPr lang="en-ID" i="1"/>
              <a:t>user traffic</a:t>
            </a:r>
            <a:r>
              <a:rPr lang="en-ID"/>
              <a:t> encapsulated in </a:t>
            </a:r>
            <a:r>
              <a:rPr lang="en-ID" b="1"/>
              <a:t>Generic Stream Encapsulation (GSE)</a:t>
            </a:r>
            <a:r>
              <a:rPr lang="en-ID"/>
              <a:t> or </a:t>
            </a:r>
            <a:r>
              <a:rPr lang="en-ID" b="1"/>
              <a:t>Transport Stream (TS)</a:t>
            </a:r>
            <a:r>
              <a:rPr lang="en-ID"/>
              <a:t> format.</a:t>
            </a:r>
          </a:p>
          <a:p>
            <a:pPr marL="742950" lvl="1" indent="-285750">
              <a:buFont typeface="+mj-lt"/>
              <a:buAutoNum type="arabicPeriod"/>
            </a:pPr>
            <a:r>
              <a:rPr lang="en-ID"/>
              <a:t>Examples: IP packets, MPEG-TS video streams.</a:t>
            </a:r>
          </a:p>
          <a:p>
            <a:pPr>
              <a:buFont typeface="+mj-lt"/>
              <a:buAutoNum type="arabicPeriod"/>
            </a:pPr>
            <a:r>
              <a:rPr lang="en-ID" b="1"/>
              <a:t>Control Logical Channel</a:t>
            </a:r>
            <a:endParaRPr lang="en-ID"/>
          </a:p>
          <a:p>
            <a:pPr marL="742950" lvl="1" indent="-285750">
              <a:buFont typeface="+mj-lt"/>
              <a:buAutoNum type="arabicPeriod"/>
            </a:pPr>
            <a:r>
              <a:rPr lang="en-ID"/>
              <a:t>Manages </a:t>
            </a:r>
            <a:r>
              <a:rPr lang="en-ID" b="1"/>
              <a:t>network control, resource allocation</a:t>
            </a:r>
            <a:r>
              <a:rPr lang="en-ID"/>
              <a:t>, and terminal management functions.</a:t>
            </a:r>
          </a:p>
          <a:p>
            <a:pPr marL="742950" lvl="1" indent="-285750">
              <a:buFont typeface="+mj-lt"/>
              <a:buAutoNum type="arabicPeriod"/>
            </a:pPr>
            <a:r>
              <a:rPr lang="en-ID"/>
              <a:t>Exchanged between </a:t>
            </a:r>
            <a:r>
              <a:rPr lang="en-ID" b="1"/>
              <a:t>Gateway (GW)</a:t>
            </a:r>
            <a:r>
              <a:rPr lang="en-ID"/>
              <a:t> and terminals.</a:t>
            </a:r>
          </a:p>
          <a:p>
            <a:pPr>
              <a:buFont typeface="+mj-lt"/>
              <a:buAutoNum type="arabicPeriod"/>
            </a:pPr>
            <a:r>
              <a:rPr lang="en-ID" b="1"/>
              <a:t>Signaling Logical Channel</a:t>
            </a:r>
            <a:endParaRPr lang="en-ID"/>
          </a:p>
          <a:p>
            <a:pPr marL="742950" lvl="1" indent="-285750">
              <a:buFont typeface="+mj-lt"/>
              <a:buAutoNum type="arabicPeriod"/>
            </a:pPr>
            <a:r>
              <a:rPr lang="en-ID"/>
              <a:t>Conveys </a:t>
            </a:r>
            <a:r>
              <a:rPr lang="en-ID" b="1"/>
              <a:t>Physical Layer Signaling (PLS)</a:t>
            </a:r>
            <a:r>
              <a:rPr lang="en-ID"/>
              <a:t> parameters such as MODCOD, pilot patterns, and frame type.</a:t>
            </a:r>
          </a:p>
          <a:p>
            <a:pPr marL="742950" lvl="1" indent="-285750">
              <a:buFont typeface="+mj-lt"/>
              <a:buAutoNum type="arabicPeriod"/>
            </a:pPr>
            <a:r>
              <a:rPr lang="en-ID"/>
              <a:t>Ensures terminals can correctly demodulate and decode upcoming frames.</a:t>
            </a:r>
          </a:p>
          <a:p>
            <a:pPr marL="457200" lvl="1" indent="0">
              <a:buFont typeface="+mj-lt"/>
              <a:buNone/>
            </a:pPr>
            <a:endParaRPr lang="en-ID"/>
          </a:p>
          <a:p>
            <a:r>
              <a:rPr lang="en-ID" b="1"/>
              <a:t>Mapping to Physical Layer:</a:t>
            </a:r>
            <a:endParaRPr lang="en-ID"/>
          </a:p>
          <a:p>
            <a:pPr>
              <a:buFont typeface="Arial" panose="020B0604020202020204" pitchFamily="34" charset="0"/>
              <a:buChar char="•"/>
            </a:pPr>
            <a:r>
              <a:rPr lang="en-ID"/>
              <a:t>MAC Scheduler maps logical channels to:</a:t>
            </a:r>
          </a:p>
          <a:p>
            <a:pPr marL="742950" lvl="1" indent="-285750">
              <a:buFont typeface="Arial" panose="020B0604020202020204" pitchFamily="34" charset="0"/>
              <a:buChar char="•"/>
            </a:pPr>
            <a:r>
              <a:rPr lang="en-ID" b="1"/>
              <a:t>PLFRAME / BBFRAME</a:t>
            </a:r>
            <a:r>
              <a:rPr lang="en-ID"/>
              <a:t> (forward link)</a:t>
            </a:r>
          </a:p>
          <a:p>
            <a:pPr marL="742950" lvl="1" indent="-285750">
              <a:buFont typeface="Arial" panose="020B0604020202020204" pitchFamily="34" charset="0"/>
              <a:buChar char="•"/>
            </a:pPr>
            <a:r>
              <a:rPr lang="en-ID" b="1"/>
              <a:t>Carrier frequency</a:t>
            </a:r>
            <a:r>
              <a:rPr lang="en-ID"/>
              <a:t> and MODCOD (link adaptation)</a:t>
            </a:r>
          </a:p>
          <a:p>
            <a:pPr>
              <a:buFont typeface="Arial" panose="020B0604020202020204" pitchFamily="34" charset="0"/>
              <a:buChar char="•"/>
            </a:pPr>
            <a:r>
              <a:rPr lang="en-ID"/>
              <a:t>Uses </a:t>
            </a:r>
            <a:r>
              <a:rPr lang="en-ID" b="1"/>
              <a:t>Adaptive Coding and Modulation (ACM)</a:t>
            </a:r>
            <a:r>
              <a:rPr lang="en-ID"/>
              <a:t> for efficient spectrum use.</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40</a:t>
            </a:fld>
            <a:endParaRPr lang="en-ID"/>
          </a:p>
        </p:txBody>
      </p:sp>
    </p:spTree>
    <p:extLst>
      <p:ext uri="{BB962C8B-B14F-4D97-AF65-F5344CB8AC3E}">
        <p14:creationId xmlns:p14="http://schemas.microsoft.com/office/powerpoint/2010/main" val="33744247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Physical channels in DVB-S2X represent the </a:t>
            </a:r>
            <a:r>
              <a:rPr lang="en-US" i="1"/>
              <a:t>actual transmission resources</a:t>
            </a:r>
            <a:r>
              <a:rPr lang="en-US"/>
              <a:t> at the physical layer that carry modulated and encoded data over the satellite link. They are the </a:t>
            </a:r>
            <a:r>
              <a:rPr lang="en-US" b="1"/>
              <a:t>“where and how”</a:t>
            </a:r>
            <a:r>
              <a:rPr lang="en-US"/>
              <a:t> of transmission — determined by frequency, modulation, coding, and framing parameters.</a:t>
            </a:r>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41</a:t>
            </a:fld>
            <a:endParaRPr lang="en-ID"/>
          </a:p>
        </p:txBody>
      </p:sp>
    </p:spTree>
    <p:extLst>
      <p:ext uri="{BB962C8B-B14F-4D97-AF65-F5344CB8AC3E}">
        <p14:creationId xmlns:p14="http://schemas.microsoft.com/office/powerpoint/2010/main" val="10110323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b="1"/>
              <a:t>Logical Layer (Functional Data Flows)</a:t>
            </a:r>
            <a:endParaRPr lang="en-ID"/>
          </a:p>
          <a:p>
            <a:pPr>
              <a:buFont typeface="Arial" panose="020B0604020202020204" pitchFamily="34" charset="0"/>
              <a:buChar char="•"/>
            </a:pPr>
            <a:r>
              <a:rPr lang="en-ID" b="1"/>
              <a:t>Traffic Logical Channel (TLC)</a:t>
            </a:r>
            <a:r>
              <a:rPr lang="en-ID"/>
              <a:t> → carries </a:t>
            </a:r>
            <a:r>
              <a:rPr lang="en-ID" b="1"/>
              <a:t>user payload</a:t>
            </a:r>
            <a:r>
              <a:rPr lang="en-ID"/>
              <a:t> (IP packets, application data).</a:t>
            </a:r>
          </a:p>
          <a:p>
            <a:pPr>
              <a:buFont typeface="Arial" panose="020B0604020202020204" pitchFamily="34" charset="0"/>
              <a:buChar char="•"/>
            </a:pPr>
            <a:r>
              <a:rPr lang="en-ID" b="1"/>
              <a:t>Control Logical Channel (CLC)</a:t>
            </a:r>
            <a:r>
              <a:rPr lang="en-ID"/>
              <a:t> → carries </a:t>
            </a:r>
            <a:r>
              <a:rPr lang="en-ID" b="1"/>
              <a:t>control messages</a:t>
            </a:r>
            <a:r>
              <a:rPr lang="en-ID"/>
              <a:t> from the NCC (Network Control Centre) to RCSTs (return channel satellite terminals).</a:t>
            </a:r>
          </a:p>
          <a:p>
            <a:pPr>
              <a:buFont typeface="Arial" panose="020B0604020202020204" pitchFamily="34" charset="0"/>
              <a:buChar char="•"/>
            </a:pPr>
            <a:r>
              <a:rPr lang="en-ID" b="1"/>
              <a:t>Signaling Logical Channel (SLC)</a:t>
            </a:r>
            <a:r>
              <a:rPr lang="en-ID"/>
              <a:t> → carries </a:t>
            </a:r>
            <a:r>
              <a:rPr lang="en-ID" b="1"/>
              <a:t>timing and burst profile information</a:t>
            </a:r>
            <a:r>
              <a:rPr lang="en-ID"/>
              <a:t> (like when to transmit, what waveform to use).</a:t>
            </a:r>
          </a:p>
          <a:p>
            <a:pPr>
              <a:buFont typeface="Arial" panose="020B0604020202020204" pitchFamily="34" charset="0"/>
              <a:buNone/>
            </a:pPr>
            <a:endParaRPr lang="en-ID"/>
          </a:p>
          <a:p>
            <a:r>
              <a:rPr lang="en-ID" b="1"/>
              <a:t>MAC Scheduler</a:t>
            </a:r>
            <a:endParaRPr lang="en-ID"/>
          </a:p>
          <a:p>
            <a:pPr>
              <a:buFont typeface="Arial" panose="020B0604020202020204" pitchFamily="34" charset="0"/>
              <a:buChar char="•"/>
            </a:pPr>
            <a:r>
              <a:rPr lang="en-ID"/>
              <a:t>Allocates </a:t>
            </a:r>
            <a:r>
              <a:rPr lang="en-ID" b="1"/>
              <a:t>MF-TDMA slots</a:t>
            </a:r>
            <a:r>
              <a:rPr lang="en-ID"/>
              <a:t> to each RCST based on demand, QoS, and control policies.</a:t>
            </a:r>
          </a:p>
          <a:p>
            <a:pPr>
              <a:buFont typeface="Arial" panose="020B0604020202020204" pitchFamily="34" charset="0"/>
              <a:buChar char="•"/>
            </a:pPr>
            <a:r>
              <a:rPr lang="en-ID"/>
              <a:t>Determines </a:t>
            </a:r>
            <a:r>
              <a:rPr lang="en-ID" b="1"/>
              <a:t>carrier frequency</a:t>
            </a:r>
            <a:r>
              <a:rPr lang="en-ID"/>
              <a:t> and </a:t>
            </a:r>
            <a:r>
              <a:rPr lang="en-ID" b="1"/>
              <a:t>slot timing</a:t>
            </a:r>
            <a:r>
              <a:rPr lang="en-ID"/>
              <a:t> for each burst.</a:t>
            </a:r>
          </a:p>
          <a:p>
            <a:pPr>
              <a:buFont typeface="Arial" panose="020B0604020202020204" pitchFamily="34" charset="0"/>
              <a:buNone/>
            </a:pPr>
            <a:endParaRPr lang="en-ID"/>
          </a:p>
          <a:p>
            <a:r>
              <a:rPr lang="en-ID" b="1"/>
              <a:t>Physical Layer Resources</a:t>
            </a:r>
            <a:endParaRPr lang="en-ID"/>
          </a:p>
          <a:p>
            <a:pPr>
              <a:buFont typeface="Arial" panose="020B0604020202020204" pitchFamily="34" charset="0"/>
              <a:buChar char="•"/>
            </a:pPr>
            <a:r>
              <a:rPr lang="en-ID" b="1"/>
              <a:t>MF-TDMA Slots</a:t>
            </a:r>
            <a:r>
              <a:rPr lang="en-ID"/>
              <a:t> → the </a:t>
            </a:r>
            <a:r>
              <a:rPr lang="en-ID" i="1"/>
              <a:t>time–frequency resource units</a:t>
            </a:r>
            <a:r>
              <a:rPr lang="en-ID"/>
              <a:t> assigned for uplink bursts.</a:t>
            </a:r>
          </a:p>
          <a:p>
            <a:pPr>
              <a:buFont typeface="Arial" panose="020B0604020202020204" pitchFamily="34" charset="0"/>
              <a:buChar char="•"/>
            </a:pPr>
            <a:r>
              <a:rPr lang="en-ID" b="1"/>
              <a:t>Burst Structure</a:t>
            </a:r>
            <a:r>
              <a:rPr lang="en-ID"/>
              <a:t> → preamble, payload, and guard time.</a:t>
            </a:r>
          </a:p>
          <a:p>
            <a:pPr>
              <a:buFont typeface="Arial" panose="020B0604020202020204" pitchFamily="34" charset="0"/>
              <a:buChar char="•"/>
            </a:pPr>
            <a:r>
              <a:rPr lang="en-ID" b="1"/>
              <a:t>Carrier Frequencies</a:t>
            </a:r>
            <a:r>
              <a:rPr lang="en-ID"/>
              <a:t> → specific RF channels in the uplink band.</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42</a:t>
            </a:fld>
            <a:endParaRPr lang="en-ID"/>
          </a:p>
        </p:txBody>
      </p:sp>
    </p:spTree>
    <p:extLst>
      <p:ext uri="{BB962C8B-B14F-4D97-AF65-F5344CB8AC3E}">
        <p14:creationId xmlns:p14="http://schemas.microsoft.com/office/powerpoint/2010/main" val="28088875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43</a:t>
            </a:fld>
            <a:endParaRPr lang="en-ID"/>
          </a:p>
        </p:txBody>
      </p:sp>
    </p:spTree>
    <p:extLst>
      <p:ext uri="{BB962C8B-B14F-4D97-AF65-F5344CB8AC3E}">
        <p14:creationId xmlns:p14="http://schemas.microsoft.com/office/powerpoint/2010/main" val="38403526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1. Long RTT (&gt; 500 ms GEO) → Extended Frame Scheduling &amp; HARQ Timers</a:t>
            </a:r>
          </a:p>
          <a:p>
            <a:pPr>
              <a:buFont typeface="Arial" panose="020B0604020202020204" pitchFamily="34" charset="0"/>
              <a:buChar char="•"/>
            </a:pPr>
            <a:r>
              <a:rPr lang="en-US" b="1"/>
              <a:t>Why:</a:t>
            </a:r>
            <a:r>
              <a:rPr lang="en-US"/>
              <a:t> GEO satellites have a huge round-trip time compared to terrestrial 5G (500–600 ms vs &lt;10 ms).</a:t>
            </a:r>
          </a:p>
          <a:p>
            <a:pPr>
              <a:buFont typeface="Arial" panose="020B0604020202020204" pitchFamily="34" charset="0"/>
              <a:buChar char="•"/>
            </a:pPr>
            <a:r>
              <a:rPr lang="en-US" b="1"/>
              <a:t>Impact on DVB L1:</a:t>
            </a:r>
            <a:r>
              <a:rPr lang="en-US"/>
              <a:t> Frame scheduling windows must be extended, and HARQ (Hybrid Automatic Repeat Request) timers in the MAC/PHY must be adapted so that retransmissions don’t time out too early.</a:t>
            </a:r>
          </a:p>
          <a:p>
            <a:pPr>
              <a:buFont typeface="Arial" panose="020B0604020202020204" pitchFamily="34" charset="0"/>
              <a:buNone/>
            </a:pPr>
            <a:endParaRPr lang="en-US"/>
          </a:p>
          <a:p>
            <a:r>
              <a:rPr lang="en-US" b="1"/>
              <a:t>2. Doppler Shifts (LEO/MEO) → Frequency Pre-Compensation &amp; Tracking</a:t>
            </a:r>
          </a:p>
          <a:p>
            <a:pPr>
              <a:buFont typeface="Arial" panose="020B0604020202020204" pitchFamily="34" charset="0"/>
              <a:buChar char="•"/>
            </a:pPr>
            <a:r>
              <a:rPr lang="en-US" b="1"/>
              <a:t>Why:</a:t>
            </a:r>
            <a:r>
              <a:rPr lang="en-US"/>
              <a:t> LEO/MEO satellites move relative to the user, causing Doppler frequency shifts (several kHz to MHz).</a:t>
            </a:r>
          </a:p>
          <a:p>
            <a:pPr>
              <a:buFont typeface="Arial" panose="020B0604020202020204" pitchFamily="34" charset="0"/>
              <a:buChar char="•"/>
            </a:pPr>
            <a:r>
              <a:rPr lang="en-US" b="1"/>
              <a:t>Impact on DVB L1:</a:t>
            </a:r>
            <a:r>
              <a:rPr lang="en-US"/>
              <a:t> The carrier frequency in the physical layer must be pre-compensated at the gateway, and receivers must track these changes dynamically to stay locked to the signal.</a:t>
            </a:r>
          </a:p>
          <a:p>
            <a:pPr>
              <a:buFont typeface="Arial" panose="020B0604020202020204" pitchFamily="34" charset="0"/>
              <a:buNone/>
            </a:pPr>
            <a:endParaRPr lang="en-US"/>
          </a:p>
          <a:p>
            <a:r>
              <a:rPr lang="en-US" b="1"/>
              <a:t>3. Flexible Numerology → Subcarrier Spacing Alignment &amp; Slot Mapping</a:t>
            </a:r>
          </a:p>
          <a:p>
            <a:pPr>
              <a:buFont typeface="Arial" panose="020B0604020202020204" pitchFamily="34" charset="0"/>
              <a:buChar char="•"/>
            </a:pPr>
            <a:r>
              <a:rPr lang="en-US" b="1"/>
              <a:t>Why:</a:t>
            </a:r>
            <a:r>
              <a:rPr lang="en-US"/>
              <a:t> 5G NR supports multiple subcarrier spacings (15, 30, 60 kHz, etc.) to adapt latency and capacity. DVB normally uses fixed symbol rates and framing structures.</a:t>
            </a:r>
          </a:p>
          <a:p>
            <a:pPr>
              <a:buFont typeface="Arial" panose="020B0604020202020204" pitchFamily="34" charset="0"/>
              <a:buChar char="•"/>
            </a:pPr>
            <a:r>
              <a:rPr lang="en-US" b="1"/>
              <a:t>Impact on DVB L1:</a:t>
            </a:r>
            <a:r>
              <a:rPr lang="en-US"/>
              <a:t> DVB’s slot allocation must be re-aligned so that NR’s OFDM numerology fits inside DVB’s framing (PLFRAME/BBFRAME) without breaking timing relationships.</a:t>
            </a:r>
          </a:p>
          <a:p>
            <a:pPr>
              <a:buFont typeface="Arial" panose="020B0604020202020204" pitchFamily="34" charset="0"/>
              <a:buNone/>
            </a:pPr>
            <a:endParaRPr lang="en-US"/>
          </a:p>
          <a:p>
            <a:r>
              <a:rPr lang="en-US" b="1"/>
              <a:t>4. Dynamic Beam Switching → Beam-Specific Signaling Integration</a:t>
            </a:r>
          </a:p>
          <a:p>
            <a:pPr>
              <a:buFont typeface="Arial" panose="020B0604020202020204" pitchFamily="34" charset="0"/>
              <a:buChar char="•"/>
            </a:pPr>
            <a:r>
              <a:rPr lang="en-US" b="1"/>
              <a:t>Why:</a:t>
            </a:r>
            <a:r>
              <a:rPr lang="en-US"/>
              <a:t> NTN NR allows fast beam handovers to follow moving satellites or shifting coverage areas.</a:t>
            </a:r>
          </a:p>
          <a:p>
            <a:pPr>
              <a:buFont typeface="Arial" panose="020B0604020202020204" pitchFamily="34" charset="0"/>
              <a:buChar char="•"/>
            </a:pPr>
            <a:r>
              <a:rPr lang="en-US" b="1"/>
              <a:t>Impact on DVB L1:</a:t>
            </a:r>
            <a:r>
              <a:rPr lang="en-US"/>
              <a:t> Signaling channels in DVB must carry beam-change information quickly enough to support NR’s mobility requirements without dropping the link.</a:t>
            </a:r>
          </a:p>
          <a:p>
            <a:pPr>
              <a:buFont typeface="Arial" panose="020B0604020202020204" pitchFamily="34" charset="0"/>
              <a:buNone/>
            </a:pPr>
            <a:endParaRPr lang="en-US"/>
          </a:p>
          <a:p>
            <a:r>
              <a:rPr lang="en-US" b="1"/>
              <a:t>5. Mixed Services (eMBB, mMTC, IoT) → Adaptive MODCOD &amp; QoS-Aware Allocation</a:t>
            </a:r>
          </a:p>
          <a:p>
            <a:pPr>
              <a:buFont typeface="Arial" panose="020B0604020202020204" pitchFamily="34" charset="0"/>
              <a:buChar char="•"/>
            </a:pPr>
            <a:r>
              <a:rPr lang="en-US" b="1"/>
              <a:t>Why:</a:t>
            </a:r>
            <a:r>
              <a:rPr lang="en-US"/>
              <a:t> NTN NR has to carry multiple service types — high-throughput broadband (eMBB), massive IoT (mMTC), and ultra-reliable low-latency control (URLLC/mMTC).</a:t>
            </a:r>
          </a:p>
          <a:p>
            <a:pPr>
              <a:buFont typeface="Arial" panose="020B0604020202020204" pitchFamily="34" charset="0"/>
              <a:buChar char="•"/>
            </a:pPr>
            <a:r>
              <a:rPr lang="en-US" b="1"/>
              <a:t>Impact on DVB L1:</a:t>
            </a:r>
            <a:r>
              <a:rPr lang="en-US"/>
              <a:t> MODCOD (modulation and coding) must adapt per-service, and the scheduler should assign resources based on QoS priorities, not just raw throughput.</a:t>
            </a:r>
          </a:p>
          <a:p>
            <a:endParaRPr lang="en-ID"/>
          </a:p>
        </p:txBody>
      </p:sp>
      <p:sp>
        <p:nvSpPr>
          <p:cNvPr id="4" name="Slide Number Placeholder 3"/>
          <p:cNvSpPr>
            <a:spLocks noGrp="1"/>
          </p:cNvSpPr>
          <p:nvPr>
            <p:ph type="sldNum" sz="quarter" idx="5"/>
          </p:nvPr>
        </p:nvSpPr>
        <p:spPr/>
        <p:txBody>
          <a:bodyPr/>
          <a:lstStyle/>
          <a:p>
            <a:fld id="{269DC84E-9728-437B-BEB6-A90046F24629}" type="slidenum">
              <a:rPr lang="en-ID" smtClean="0"/>
              <a:t>49</a:t>
            </a:fld>
            <a:endParaRPr lang="en-ID"/>
          </a:p>
        </p:txBody>
      </p:sp>
    </p:spTree>
    <p:extLst>
      <p:ext uri="{BB962C8B-B14F-4D97-AF65-F5344CB8AC3E}">
        <p14:creationId xmlns:p14="http://schemas.microsoft.com/office/powerpoint/2010/main" val="3841429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94A57-78BC-4A4C-A883-0F6E1CBD81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10792C13-A9BB-480C-B072-BAF7E8BE39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CCD93FAA-6ECB-4182-A9C4-80ACF333C271}"/>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5" name="Footer Placeholder 4">
            <a:extLst>
              <a:ext uri="{FF2B5EF4-FFF2-40B4-BE49-F238E27FC236}">
                <a16:creationId xmlns:a16="http://schemas.microsoft.com/office/drawing/2014/main" id="{9457834E-6244-482C-9DE4-BB0B607A9F2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54CB807B-0F23-468C-BCF2-FB3BB1F981ED}"/>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3773073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EAB9-C4F4-449D-88AA-99174A003C51}"/>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AF26ACE6-3E6E-444B-951D-54AE43284C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1C29651E-CF4A-4F47-891B-C1372258EEB6}"/>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5" name="Footer Placeholder 4">
            <a:extLst>
              <a:ext uri="{FF2B5EF4-FFF2-40B4-BE49-F238E27FC236}">
                <a16:creationId xmlns:a16="http://schemas.microsoft.com/office/drawing/2014/main" id="{4AA16D38-14A6-4B44-9DC4-C662083149DB}"/>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5286A6E6-85A7-473D-9436-E9E08564495A}"/>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3165794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533DA-4AD4-4745-9358-D8B5E621A1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A76BD757-CB57-4BC2-AE58-D8BB94A211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A93608-887D-4E37-A8EB-61E3BCB2BCAA}"/>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5" name="Footer Placeholder 4">
            <a:extLst>
              <a:ext uri="{FF2B5EF4-FFF2-40B4-BE49-F238E27FC236}">
                <a16:creationId xmlns:a16="http://schemas.microsoft.com/office/drawing/2014/main" id="{5450E75A-6FE2-454E-8C9A-38B2E4E6F63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89D82CD-92CD-423F-AD1E-E3E42E96FD5B}"/>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1354218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C7D4B-EACB-406A-B15E-C31208BD6F2D}"/>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48AEDE7-8DFD-41BA-B27F-63C3C1976A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319BF417-8753-4C4D-A484-B894190FEA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2D73F7B3-7526-424A-A650-1FBFDA78C1FB}"/>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6" name="Footer Placeholder 5">
            <a:extLst>
              <a:ext uri="{FF2B5EF4-FFF2-40B4-BE49-F238E27FC236}">
                <a16:creationId xmlns:a16="http://schemas.microsoft.com/office/drawing/2014/main" id="{57458CEE-C9B4-4C26-B81E-EBAD8F982623}"/>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61A3FA6A-2B91-4106-A979-19176AEEC4F5}"/>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244064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DBF39-B86C-4AB4-A57E-EA1C224D54B0}"/>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94EF8B88-73BA-41F5-BC00-B531DAF907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3C6984-6118-4200-90B9-2E312EFA8B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DC96C305-5D3C-40DC-A215-B77D62323E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3D05EC-222A-4E5D-BAAF-57691FF31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9CB9A3C0-13B9-4711-93E1-96C04FBE5E39}"/>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8" name="Footer Placeholder 7">
            <a:extLst>
              <a:ext uri="{FF2B5EF4-FFF2-40B4-BE49-F238E27FC236}">
                <a16:creationId xmlns:a16="http://schemas.microsoft.com/office/drawing/2014/main" id="{8798EDFC-A167-4A9F-ACEE-09DB9E3DCC00}"/>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A5D775DD-F624-4410-9216-21959C868C95}"/>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3141745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0FE54-92B2-42D3-A50F-889224CC8CB7}"/>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E9BBACD2-DE6C-482E-B23B-AF70C91A0A6A}"/>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4" name="Footer Placeholder 3">
            <a:extLst>
              <a:ext uri="{FF2B5EF4-FFF2-40B4-BE49-F238E27FC236}">
                <a16:creationId xmlns:a16="http://schemas.microsoft.com/office/drawing/2014/main" id="{960F33F9-09F8-47B0-9DD7-AE57D4C20C65}"/>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3BBF606E-C6BF-4A0F-8DF0-F95ED25B1B6F}"/>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3702852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2DAD61-8E5B-4865-82DF-3C680143438E}"/>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3" name="Footer Placeholder 2">
            <a:extLst>
              <a:ext uri="{FF2B5EF4-FFF2-40B4-BE49-F238E27FC236}">
                <a16:creationId xmlns:a16="http://schemas.microsoft.com/office/drawing/2014/main" id="{5724FA4C-A34C-4571-9398-FD2CB409CB91}"/>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32F54C18-BD01-414A-AA95-FFF272E1FBE2}"/>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1562306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B074D-78DE-4D8D-9663-E73F74EFF4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F2D8923D-5E1E-4DBC-8FCE-DE59DC567D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88699ADE-83C9-41DD-A21F-7B605FA52A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4EA516-F8D5-4839-8D12-840D5356B47B}"/>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6" name="Footer Placeholder 5">
            <a:extLst>
              <a:ext uri="{FF2B5EF4-FFF2-40B4-BE49-F238E27FC236}">
                <a16:creationId xmlns:a16="http://schemas.microsoft.com/office/drawing/2014/main" id="{72FDCCFA-0AA5-48F6-9E2B-55DEF629410A}"/>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AFD6E46F-BF87-4867-8E06-9F69E42FC146}"/>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3947463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56075-D9F8-4637-B058-7A9B577221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0F54D97D-E86D-4BBF-8927-F9E77CE8E6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DB2AB888-612C-4B54-9C52-37D7516379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CE4AB8-22A7-488B-9D9E-B1E5CD5F7FB3}"/>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6" name="Footer Placeholder 5">
            <a:extLst>
              <a:ext uri="{FF2B5EF4-FFF2-40B4-BE49-F238E27FC236}">
                <a16:creationId xmlns:a16="http://schemas.microsoft.com/office/drawing/2014/main" id="{630D44A3-34F0-4B15-9910-5C10C067861C}"/>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5B8E81EE-F5E2-4FA0-98D8-195BDBED1C54}"/>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56819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1F31-9BA9-4785-964B-6D50F292FC9B}"/>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7DCE4CCE-441D-4345-BBFB-A4FAD0893F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7E8118B-A031-44BF-A384-4BD46EA97A69}"/>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5" name="Footer Placeholder 4">
            <a:extLst>
              <a:ext uri="{FF2B5EF4-FFF2-40B4-BE49-F238E27FC236}">
                <a16:creationId xmlns:a16="http://schemas.microsoft.com/office/drawing/2014/main" id="{AED146FE-BFCB-45C4-A8CB-7D28AD72724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399C4B4-38E5-4D52-9F46-527E0B1979F5}"/>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2768542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FB2C2B-90D2-479A-A398-878A900F9E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A49B1594-7344-435F-B7D3-5E38C8524C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1268D970-4FEF-4B99-9C3A-7102CDDA0080}"/>
              </a:ext>
            </a:extLst>
          </p:cNvPr>
          <p:cNvSpPr>
            <a:spLocks noGrp="1"/>
          </p:cNvSpPr>
          <p:nvPr>
            <p:ph type="dt" sz="half" idx="10"/>
          </p:nvPr>
        </p:nvSpPr>
        <p:spPr/>
        <p:txBody>
          <a:bodyPr/>
          <a:lstStyle/>
          <a:p>
            <a:fld id="{5598F690-5C1F-4AAD-B841-F6AEC824C089}" type="datetimeFigureOut">
              <a:rPr lang="en-ID" smtClean="0"/>
              <a:t>11/08/2025</a:t>
            </a:fld>
            <a:endParaRPr lang="en-ID"/>
          </a:p>
        </p:txBody>
      </p:sp>
      <p:sp>
        <p:nvSpPr>
          <p:cNvPr id="5" name="Footer Placeholder 4">
            <a:extLst>
              <a:ext uri="{FF2B5EF4-FFF2-40B4-BE49-F238E27FC236}">
                <a16:creationId xmlns:a16="http://schemas.microsoft.com/office/drawing/2014/main" id="{F5C4F857-A671-4BA7-AA26-58CADBF63F5B}"/>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05ED1539-9F2D-4E6D-87B4-F5FAF0FBE340}"/>
              </a:ext>
            </a:extLst>
          </p:cNvPr>
          <p:cNvSpPr>
            <a:spLocks noGrp="1"/>
          </p:cNvSpPr>
          <p:nvPr>
            <p:ph type="sldNum" sz="quarter" idx="12"/>
          </p:nvPr>
        </p:nvSpPr>
        <p:spPr/>
        <p:txBody>
          <a:bodyPr/>
          <a:lstStyle/>
          <a:p>
            <a:fld id="{781DA53E-6FF8-4A66-A60D-BED1ED2CCA1E}" type="slidenum">
              <a:rPr lang="en-ID" smtClean="0"/>
              <a:t>‹#›</a:t>
            </a:fld>
            <a:endParaRPr lang="en-ID"/>
          </a:p>
        </p:txBody>
      </p:sp>
    </p:spTree>
    <p:extLst>
      <p:ext uri="{BB962C8B-B14F-4D97-AF65-F5344CB8AC3E}">
        <p14:creationId xmlns:p14="http://schemas.microsoft.com/office/powerpoint/2010/main" val="1263705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E3CAA3-83A9-44E7-BDB2-B13A4BA859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54904675-D6E4-4E95-80DB-89DC57EAFE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CCDDCF2-0613-4EF2-9A78-A8093A3A79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98F690-5C1F-4AAD-B841-F6AEC824C089}" type="datetimeFigureOut">
              <a:rPr lang="en-ID" smtClean="0"/>
              <a:t>11/08/2025</a:t>
            </a:fld>
            <a:endParaRPr lang="en-ID"/>
          </a:p>
        </p:txBody>
      </p:sp>
      <p:sp>
        <p:nvSpPr>
          <p:cNvPr id="5" name="Footer Placeholder 4">
            <a:extLst>
              <a:ext uri="{FF2B5EF4-FFF2-40B4-BE49-F238E27FC236}">
                <a16:creationId xmlns:a16="http://schemas.microsoft.com/office/drawing/2014/main" id="{74853F82-E383-4C6F-8605-4F558B409C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B9A1AB8E-7F93-412A-8A49-053F29C801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1DA53E-6FF8-4A66-A60D-BED1ED2CCA1E}" type="slidenum">
              <a:rPr lang="en-ID" smtClean="0"/>
              <a:t>‹#›</a:t>
            </a:fld>
            <a:endParaRPr lang="en-ID"/>
          </a:p>
        </p:txBody>
      </p:sp>
    </p:spTree>
    <p:extLst>
      <p:ext uri="{BB962C8B-B14F-4D97-AF65-F5344CB8AC3E}">
        <p14:creationId xmlns:p14="http://schemas.microsoft.com/office/powerpoint/2010/main" val="15520092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5098-C48A-404B-9DE3-483FABDDB9EA}"/>
              </a:ext>
            </a:extLst>
          </p:cNvPr>
          <p:cNvSpPr>
            <a:spLocks noGrp="1"/>
          </p:cNvSpPr>
          <p:nvPr>
            <p:ph type="ctrTitle"/>
          </p:nvPr>
        </p:nvSpPr>
        <p:spPr/>
        <p:txBody>
          <a:bodyPr/>
          <a:lstStyle/>
          <a:p>
            <a:r>
              <a:rPr lang="en-ID"/>
              <a:t>DVB-S2X &amp; RCS2</a:t>
            </a:r>
          </a:p>
        </p:txBody>
      </p:sp>
      <p:sp>
        <p:nvSpPr>
          <p:cNvPr id="3" name="Subtitle 2">
            <a:extLst>
              <a:ext uri="{FF2B5EF4-FFF2-40B4-BE49-F238E27FC236}">
                <a16:creationId xmlns:a16="http://schemas.microsoft.com/office/drawing/2014/main" id="{A45F83B2-9755-4EB8-B2E9-DE81289E8EFC}"/>
              </a:ext>
            </a:extLst>
          </p:cNvPr>
          <p:cNvSpPr>
            <a:spLocks noGrp="1"/>
          </p:cNvSpPr>
          <p:nvPr>
            <p:ph type="subTitle" idx="1"/>
          </p:nvPr>
        </p:nvSpPr>
        <p:spPr/>
        <p:txBody>
          <a:bodyPr/>
          <a:lstStyle/>
          <a:p>
            <a:r>
              <a:rPr lang="en-US"/>
              <a:t>System Architecture for NTN NR Integration</a:t>
            </a:r>
            <a:endParaRPr lang="en-ID"/>
          </a:p>
        </p:txBody>
      </p:sp>
    </p:spTree>
    <p:extLst>
      <p:ext uri="{BB962C8B-B14F-4D97-AF65-F5344CB8AC3E}">
        <p14:creationId xmlns:p14="http://schemas.microsoft.com/office/powerpoint/2010/main" val="2577693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D09B3-6C2E-4FB1-8A2E-F3E88BB04D32}"/>
              </a:ext>
            </a:extLst>
          </p:cNvPr>
          <p:cNvSpPr>
            <a:spLocks noGrp="1"/>
          </p:cNvSpPr>
          <p:nvPr>
            <p:ph type="title"/>
          </p:nvPr>
        </p:nvSpPr>
        <p:spPr/>
        <p:txBody>
          <a:bodyPr/>
          <a:lstStyle/>
          <a:p>
            <a:r>
              <a:rPr lang="en-ID"/>
              <a:t>Contents:</a:t>
            </a:r>
          </a:p>
        </p:txBody>
      </p:sp>
      <p:sp>
        <p:nvSpPr>
          <p:cNvPr id="3" name="Content Placeholder 2">
            <a:extLst>
              <a:ext uri="{FF2B5EF4-FFF2-40B4-BE49-F238E27FC236}">
                <a16:creationId xmlns:a16="http://schemas.microsoft.com/office/drawing/2014/main" id="{0B4830C2-1BFB-41E5-A3B8-FB196A8C4D53}"/>
              </a:ext>
            </a:extLst>
          </p:cNvPr>
          <p:cNvSpPr>
            <a:spLocks noGrp="1"/>
          </p:cNvSpPr>
          <p:nvPr>
            <p:ph idx="1"/>
          </p:nvPr>
        </p:nvSpPr>
        <p:spPr/>
        <p:txBody>
          <a:bodyPr/>
          <a:lstStyle/>
          <a:p>
            <a:r>
              <a:rPr lang="en-ID"/>
              <a:t>System Architecture of DVB E2E System</a:t>
            </a:r>
          </a:p>
          <a:p>
            <a:r>
              <a:rPr lang="en-ID"/>
              <a:t>Protocol Stack For DVB-S2X and DVB-RCS2</a:t>
            </a:r>
          </a:p>
          <a:p>
            <a:r>
              <a:rPr lang="en-ID"/>
              <a:t>L1 Frame Structure (Baseband Frames, PL Frames, Framing Details)</a:t>
            </a:r>
          </a:p>
          <a:p>
            <a:r>
              <a:rPr lang="en-ID"/>
              <a:t>Logical and Physical Channels (Forward and Return Links)</a:t>
            </a:r>
          </a:p>
          <a:p>
            <a:r>
              <a:rPr lang="en-ID"/>
              <a:t>How To: Implement NTN NR On Top Of DVB L1.</a:t>
            </a:r>
          </a:p>
        </p:txBody>
      </p:sp>
    </p:spTree>
    <p:extLst>
      <p:ext uri="{BB962C8B-B14F-4D97-AF65-F5344CB8AC3E}">
        <p14:creationId xmlns:p14="http://schemas.microsoft.com/office/powerpoint/2010/main" val="3838778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5098-C48A-404B-9DE3-483FABDDB9EA}"/>
              </a:ext>
            </a:extLst>
          </p:cNvPr>
          <p:cNvSpPr>
            <a:spLocks noGrp="1"/>
          </p:cNvSpPr>
          <p:nvPr>
            <p:ph type="ctrTitle"/>
          </p:nvPr>
        </p:nvSpPr>
        <p:spPr/>
        <p:txBody>
          <a:bodyPr/>
          <a:lstStyle/>
          <a:p>
            <a:r>
              <a:rPr lang="en-ID"/>
              <a:t>DVB-S2X &amp; RCS2</a:t>
            </a:r>
          </a:p>
        </p:txBody>
      </p:sp>
      <p:sp>
        <p:nvSpPr>
          <p:cNvPr id="3" name="Subtitle 2">
            <a:extLst>
              <a:ext uri="{FF2B5EF4-FFF2-40B4-BE49-F238E27FC236}">
                <a16:creationId xmlns:a16="http://schemas.microsoft.com/office/drawing/2014/main" id="{A45F83B2-9755-4EB8-B2E9-DE81289E8EFC}"/>
              </a:ext>
            </a:extLst>
          </p:cNvPr>
          <p:cNvSpPr>
            <a:spLocks noGrp="1"/>
          </p:cNvSpPr>
          <p:nvPr>
            <p:ph type="subTitle" idx="1"/>
          </p:nvPr>
        </p:nvSpPr>
        <p:spPr/>
        <p:txBody>
          <a:bodyPr/>
          <a:lstStyle/>
          <a:p>
            <a:r>
              <a:rPr lang="en-US"/>
              <a:t>System Architecture of DVB E2E System</a:t>
            </a:r>
            <a:endParaRPr lang="en-ID"/>
          </a:p>
        </p:txBody>
      </p:sp>
    </p:spTree>
    <p:extLst>
      <p:ext uri="{BB962C8B-B14F-4D97-AF65-F5344CB8AC3E}">
        <p14:creationId xmlns:p14="http://schemas.microsoft.com/office/powerpoint/2010/main" val="776530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8410-1F43-476D-9ADC-4E02FC27277B}"/>
              </a:ext>
            </a:extLst>
          </p:cNvPr>
          <p:cNvSpPr>
            <a:spLocks noGrp="1"/>
          </p:cNvSpPr>
          <p:nvPr>
            <p:ph type="title"/>
          </p:nvPr>
        </p:nvSpPr>
        <p:spPr/>
        <p:txBody>
          <a:bodyPr/>
          <a:lstStyle/>
          <a:p>
            <a:pPr algn="ctr"/>
            <a:r>
              <a:rPr lang="en-US"/>
              <a:t>Overview of DVB-S2X (Forward Link)</a:t>
            </a:r>
            <a:endParaRPr lang="en-ID"/>
          </a:p>
        </p:txBody>
      </p:sp>
      <p:sp>
        <p:nvSpPr>
          <p:cNvPr id="3" name="Content Placeholder 2">
            <a:extLst>
              <a:ext uri="{FF2B5EF4-FFF2-40B4-BE49-F238E27FC236}">
                <a16:creationId xmlns:a16="http://schemas.microsoft.com/office/drawing/2014/main" id="{950B09F3-67EF-491A-A7D8-33B5F0641C27}"/>
              </a:ext>
            </a:extLst>
          </p:cNvPr>
          <p:cNvSpPr>
            <a:spLocks noGrp="1"/>
          </p:cNvSpPr>
          <p:nvPr>
            <p:ph idx="1"/>
          </p:nvPr>
        </p:nvSpPr>
        <p:spPr>
          <a:xfrm>
            <a:off x="838200" y="2532185"/>
            <a:ext cx="10515600" cy="3644778"/>
          </a:xfrm>
        </p:spPr>
        <p:txBody>
          <a:bodyPr/>
          <a:lstStyle/>
          <a:p>
            <a:r>
              <a:rPr lang="en-US"/>
              <a:t>DVB-S2X = enhanced version of DVB-S2 (mainly used for broadcast &amp; forward links)</a:t>
            </a:r>
          </a:p>
          <a:p>
            <a:r>
              <a:rPr lang="en-US"/>
              <a:t>Provides high spectral efficiency (supports high-order modulations like 64APSK)</a:t>
            </a:r>
          </a:p>
          <a:p>
            <a:r>
              <a:rPr lang="en-US"/>
              <a:t>Common in satellite broadband, digital TV, and VSAT forward links</a:t>
            </a:r>
          </a:p>
          <a:p>
            <a:pPr marL="0" indent="0">
              <a:buNone/>
            </a:pPr>
            <a:endParaRPr lang="en-ID"/>
          </a:p>
        </p:txBody>
      </p:sp>
      <p:pic>
        <p:nvPicPr>
          <p:cNvPr id="1028" name="Picture 4">
            <a:extLst>
              <a:ext uri="{FF2B5EF4-FFF2-40B4-BE49-F238E27FC236}">
                <a16:creationId xmlns:a16="http://schemas.microsoft.com/office/drawing/2014/main" id="{C2EF7A13-9490-44A4-985E-999209E69E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8781" y="1690688"/>
            <a:ext cx="10014438" cy="586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9728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4E489-6CC4-4D6D-9DF3-0B625FFE862A}"/>
              </a:ext>
            </a:extLst>
          </p:cNvPr>
          <p:cNvSpPr>
            <a:spLocks noGrp="1"/>
          </p:cNvSpPr>
          <p:nvPr>
            <p:ph type="title"/>
          </p:nvPr>
        </p:nvSpPr>
        <p:spPr/>
        <p:txBody>
          <a:bodyPr/>
          <a:lstStyle/>
          <a:p>
            <a:pPr algn="ctr"/>
            <a:r>
              <a:rPr lang="en-US"/>
              <a:t>Overview of DVB-RCS2 (Return Link)</a:t>
            </a:r>
            <a:endParaRPr lang="en-ID"/>
          </a:p>
        </p:txBody>
      </p:sp>
      <p:sp>
        <p:nvSpPr>
          <p:cNvPr id="3" name="Content Placeholder 2">
            <a:extLst>
              <a:ext uri="{FF2B5EF4-FFF2-40B4-BE49-F238E27FC236}">
                <a16:creationId xmlns:a16="http://schemas.microsoft.com/office/drawing/2014/main" id="{13413A3A-C608-4231-AFFC-CD2A2948E440}"/>
              </a:ext>
            </a:extLst>
          </p:cNvPr>
          <p:cNvSpPr>
            <a:spLocks noGrp="1"/>
          </p:cNvSpPr>
          <p:nvPr>
            <p:ph idx="1"/>
          </p:nvPr>
        </p:nvSpPr>
        <p:spPr>
          <a:xfrm>
            <a:off x="838200" y="2407297"/>
            <a:ext cx="10515600" cy="3769665"/>
          </a:xfrm>
        </p:spPr>
        <p:txBody>
          <a:bodyPr/>
          <a:lstStyle/>
          <a:p>
            <a:r>
              <a:rPr lang="en-ID"/>
              <a:t>DVB-RCS2 = return channel via satellite (for interactive services)</a:t>
            </a:r>
          </a:p>
          <a:p>
            <a:r>
              <a:rPr lang="en-US"/>
              <a:t>Handles uplink from user terminals (RCSTs) to the gateway/NCC</a:t>
            </a:r>
          </a:p>
          <a:p>
            <a:r>
              <a:rPr lang="en-US"/>
              <a:t>Uses advanced MAC scheduling, demand assignment, and time slicing</a:t>
            </a:r>
            <a:endParaRPr lang="en-ID"/>
          </a:p>
        </p:txBody>
      </p:sp>
      <p:pic>
        <p:nvPicPr>
          <p:cNvPr id="2054" name="Picture 6">
            <a:extLst>
              <a:ext uri="{FF2B5EF4-FFF2-40B4-BE49-F238E27FC236}">
                <a16:creationId xmlns:a16="http://schemas.microsoft.com/office/drawing/2014/main" id="{90E1123F-9F51-4017-99D6-A6229C2694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457" y="1499028"/>
            <a:ext cx="9993086" cy="653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751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C702A-9C08-4E92-9A2D-E6B2C4563585}"/>
              </a:ext>
            </a:extLst>
          </p:cNvPr>
          <p:cNvSpPr>
            <a:spLocks noGrp="1"/>
          </p:cNvSpPr>
          <p:nvPr>
            <p:ph type="title"/>
          </p:nvPr>
        </p:nvSpPr>
        <p:spPr/>
        <p:txBody>
          <a:bodyPr/>
          <a:lstStyle/>
          <a:p>
            <a:pPr algn="ctr"/>
            <a:r>
              <a:rPr lang="en-ID"/>
              <a:t>System Components: DVB-S2X</a:t>
            </a:r>
          </a:p>
        </p:txBody>
      </p:sp>
      <p:sp>
        <p:nvSpPr>
          <p:cNvPr id="3" name="Content Placeholder 2">
            <a:extLst>
              <a:ext uri="{FF2B5EF4-FFF2-40B4-BE49-F238E27FC236}">
                <a16:creationId xmlns:a16="http://schemas.microsoft.com/office/drawing/2014/main" id="{35AEE8B4-E24A-45EA-87F6-B9173810BBB5}"/>
              </a:ext>
            </a:extLst>
          </p:cNvPr>
          <p:cNvSpPr>
            <a:spLocks noGrp="1"/>
          </p:cNvSpPr>
          <p:nvPr>
            <p:ph idx="1"/>
          </p:nvPr>
        </p:nvSpPr>
        <p:spPr>
          <a:xfrm>
            <a:off x="838200" y="2238375"/>
            <a:ext cx="10515600" cy="3938588"/>
          </a:xfrm>
        </p:spPr>
        <p:txBody>
          <a:bodyPr/>
          <a:lstStyle/>
          <a:p>
            <a:r>
              <a:rPr lang="en-US"/>
              <a:t>Gateway: Takes IP traffic, forms BBFRAMEs</a:t>
            </a:r>
          </a:p>
          <a:p>
            <a:r>
              <a:rPr lang="en-US"/>
              <a:t>BBFRAME: Baseband frame with payload + headers</a:t>
            </a:r>
          </a:p>
          <a:p>
            <a:r>
              <a:rPr lang="en-US"/>
              <a:t>FEC: LDPC + BCH encoding (error correction)</a:t>
            </a:r>
          </a:p>
          <a:p>
            <a:r>
              <a:rPr lang="en-ID"/>
              <a:t>MODCOD: Modulation + Coding Scheme (e.g., 32APSK + 5/6)</a:t>
            </a:r>
          </a:p>
          <a:p>
            <a:r>
              <a:rPr lang="en-US"/>
              <a:t>PLFRAME: Physical Layer Frame sent over the air</a:t>
            </a:r>
            <a:endParaRPr lang="en-ID"/>
          </a:p>
        </p:txBody>
      </p:sp>
      <p:pic>
        <p:nvPicPr>
          <p:cNvPr id="10" name="Picture 9">
            <a:extLst>
              <a:ext uri="{FF2B5EF4-FFF2-40B4-BE49-F238E27FC236}">
                <a16:creationId xmlns:a16="http://schemas.microsoft.com/office/drawing/2014/main" id="{26727B93-421E-446E-9FA6-FEA9098AE4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573212"/>
            <a:ext cx="10515600" cy="561975"/>
          </a:xfrm>
          <a:prstGeom prst="rect">
            <a:avLst/>
          </a:prstGeom>
        </p:spPr>
      </p:pic>
    </p:spTree>
    <p:extLst>
      <p:ext uri="{BB962C8B-B14F-4D97-AF65-F5344CB8AC3E}">
        <p14:creationId xmlns:p14="http://schemas.microsoft.com/office/powerpoint/2010/main" val="3155984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1BCC0-C682-4464-B0F5-79DD03C84C61}"/>
              </a:ext>
            </a:extLst>
          </p:cNvPr>
          <p:cNvSpPr>
            <a:spLocks noGrp="1"/>
          </p:cNvSpPr>
          <p:nvPr>
            <p:ph type="title"/>
          </p:nvPr>
        </p:nvSpPr>
        <p:spPr/>
        <p:txBody>
          <a:bodyPr/>
          <a:lstStyle/>
          <a:p>
            <a:pPr algn="ctr"/>
            <a:r>
              <a:rPr lang="en-ID"/>
              <a:t>System Components: DVB-RCS2</a:t>
            </a:r>
          </a:p>
        </p:txBody>
      </p:sp>
      <p:sp>
        <p:nvSpPr>
          <p:cNvPr id="3" name="Content Placeholder 2">
            <a:extLst>
              <a:ext uri="{FF2B5EF4-FFF2-40B4-BE49-F238E27FC236}">
                <a16:creationId xmlns:a16="http://schemas.microsoft.com/office/drawing/2014/main" id="{1D9D7EA2-3570-4810-B6FC-DDCAAD39BF82}"/>
              </a:ext>
            </a:extLst>
          </p:cNvPr>
          <p:cNvSpPr>
            <a:spLocks noGrp="1"/>
          </p:cNvSpPr>
          <p:nvPr>
            <p:ph idx="1"/>
          </p:nvPr>
        </p:nvSpPr>
        <p:spPr>
          <a:xfrm>
            <a:off x="838200" y="2124075"/>
            <a:ext cx="10515600" cy="4052888"/>
          </a:xfrm>
        </p:spPr>
        <p:txBody>
          <a:bodyPr/>
          <a:lstStyle/>
          <a:p>
            <a:r>
              <a:rPr lang="en-ID"/>
              <a:t>RCST: Return Channel Satellite Terminal (user device)</a:t>
            </a:r>
          </a:p>
          <a:p>
            <a:r>
              <a:rPr lang="en-US"/>
              <a:t>MAC: Controls when/how to send (TDMA, demand-assigned)</a:t>
            </a:r>
          </a:p>
          <a:p>
            <a:r>
              <a:rPr lang="en-US"/>
              <a:t>Scheduler/NCC: Coordinates multiple users to avoid conflict</a:t>
            </a:r>
          </a:p>
          <a:p>
            <a:r>
              <a:rPr lang="en-US"/>
              <a:t>Return Carriers: Time slots assigned for each terminal</a:t>
            </a:r>
            <a:endParaRPr lang="en-ID"/>
          </a:p>
        </p:txBody>
      </p:sp>
      <p:pic>
        <p:nvPicPr>
          <p:cNvPr id="4" name="Picture 3">
            <a:extLst>
              <a:ext uri="{FF2B5EF4-FFF2-40B4-BE49-F238E27FC236}">
                <a16:creationId xmlns:a16="http://schemas.microsoft.com/office/drawing/2014/main" id="{795A45D2-09FF-4616-A41E-7FA894D39F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337" y="1409700"/>
            <a:ext cx="9839325" cy="561975"/>
          </a:xfrm>
          <a:prstGeom prst="rect">
            <a:avLst/>
          </a:prstGeom>
        </p:spPr>
      </p:pic>
    </p:spTree>
    <p:extLst>
      <p:ext uri="{BB962C8B-B14F-4D97-AF65-F5344CB8AC3E}">
        <p14:creationId xmlns:p14="http://schemas.microsoft.com/office/powerpoint/2010/main" val="3437430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B053F-C1A2-4BFF-9A64-94B4767481C1}"/>
              </a:ext>
            </a:extLst>
          </p:cNvPr>
          <p:cNvSpPr>
            <a:spLocks noGrp="1"/>
          </p:cNvSpPr>
          <p:nvPr>
            <p:ph type="title"/>
          </p:nvPr>
        </p:nvSpPr>
        <p:spPr/>
        <p:txBody>
          <a:bodyPr/>
          <a:lstStyle/>
          <a:p>
            <a:pPr algn="ctr"/>
            <a:r>
              <a:rPr lang="en-ID"/>
              <a:t>Forward Link Architecture (DVB-S2X)</a:t>
            </a:r>
          </a:p>
        </p:txBody>
      </p:sp>
      <p:sp>
        <p:nvSpPr>
          <p:cNvPr id="3" name="Content Placeholder 2">
            <a:extLst>
              <a:ext uri="{FF2B5EF4-FFF2-40B4-BE49-F238E27FC236}">
                <a16:creationId xmlns:a16="http://schemas.microsoft.com/office/drawing/2014/main" id="{37EDB673-5A34-4B83-9A7D-6C09AAD686F3}"/>
              </a:ext>
            </a:extLst>
          </p:cNvPr>
          <p:cNvSpPr>
            <a:spLocks noGrp="1"/>
          </p:cNvSpPr>
          <p:nvPr>
            <p:ph idx="1"/>
          </p:nvPr>
        </p:nvSpPr>
        <p:spPr>
          <a:xfrm>
            <a:off x="838200" y="2228849"/>
            <a:ext cx="10515600" cy="3948113"/>
          </a:xfrm>
        </p:spPr>
        <p:txBody>
          <a:bodyPr/>
          <a:lstStyle/>
          <a:p>
            <a:r>
              <a:rPr lang="en-US"/>
              <a:t>Optimized for high throughput</a:t>
            </a:r>
          </a:p>
          <a:p>
            <a:r>
              <a:rPr lang="en-US"/>
              <a:t>Used for video, internet downlink, software updates</a:t>
            </a:r>
          </a:p>
          <a:p>
            <a:r>
              <a:rPr lang="en-US"/>
              <a:t>Terminals are usually receive-only in this path</a:t>
            </a:r>
          </a:p>
          <a:p>
            <a:endParaRPr lang="en-ID"/>
          </a:p>
          <a:p>
            <a:pPr marL="0" indent="0">
              <a:buNone/>
            </a:pPr>
            <a:r>
              <a:rPr lang="en-US"/>
              <a:t>Data goes through several processing stages at the gateway before being uplinked. The satellite mostly acts as a transparent repeater. The terminal demodulates and decodes the PLFRAME back into usable IP packets.</a:t>
            </a:r>
            <a:endParaRPr lang="en-ID"/>
          </a:p>
        </p:txBody>
      </p:sp>
      <p:pic>
        <p:nvPicPr>
          <p:cNvPr id="4" name="Picture 3">
            <a:extLst>
              <a:ext uri="{FF2B5EF4-FFF2-40B4-BE49-F238E27FC236}">
                <a16:creationId xmlns:a16="http://schemas.microsoft.com/office/drawing/2014/main" id="{61E11BF1-F3D0-4C81-86E2-E9277D63DC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 y="1454484"/>
            <a:ext cx="11353800" cy="607346"/>
          </a:xfrm>
          <a:prstGeom prst="rect">
            <a:avLst/>
          </a:prstGeom>
        </p:spPr>
      </p:pic>
    </p:spTree>
    <p:extLst>
      <p:ext uri="{BB962C8B-B14F-4D97-AF65-F5344CB8AC3E}">
        <p14:creationId xmlns:p14="http://schemas.microsoft.com/office/powerpoint/2010/main" val="51810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F7D89-8A92-4929-BF31-56D686299986}"/>
              </a:ext>
            </a:extLst>
          </p:cNvPr>
          <p:cNvSpPr>
            <a:spLocks noGrp="1"/>
          </p:cNvSpPr>
          <p:nvPr>
            <p:ph type="title"/>
          </p:nvPr>
        </p:nvSpPr>
        <p:spPr/>
        <p:txBody>
          <a:bodyPr/>
          <a:lstStyle/>
          <a:p>
            <a:pPr algn="ctr"/>
            <a:r>
              <a:rPr lang="en-ID"/>
              <a:t>Return Link Architecture (DVB-RCS2)</a:t>
            </a:r>
          </a:p>
        </p:txBody>
      </p:sp>
      <p:sp>
        <p:nvSpPr>
          <p:cNvPr id="3" name="Content Placeholder 2">
            <a:extLst>
              <a:ext uri="{FF2B5EF4-FFF2-40B4-BE49-F238E27FC236}">
                <a16:creationId xmlns:a16="http://schemas.microsoft.com/office/drawing/2014/main" id="{33BA5EF2-54CA-4757-872D-9CA0DC70BDC6}"/>
              </a:ext>
            </a:extLst>
          </p:cNvPr>
          <p:cNvSpPr>
            <a:spLocks noGrp="1"/>
          </p:cNvSpPr>
          <p:nvPr>
            <p:ph idx="1"/>
          </p:nvPr>
        </p:nvSpPr>
        <p:spPr>
          <a:xfrm>
            <a:off x="838200" y="2152649"/>
            <a:ext cx="10515600" cy="4024313"/>
          </a:xfrm>
        </p:spPr>
        <p:txBody>
          <a:bodyPr/>
          <a:lstStyle/>
          <a:p>
            <a:r>
              <a:rPr lang="en-US"/>
              <a:t>Used for control messages, interactive apps, telemetry</a:t>
            </a:r>
          </a:p>
          <a:p>
            <a:r>
              <a:rPr lang="en-US"/>
              <a:t>Controlled by a central scheduler (NCC)</a:t>
            </a:r>
          </a:p>
          <a:p>
            <a:r>
              <a:rPr lang="en-US"/>
              <a:t>Uplink is time-shared using TDMA</a:t>
            </a:r>
          </a:p>
          <a:p>
            <a:endParaRPr lang="en-US"/>
          </a:p>
          <a:p>
            <a:pPr marL="0" indent="0">
              <a:buNone/>
            </a:pPr>
            <a:r>
              <a:rPr lang="en-US"/>
              <a:t>The terminal gets assigned time slots to transmit. It packages data into bursts, transmits, and the satellite relays it back to the ground hub. This ensures the system scales with many users.</a:t>
            </a:r>
            <a:endParaRPr lang="en-ID"/>
          </a:p>
        </p:txBody>
      </p:sp>
      <p:pic>
        <p:nvPicPr>
          <p:cNvPr id="4" name="Picture 3">
            <a:extLst>
              <a:ext uri="{FF2B5EF4-FFF2-40B4-BE49-F238E27FC236}">
                <a16:creationId xmlns:a16="http://schemas.microsoft.com/office/drawing/2014/main" id="{7CB3AF3A-FDBD-442D-89AD-1F7CD663CB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450" y="1451012"/>
            <a:ext cx="10325100" cy="479352"/>
          </a:xfrm>
          <a:prstGeom prst="rect">
            <a:avLst/>
          </a:prstGeom>
        </p:spPr>
      </p:pic>
    </p:spTree>
    <p:extLst>
      <p:ext uri="{BB962C8B-B14F-4D97-AF65-F5344CB8AC3E}">
        <p14:creationId xmlns:p14="http://schemas.microsoft.com/office/powerpoint/2010/main" val="2564024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12B86-A2F0-4C0A-8C3B-8F7C59275D45}"/>
              </a:ext>
            </a:extLst>
          </p:cNvPr>
          <p:cNvSpPr>
            <a:spLocks noGrp="1"/>
          </p:cNvSpPr>
          <p:nvPr>
            <p:ph type="title"/>
          </p:nvPr>
        </p:nvSpPr>
        <p:spPr/>
        <p:txBody>
          <a:bodyPr/>
          <a:lstStyle/>
          <a:p>
            <a:pPr algn="ctr"/>
            <a:r>
              <a:rPr lang="en-ID"/>
              <a:t>Combined DVB System Architecture</a:t>
            </a:r>
          </a:p>
        </p:txBody>
      </p:sp>
      <p:sp>
        <p:nvSpPr>
          <p:cNvPr id="3" name="Content Placeholder 2">
            <a:extLst>
              <a:ext uri="{FF2B5EF4-FFF2-40B4-BE49-F238E27FC236}">
                <a16:creationId xmlns:a16="http://schemas.microsoft.com/office/drawing/2014/main" id="{73F465F9-4E16-4F35-BF28-31D13B912DCC}"/>
              </a:ext>
            </a:extLst>
          </p:cNvPr>
          <p:cNvSpPr>
            <a:spLocks noGrp="1"/>
          </p:cNvSpPr>
          <p:nvPr>
            <p:ph idx="1"/>
          </p:nvPr>
        </p:nvSpPr>
        <p:spPr>
          <a:xfrm>
            <a:off x="838200" y="3343275"/>
            <a:ext cx="10515600" cy="2833688"/>
          </a:xfrm>
        </p:spPr>
        <p:txBody>
          <a:bodyPr>
            <a:normAutofit fontScale="92500" lnSpcReduction="10000"/>
          </a:bodyPr>
          <a:lstStyle/>
          <a:p>
            <a:r>
              <a:rPr lang="en-ID"/>
              <a:t>Full duplex system via separate forward and return links</a:t>
            </a:r>
          </a:p>
          <a:p>
            <a:r>
              <a:rPr lang="en-ID"/>
              <a:t>DVB-S2X handles downlink; DVB-RCS2 handles uplink</a:t>
            </a:r>
          </a:p>
          <a:p>
            <a:r>
              <a:rPr lang="en-ID"/>
              <a:t>Enables interactive satellite broadband</a:t>
            </a:r>
          </a:p>
          <a:p>
            <a:endParaRPr lang="en-ID"/>
          </a:p>
          <a:p>
            <a:pPr marL="0" indent="0">
              <a:buNone/>
            </a:pPr>
            <a:r>
              <a:rPr lang="en-US"/>
              <a:t>Now we see the </a:t>
            </a:r>
            <a:r>
              <a:rPr lang="en-US" b="1"/>
              <a:t>whole communication loop</a:t>
            </a:r>
            <a:r>
              <a:rPr lang="en-US"/>
              <a:t>: The gateway sends data, and the terminal responds. The satellite acts as a passive “mirror” (bent pipe), and most logic happens on the ground.</a:t>
            </a:r>
            <a:endParaRPr lang="en-ID"/>
          </a:p>
        </p:txBody>
      </p:sp>
      <p:pic>
        <p:nvPicPr>
          <p:cNvPr id="6" name="Picture 5">
            <a:extLst>
              <a:ext uri="{FF2B5EF4-FFF2-40B4-BE49-F238E27FC236}">
                <a16:creationId xmlns:a16="http://schemas.microsoft.com/office/drawing/2014/main" id="{224D54BC-A48E-438E-91A1-44D2903BE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162" y="1409700"/>
            <a:ext cx="10353675" cy="1835267"/>
          </a:xfrm>
          <a:prstGeom prst="rect">
            <a:avLst/>
          </a:prstGeom>
        </p:spPr>
      </p:pic>
    </p:spTree>
    <p:extLst>
      <p:ext uri="{BB962C8B-B14F-4D97-AF65-F5344CB8AC3E}">
        <p14:creationId xmlns:p14="http://schemas.microsoft.com/office/powerpoint/2010/main" val="113130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08636-0206-4AD2-A748-50E3F8347944}"/>
              </a:ext>
            </a:extLst>
          </p:cNvPr>
          <p:cNvSpPr>
            <a:spLocks noGrp="1"/>
          </p:cNvSpPr>
          <p:nvPr>
            <p:ph type="title"/>
          </p:nvPr>
        </p:nvSpPr>
        <p:spPr/>
        <p:txBody>
          <a:bodyPr/>
          <a:lstStyle/>
          <a:p>
            <a:pPr algn="ctr"/>
            <a:r>
              <a:rPr lang="en-ID"/>
              <a:t>Key Takeaways</a:t>
            </a:r>
          </a:p>
        </p:txBody>
      </p:sp>
      <p:sp>
        <p:nvSpPr>
          <p:cNvPr id="3" name="Content Placeholder 2">
            <a:extLst>
              <a:ext uri="{FF2B5EF4-FFF2-40B4-BE49-F238E27FC236}">
                <a16:creationId xmlns:a16="http://schemas.microsoft.com/office/drawing/2014/main" id="{EB9B83A0-FE48-4CA8-A72F-FAA650A16F99}"/>
              </a:ext>
            </a:extLst>
          </p:cNvPr>
          <p:cNvSpPr>
            <a:spLocks noGrp="1"/>
          </p:cNvSpPr>
          <p:nvPr>
            <p:ph idx="1"/>
          </p:nvPr>
        </p:nvSpPr>
        <p:spPr/>
        <p:txBody>
          <a:bodyPr/>
          <a:lstStyle/>
          <a:p>
            <a:r>
              <a:rPr lang="en-US"/>
              <a:t>DVB-S2X: Efficient forward link, BBFRAME to PLFRAME</a:t>
            </a:r>
          </a:p>
          <a:p>
            <a:r>
              <a:rPr lang="en-US"/>
              <a:t>DVB-RCS2: Flexible return link, MAC-managed</a:t>
            </a:r>
          </a:p>
          <a:p>
            <a:r>
              <a:rPr lang="en-US"/>
              <a:t>Together they form a complete two-way SATCOM system</a:t>
            </a:r>
          </a:p>
          <a:p>
            <a:r>
              <a:rPr lang="en-US"/>
              <a:t>This architecture lays the groundwork for NTN NR over DVB L1</a:t>
            </a:r>
          </a:p>
          <a:p>
            <a:endParaRPr lang="en-US"/>
          </a:p>
          <a:p>
            <a:pPr marL="0" indent="0">
              <a:buNone/>
            </a:pPr>
            <a:r>
              <a:rPr lang="en-US"/>
              <a:t>Explanation:Understanding this foundation is crucial. Later, we’ll explore how to map NR layers over this system — identifying what can be reused (like PHY or scheduling) and what needs redesign.</a:t>
            </a:r>
            <a:endParaRPr lang="en-ID"/>
          </a:p>
        </p:txBody>
      </p:sp>
    </p:spTree>
    <p:extLst>
      <p:ext uri="{BB962C8B-B14F-4D97-AF65-F5344CB8AC3E}">
        <p14:creationId xmlns:p14="http://schemas.microsoft.com/office/powerpoint/2010/main" val="2668443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5098-C48A-404B-9DE3-483FABDDB9EA}"/>
              </a:ext>
            </a:extLst>
          </p:cNvPr>
          <p:cNvSpPr>
            <a:spLocks noGrp="1"/>
          </p:cNvSpPr>
          <p:nvPr>
            <p:ph type="ctrTitle"/>
          </p:nvPr>
        </p:nvSpPr>
        <p:spPr/>
        <p:txBody>
          <a:bodyPr/>
          <a:lstStyle/>
          <a:p>
            <a:r>
              <a:rPr lang="en-ID"/>
              <a:t>DVB-S2X &amp; RCS2</a:t>
            </a:r>
          </a:p>
        </p:txBody>
      </p:sp>
      <p:sp>
        <p:nvSpPr>
          <p:cNvPr id="3" name="Subtitle 2">
            <a:extLst>
              <a:ext uri="{FF2B5EF4-FFF2-40B4-BE49-F238E27FC236}">
                <a16:creationId xmlns:a16="http://schemas.microsoft.com/office/drawing/2014/main" id="{A45F83B2-9755-4EB8-B2E9-DE81289E8EFC}"/>
              </a:ext>
            </a:extLst>
          </p:cNvPr>
          <p:cNvSpPr>
            <a:spLocks noGrp="1"/>
          </p:cNvSpPr>
          <p:nvPr>
            <p:ph type="subTitle" idx="1"/>
          </p:nvPr>
        </p:nvSpPr>
        <p:spPr/>
        <p:txBody>
          <a:bodyPr/>
          <a:lstStyle/>
          <a:p>
            <a:pPr lvl="1"/>
            <a:r>
              <a:rPr lang="en-ID"/>
              <a:t>Protocol Stack For DVB-S2X and DVB-RCS2</a:t>
            </a:r>
          </a:p>
        </p:txBody>
      </p:sp>
    </p:spTree>
    <p:extLst>
      <p:ext uri="{BB962C8B-B14F-4D97-AF65-F5344CB8AC3E}">
        <p14:creationId xmlns:p14="http://schemas.microsoft.com/office/powerpoint/2010/main" val="1163130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684D2-5D74-4F09-914A-DE668E75EFEE}"/>
              </a:ext>
            </a:extLst>
          </p:cNvPr>
          <p:cNvSpPr>
            <a:spLocks noGrp="1"/>
          </p:cNvSpPr>
          <p:nvPr>
            <p:ph type="title"/>
          </p:nvPr>
        </p:nvSpPr>
        <p:spPr/>
        <p:txBody>
          <a:bodyPr/>
          <a:lstStyle/>
          <a:p>
            <a:pPr algn="ctr"/>
            <a:r>
              <a:rPr lang="en-US"/>
              <a:t>DVB-S2X System Overview (Forward Link)</a:t>
            </a:r>
            <a:endParaRPr lang="en-ID"/>
          </a:p>
        </p:txBody>
      </p:sp>
      <p:sp>
        <p:nvSpPr>
          <p:cNvPr id="3" name="Content Placeholder 2">
            <a:extLst>
              <a:ext uri="{FF2B5EF4-FFF2-40B4-BE49-F238E27FC236}">
                <a16:creationId xmlns:a16="http://schemas.microsoft.com/office/drawing/2014/main" id="{2B92CF48-B95B-404D-B735-2C6A99BC7C19}"/>
              </a:ext>
            </a:extLst>
          </p:cNvPr>
          <p:cNvSpPr>
            <a:spLocks noGrp="1"/>
          </p:cNvSpPr>
          <p:nvPr>
            <p:ph idx="1"/>
          </p:nvPr>
        </p:nvSpPr>
        <p:spPr>
          <a:xfrm>
            <a:off x="838200" y="3206043"/>
            <a:ext cx="10515600" cy="2970919"/>
          </a:xfrm>
        </p:spPr>
        <p:txBody>
          <a:bodyPr>
            <a:normAutofit fontScale="92500" lnSpcReduction="10000"/>
          </a:bodyPr>
          <a:lstStyle/>
          <a:p>
            <a:r>
              <a:rPr lang="en-ID"/>
              <a:t>Internet traffic enters the Gateway.</a:t>
            </a:r>
          </a:p>
          <a:p>
            <a:r>
              <a:rPr lang="en-ID"/>
              <a:t>Gateway performs:</a:t>
            </a:r>
          </a:p>
          <a:p>
            <a:pPr lvl="1"/>
            <a:r>
              <a:rPr lang="en-ID"/>
              <a:t>GSE encapsulation</a:t>
            </a:r>
          </a:p>
          <a:p>
            <a:pPr lvl="1"/>
            <a:r>
              <a:rPr lang="en-ID"/>
              <a:t>Framing (BBFRAME → PLFRAME)</a:t>
            </a:r>
          </a:p>
          <a:p>
            <a:pPr lvl="1"/>
            <a:r>
              <a:rPr lang="en-ID"/>
              <a:t>FEC and Modulation (MODCOD selection)</a:t>
            </a:r>
          </a:p>
          <a:p>
            <a:r>
              <a:rPr lang="en-ID"/>
              <a:t>Satellite acts as a bent pipe (just relays the signal).</a:t>
            </a:r>
          </a:p>
          <a:p>
            <a:r>
              <a:rPr lang="en-ID"/>
              <a:t>RCST receives and demodulates frames using the info in PLS Header.</a:t>
            </a:r>
          </a:p>
        </p:txBody>
      </p:sp>
      <p:pic>
        <p:nvPicPr>
          <p:cNvPr id="6" name="Picture 5">
            <a:extLst>
              <a:ext uri="{FF2B5EF4-FFF2-40B4-BE49-F238E27FC236}">
                <a16:creationId xmlns:a16="http://schemas.microsoft.com/office/drawing/2014/main" id="{33EF0ECC-1370-4239-A4F0-FEEFF5C37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769" y="1430514"/>
            <a:ext cx="9314462" cy="1561042"/>
          </a:xfrm>
          <a:prstGeom prst="rect">
            <a:avLst/>
          </a:prstGeom>
        </p:spPr>
      </p:pic>
    </p:spTree>
    <p:extLst>
      <p:ext uri="{BB962C8B-B14F-4D97-AF65-F5344CB8AC3E}">
        <p14:creationId xmlns:p14="http://schemas.microsoft.com/office/powerpoint/2010/main" val="2635746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D39C0-1E3B-4413-8F5B-96BE57BB1288}"/>
              </a:ext>
            </a:extLst>
          </p:cNvPr>
          <p:cNvSpPr>
            <a:spLocks noGrp="1"/>
          </p:cNvSpPr>
          <p:nvPr>
            <p:ph type="title"/>
          </p:nvPr>
        </p:nvSpPr>
        <p:spPr>
          <a:xfrm>
            <a:off x="661810" y="584640"/>
            <a:ext cx="7052733" cy="1325563"/>
          </a:xfrm>
        </p:spPr>
        <p:txBody>
          <a:bodyPr/>
          <a:lstStyle/>
          <a:p>
            <a:pPr algn="ctr"/>
            <a:r>
              <a:rPr lang="en-US"/>
              <a:t>DVB-S2X Forward Link Protocol Stack</a:t>
            </a:r>
            <a:endParaRPr lang="en-ID"/>
          </a:p>
        </p:txBody>
      </p:sp>
      <p:sp>
        <p:nvSpPr>
          <p:cNvPr id="3" name="Content Placeholder 2">
            <a:extLst>
              <a:ext uri="{FF2B5EF4-FFF2-40B4-BE49-F238E27FC236}">
                <a16:creationId xmlns:a16="http://schemas.microsoft.com/office/drawing/2014/main" id="{DEECC149-6514-475B-AA4E-028DB83AEA44}"/>
              </a:ext>
            </a:extLst>
          </p:cNvPr>
          <p:cNvSpPr>
            <a:spLocks noGrp="1"/>
          </p:cNvSpPr>
          <p:nvPr>
            <p:ph idx="1"/>
          </p:nvPr>
        </p:nvSpPr>
        <p:spPr>
          <a:xfrm>
            <a:off x="8308621" y="853942"/>
            <a:ext cx="3454401" cy="5150115"/>
          </a:xfrm>
        </p:spPr>
        <p:txBody>
          <a:bodyPr>
            <a:normAutofit fontScale="70000" lnSpcReduction="20000"/>
          </a:bodyPr>
          <a:lstStyle/>
          <a:p>
            <a:r>
              <a:rPr lang="en-ID"/>
              <a:t>IP Layer: Entry point; normal internet packets (e.g., video, HTTP).</a:t>
            </a:r>
          </a:p>
          <a:p>
            <a:r>
              <a:rPr lang="en-ID"/>
              <a:t>GSE Layer: Packs IP packets into a lightweight, flexible DVB-friendly format.</a:t>
            </a:r>
          </a:p>
          <a:p>
            <a:r>
              <a:rPr lang="en-ID"/>
              <a:t>BBFRAME: Combines multiple GSE packets + adds Baseband Header (for sync, type, etc.).</a:t>
            </a:r>
          </a:p>
          <a:p>
            <a:r>
              <a:rPr lang="en-ID"/>
              <a:t>FEC Layer: Applies powerful LDPC (main) + BCH (outer) codes for error protection.</a:t>
            </a:r>
          </a:p>
          <a:p>
            <a:r>
              <a:rPr lang="en-ID"/>
              <a:t>PLFRAME: The final physical frame. Contains:</a:t>
            </a:r>
          </a:p>
          <a:p>
            <a:pPr lvl="1"/>
            <a:r>
              <a:rPr lang="en-ID"/>
              <a:t>PLS Header: tells receiver what MODCOD was used</a:t>
            </a:r>
          </a:p>
          <a:p>
            <a:pPr lvl="1"/>
            <a:r>
              <a:rPr lang="en-ID"/>
              <a:t>Payload: FEC-protected BBFRAME</a:t>
            </a:r>
          </a:p>
          <a:p>
            <a:pPr lvl="1"/>
            <a:r>
              <a:rPr lang="en-ID"/>
              <a:t>Pilot Symbols (for synchronization)</a:t>
            </a:r>
          </a:p>
        </p:txBody>
      </p:sp>
      <p:pic>
        <p:nvPicPr>
          <p:cNvPr id="4" name="Picture 3">
            <a:extLst>
              <a:ext uri="{FF2B5EF4-FFF2-40B4-BE49-F238E27FC236}">
                <a16:creationId xmlns:a16="http://schemas.microsoft.com/office/drawing/2014/main" id="{AB8D1FC7-C250-41D9-835F-34BEAF08D3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078" y="2015243"/>
            <a:ext cx="7960198" cy="3595335"/>
          </a:xfrm>
          <a:prstGeom prst="rect">
            <a:avLst/>
          </a:prstGeom>
        </p:spPr>
      </p:pic>
    </p:spTree>
    <p:extLst>
      <p:ext uri="{BB962C8B-B14F-4D97-AF65-F5344CB8AC3E}">
        <p14:creationId xmlns:p14="http://schemas.microsoft.com/office/powerpoint/2010/main" val="57263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92C6-68F9-4E04-87EC-AC548C012E53}"/>
              </a:ext>
            </a:extLst>
          </p:cNvPr>
          <p:cNvSpPr>
            <a:spLocks noGrp="1"/>
          </p:cNvSpPr>
          <p:nvPr>
            <p:ph type="title"/>
          </p:nvPr>
        </p:nvSpPr>
        <p:spPr>
          <a:xfrm>
            <a:off x="324555" y="77583"/>
            <a:ext cx="11542890" cy="950323"/>
          </a:xfrm>
        </p:spPr>
        <p:txBody>
          <a:bodyPr>
            <a:normAutofit fontScale="90000"/>
          </a:bodyPr>
          <a:lstStyle/>
          <a:p>
            <a:pPr algn="ctr"/>
            <a:r>
              <a:rPr lang="en-ID"/>
              <a:t>Encapsulation – GSE &amp; Baseband Frame (BBFRAME)</a:t>
            </a:r>
          </a:p>
        </p:txBody>
      </p:sp>
      <p:sp>
        <p:nvSpPr>
          <p:cNvPr id="3" name="Content Placeholder 2">
            <a:extLst>
              <a:ext uri="{FF2B5EF4-FFF2-40B4-BE49-F238E27FC236}">
                <a16:creationId xmlns:a16="http://schemas.microsoft.com/office/drawing/2014/main" id="{DBCECAF9-CA32-432C-B9FE-AD97B286CA6F}"/>
              </a:ext>
            </a:extLst>
          </p:cNvPr>
          <p:cNvSpPr>
            <a:spLocks noGrp="1"/>
          </p:cNvSpPr>
          <p:nvPr>
            <p:ph idx="1"/>
          </p:nvPr>
        </p:nvSpPr>
        <p:spPr>
          <a:xfrm>
            <a:off x="5139264" y="1027906"/>
            <a:ext cx="6506811" cy="2591593"/>
          </a:xfrm>
        </p:spPr>
        <p:txBody>
          <a:bodyPr>
            <a:normAutofit fontScale="92500" lnSpcReduction="20000"/>
          </a:bodyPr>
          <a:lstStyle/>
          <a:p>
            <a:pPr marL="0" indent="0">
              <a:buNone/>
            </a:pPr>
            <a:r>
              <a:rPr lang="en-ID" sz="2600"/>
              <a:t>Generic Stream Encapsulation (GSE)</a:t>
            </a:r>
          </a:p>
          <a:p>
            <a:r>
              <a:rPr lang="en-ID" sz="2600"/>
              <a:t>GSE is the convergence layer that wraps IP packets into a flexible, lightweight format.</a:t>
            </a:r>
          </a:p>
          <a:p>
            <a:r>
              <a:rPr lang="en-ID" sz="2600"/>
              <a:t>Designed for efficient transport of variable-length packets, like IP or Ethernet.</a:t>
            </a:r>
          </a:p>
          <a:p>
            <a:r>
              <a:rPr lang="en-ID" sz="2600"/>
              <a:t>Each GSE packet includes:</a:t>
            </a:r>
          </a:p>
          <a:p>
            <a:pPr lvl="1"/>
            <a:r>
              <a:rPr lang="en-ID" sz="2200"/>
              <a:t>GSE header (Type, Length, Flags)</a:t>
            </a:r>
          </a:p>
          <a:p>
            <a:pPr lvl="1"/>
            <a:r>
              <a:rPr lang="en-ID" sz="2200"/>
              <a:t>One IP packet (payload)</a:t>
            </a:r>
          </a:p>
        </p:txBody>
      </p:sp>
      <p:pic>
        <p:nvPicPr>
          <p:cNvPr id="6" name="Picture 5">
            <a:extLst>
              <a:ext uri="{FF2B5EF4-FFF2-40B4-BE49-F238E27FC236}">
                <a16:creationId xmlns:a16="http://schemas.microsoft.com/office/drawing/2014/main" id="{1708EE41-EED7-42C5-B316-E10DB55831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923" y="1027906"/>
            <a:ext cx="4371975" cy="5505450"/>
          </a:xfrm>
          <a:prstGeom prst="rect">
            <a:avLst/>
          </a:prstGeom>
        </p:spPr>
      </p:pic>
      <p:sp>
        <p:nvSpPr>
          <p:cNvPr id="7" name="Content Placeholder 2">
            <a:extLst>
              <a:ext uri="{FF2B5EF4-FFF2-40B4-BE49-F238E27FC236}">
                <a16:creationId xmlns:a16="http://schemas.microsoft.com/office/drawing/2014/main" id="{219EECBB-B89E-49EB-A044-4AE4D8C8103C}"/>
              </a:ext>
            </a:extLst>
          </p:cNvPr>
          <p:cNvSpPr txBox="1">
            <a:spLocks/>
          </p:cNvSpPr>
          <p:nvPr/>
        </p:nvSpPr>
        <p:spPr>
          <a:xfrm>
            <a:off x="5139264" y="3867151"/>
            <a:ext cx="6506811" cy="266620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D"/>
              <a:t>Baseband Frame (BBFRAME)</a:t>
            </a:r>
          </a:p>
          <a:p>
            <a:r>
              <a:rPr lang="en-US"/>
              <a:t>Multiple GSE packets are grouped together into a BBFRAME.</a:t>
            </a:r>
          </a:p>
          <a:p>
            <a:r>
              <a:rPr lang="en-US"/>
              <a:t>A BBHEADER is added to the front of the frame:</a:t>
            </a:r>
          </a:p>
          <a:p>
            <a:pPr lvl="1"/>
            <a:r>
              <a:rPr lang="en-US"/>
              <a:t>Sync, Frame Type, Length</a:t>
            </a:r>
          </a:p>
          <a:p>
            <a:pPr lvl="1"/>
            <a:r>
              <a:rPr lang="en-US"/>
              <a:t>Input Stream ID (to help identify services)</a:t>
            </a:r>
          </a:p>
          <a:p>
            <a:r>
              <a:rPr lang="en-US"/>
              <a:t>BBFRAME is the basic data unit passed into the physical layer.</a:t>
            </a:r>
            <a:endParaRPr lang="en-ID"/>
          </a:p>
        </p:txBody>
      </p:sp>
    </p:spTree>
    <p:extLst>
      <p:ext uri="{BB962C8B-B14F-4D97-AF65-F5344CB8AC3E}">
        <p14:creationId xmlns:p14="http://schemas.microsoft.com/office/powerpoint/2010/main" val="1082545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BAF91-41C9-4624-95AC-8F5009A22D78}"/>
              </a:ext>
            </a:extLst>
          </p:cNvPr>
          <p:cNvSpPr>
            <a:spLocks noGrp="1"/>
          </p:cNvSpPr>
          <p:nvPr>
            <p:ph type="title"/>
          </p:nvPr>
        </p:nvSpPr>
        <p:spPr>
          <a:xfrm>
            <a:off x="4185501" y="80962"/>
            <a:ext cx="7749323" cy="790460"/>
          </a:xfrm>
        </p:spPr>
        <p:txBody>
          <a:bodyPr>
            <a:noAutofit/>
          </a:bodyPr>
          <a:lstStyle/>
          <a:p>
            <a:pPr algn="ctr"/>
            <a:r>
              <a:rPr lang="en-US" sz="3600"/>
              <a:t>Physical Layer Framing – FEC &amp; PLFRAME</a:t>
            </a:r>
            <a:endParaRPr lang="en-ID" sz="3600"/>
          </a:p>
        </p:txBody>
      </p:sp>
      <p:sp>
        <p:nvSpPr>
          <p:cNvPr id="3" name="Content Placeholder 2">
            <a:extLst>
              <a:ext uri="{FF2B5EF4-FFF2-40B4-BE49-F238E27FC236}">
                <a16:creationId xmlns:a16="http://schemas.microsoft.com/office/drawing/2014/main" id="{63177B30-456F-413B-AD84-A2E25AB60C18}"/>
              </a:ext>
            </a:extLst>
          </p:cNvPr>
          <p:cNvSpPr>
            <a:spLocks noGrp="1"/>
          </p:cNvSpPr>
          <p:nvPr>
            <p:ph idx="1"/>
          </p:nvPr>
        </p:nvSpPr>
        <p:spPr>
          <a:xfrm>
            <a:off x="4362450" y="871422"/>
            <a:ext cx="7572374" cy="1641474"/>
          </a:xfrm>
        </p:spPr>
        <p:txBody>
          <a:bodyPr>
            <a:normAutofit fontScale="62500" lnSpcReduction="20000"/>
          </a:bodyPr>
          <a:lstStyle/>
          <a:p>
            <a:pPr marL="0" indent="0">
              <a:buNone/>
            </a:pPr>
            <a:r>
              <a:rPr lang="en-ID" b="1"/>
              <a:t>Forward Error Correction (FEC)</a:t>
            </a:r>
          </a:p>
          <a:p>
            <a:r>
              <a:rPr lang="en-ID"/>
              <a:t>DVB-S2X uses a two-stage FEC system:</a:t>
            </a:r>
          </a:p>
          <a:p>
            <a:pPr lvl="1"/>
            <a:r>
              <a:rPr lang="en-ID"/>
              <a:t>LDPC (Low-Density Parity-Check) → main, powerful FEC code</a:t>
            </a:r>
          </a:p>
          <a:p>
            <a:pPr lvl="1"/>
            <a:r>
              <a:rPr lang="en-ID"/>
              <a:t>BCH (Bose–Chaudhuri–Hocquenghem) → error detection &amp; outer cleanup</a:t>
            </a:r>
          </a:p>
          <a:p>
            <a:r>
              <a:rPr lang="en-ID"/>
              <a:t>This combo allows reliable decoding even under weak satellite signal (rain fade, noise)</a:t>
            </a:r>
          </a:p>
        </p:txBody>
      </p:sp>
      <p:sp>
        <p:nvSpPr>
          <p:cNvPr id="7" name="Content Placeholder 2">
            <a:extLst>
              <a:ext uri="{FF2B5EF4-FFF2-40B4-BE49-F238E27FC236}">
                <a16:creationId xmlns:a16="http://schemas.microsoft.com/office/drawing/2014/main" id="{4B292EBD-70B6-4930-BA4D-2CF095B11719}"/>
              </a:ext>
            </a:extLst>
          </p:cNvPr>
          <p:cNvSpPr txBox="1">
            <a:spLocks/>
          </p:cNvSpPr>
          <p:nvPr/>
        </p:nvSpPr>
        <p:spPr>
          <a:xfrm>
            <a:off x="4469090" y="2547821"/>
            <a:ext cx="7572374" cy="20930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D" sz="1800"/>
              <a:t> </a:t>
            </a:r>
            <a:r>
              <a:rPr lang="en-ID" sz="1800" b="1"/>
              <a:t>Adaptive Coding &amp; Modulation (ACM)</a:t>
            </a:r>
          </a:p>
          <a:p>
            <a:r>
              <a:rPr lang="en-ID" sz="1800"/>
              <a:t>Each PLFRAME uses a specific MODCOD (e.g., QPSK, 8PSK, 16APSK, 32APSK)</a:t>
            </a:r>
          </a:p>
          <a:p>
            <a:pPr lvl="1"/>
            <a:r>
              <a:rPr lang="en-ID" sz="1400"/>
              <a:t>Selected dynamically at the Gateway based on:</a:t>
            </a:r>
          </a:p>
          <a:p>
            <a:pPr lvl="1"/>
            <a:r>
              <a:rPr lang="en-ID" sz="1400"/>
              <a:t>Terminal link quality</a:t>
            </a:r>
          </a:p>
          <a:p>
            <a:pPr lvl="1"/>
            <a:r>
              <a:rPr lang="en-ID" sz="1400"/>
              <a:t>Weather</a:t>
            </a:r>
          </a:p>
          <a:p>
            <a:pPr lvl="1"/>
            <a:r>
              <a:rPr lang="en-ID" sz="1400"/>
              <a:t>SNR reports from RCST</a:t>
            </a:r>
          </a:p>
          <a:p>
            <a:r>
              <a:rPr lang="en-ID" sz="1800"/>
              <a:t>Better link = higher modulation = higher throughput</a:t>
            </a:r>
          </a:p>
        </p:txBody>
      </p:sp>
      <p:pic>
        <p:nvPicPr>
          <p:cNvPr id="9" name="Picture 8">
            <a:extLst>
              <a:ext uri="{FF2B5EF4-FFF2-40B4-BE49-F238E27FC236}">
                <a16:creationId xmlns:a16="http://schemas.microsoft.com/office/drawing/2014/main" id="{30E2B014-A0A6-406D-A450-C7859A3289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285" y="80962"/>
            <a:ext cx="3819525" cy="6696075"/>
          </a:xfrm>
          <a:prstGeom prst="rect">
            <a:avLst/>
          </a:prstGeom>
        </p:spPr>
      </p:pic>
      <p:sp>
        <p:nvSpPr>
          <p:cNvPr id="14" name="Content Placeholder 2">
            <a:extLst>
              <a:ext uri="{FF2B5EF4-FFF2-40B4-BE49-F238E27FC236}">
                <a16:creationId xmlns:a16="http://schemas.microsoft.com/office/drawing/2014/main" id="{8C259813-514B-48E5-9A86-AB7A42838146}"/>
              </a:ext>
            </a:extLst>
          </p:cNvPr>
          <p:cNvSpPr txBox="1">
            <a:spLocks/>
          </p:cNvSpPr>
          <p:nvPr/>
        </p:nvSpPr>
        <p:spPr>
          <a:xfrm>
            <a:off x="4469090" y="4792663"/>
            <a:ext cx="7572374" cy="19843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a:t> PLFRAME (Physical Layer Frame)</a:t>
            </a:r>
          </a:p>
          <a:p>
            <a:r>
              <a:rPr lang="en-US" sz="1800"/>
              <a:t>Final encapsulated unit transmitted over the air</a:t>
            </a:r>
          </a:p>
          <a:p>
            <a:r>
              <a:rPr lang="en-US" sz="1800"/>
              <a:t>Contains:</a:t>
            </a:r>
          </a:p>
          <a:p>
            <a:pPr lvl="1"/>
            <a:r>
              <a:rPr lang="en-US" sz="1400"/>
              <a:t>PLS Header (tells the receiver what MODCOD is used)</a:t>
            </a:r>
          </a:p>
          <a:p>
            <a:pPr lvl="1"/>
            <a:r>
              <a:rPr lang="en-US" sz="1400"/>
              <a:t>FEC-protected payload (the encoded BBFRAME)</a:t>
            </a:r>
          </a:p>
          <a:p>
            <a:pPr lvl="1"/>
            <a:r>
              <a:rPr lang="en-US" sz="1400"/>
              <a:t>Pilot Symbols (for timing/sync/channel estimation)</a:t>
            </a:r>
            <a:endParaRPr lang="en-ID" sz="1400"/>
          </a:p>
        </p:txBody>
      </p:sp>
    </p:spTree>
    <p:extLst>
      <p:ext uri="{BB962C8B-B14F-4D97-AF65-F5344CB8AC3E}">
        <p14:creationId xmlns:p14="http://schemas.microsoft.com/office/powerpoint/2010/main" val="3685214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4A436-5E6C-4F33-BD33-5B67FEE62010}"/>
              </a:ext>
            </a:extLst>
          </p:cNvPr>
          <p:cNvSpPr>
            <a:spLocks noGrp="1"/>
          </p:cNvSpPr>
          <p:nvPr>
            <p:ph type="title"/>
          </p:nvPr>
        </p:nvSpPr>
        <p:spPr>
          <a:xfrm>
            <a:off x="838200" y="203200"/>
            <a:ext cx="10515600" cy="1325563"/>
          </a:xfrm>
        </p:spPr>
        <p:txBody>
          <a:bodyPr/>
          <a:lstStyle/>
          <a:p>
            <a:pPr algn="ctr"/>
            <a:r>
              <a:rPr lang="en-ID"/>
              <a:t>DVB-RCS2 System Overview</a:t>
            </a:r>
          </a:p>
        </p:txBody>
      </p:sp>
      <p:sp>
        <p:nvSpPr>
          <p:cNvPr id="3" name="Content Placeholder 2">
            <a:extLst>
              <a:ext uri="{FF2B5EF4-FFF2-40B4-BE49-F238E27FC236}">
                <a16:creationId xmlns:a16="http://schemas.microsoft.com/office/drawing/2014/main" id="{AAD09C65-51AD-4830-B647-D5C1048874E7}"/>
              </a:ext>
            </a:extLst>
          </p:cNvPr>
          <p:cNvSpPr>
            <a:spLocks noGrp="1"/>
          </p:cNvSpPr>
          <p:nvPr>
            <p:ph idx="1"/>
          </p:nvPr>
        </p:nvSpPr>
        <p:spPr>
          <a:xfrm>
            <a:off x="838199" y="2809874"/>
            <a:ext cx="10515600" cy="2976563"/>
          </a:xfrm>
        </p:spPr>
        <p:txBody>
          <a:bodyPr/>
          <a:lstStyle/>
          <a:p>
            <a:r>
              <a:rPr lang="en-US"/>
              <a:t>DVB-RCS2 (Digital Video Broadcasting – Return Channel via Satellite, 2nd generation) is designed to support interactive satellite communication, especially from users back to the internet.</a:t>
            </a:r>
          </a:p>
          <a:p>
            <a:r>
              <a:rPr lang="en-US"/>
              <a:t>In DVB-RCS2 systems, users send and receive data through an RCST, relayed by a transparent satellite, while the gateway and NCC manage the network’s control and scheduling functions.</a:t>
            </a:r>
            <a:endParaRPr lang="en-ID"/>
          </a:p>
        </p:txBody>
      </p:sp>
      <p:pic>
        <p:nvPicPr>
          <p:cNvPr id="4" name="Picture 3">
            <a:extLst>
              <a:ext uri="{FF2B5EF4-FFF2-40B4-BE49-F238E27FC236}">
                <a16:creationId xmlns:a16="http://schemas.microsoft.com/office/drawing/2014/main" id="{427BFDE7-F7E1-4AA0-97E9-1B27F0E684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8412" y="1300163"/>
            <a:ext cx="7115175" cy="1371600"/>
          </a:xfrm>
          <a:prstGeom prst="rect">
            <a:avLst/>
          </a:prstGeom>
        </p:spPr>
      </p:pic>
    </p:spTree>
    <p:extLst>
      <p:ext uri="{BB962C8B-B14F-4D97-AF65-F5344CB8AC3E}">
        <p14:creationId xmlns:p14="http://schemas.microsoft.com/office/powerpoint/2010/main" val="2412778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14E2-2BF9-486D-A983-9898E994863F}"/>
              </a:ext>
            </a:extLst>
          </p:cNvPr>
          <p:cNvSpPr>
            <a:spLocks noGrp="1"/>
          </p:cNvSpPr>
          <p:nvPr>
            <p:ph type="title"/>
          </p:nvPr>
        </p:nvSpPr>
        <p:spPr/>
        <p:txBody>
          <a:bodyPr/>
          <a:lstStyle/>
          <a:p>
            <a:pPr algn="ctr"/>
            <a:r>
              <a:rPr lang="en-ID"/>
              <a:t>Gateway and NCC responsibilities.</a:t>
            </a:r>
          </a:p>
        </p:txBody>
      </p:sp>
      <p:pic>
        <p:nvPicPr>
          <p:cNvPr id="4" name="Picture 3">
            <a:extLst>
              <a:ext uri="{FF2B5EF4-FFF2-40B4-BE49-F238E27FC236}">
                <a16:creationId xmlns:a16="http://schemas.microsoft.com/office/drawing/2014/main" id="{743F9D08-1215-4F82-B072-06A9BDBD0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1195" y="1534319"/>
            <a:ext cx="10229607" cy="2323305"/>
          </a:xfrm>
          <a:prstGeom prst="rect">
            <a:avLst/>
          </a:prstGeom>
        </p:spPr>
      </p:pic>
      <p:sp>
        <p:nvSpPr>
          <p:cNvPr id="6" name="Rectangle 2">
            <a:extLst>
              <a:ext uri="{FF2B5EF4-FFF2-40B4-BE49-F238E27FC236}">
                <a16:creationId xmlns:a16="http://schemas.microsoft.com/office/drawing/2014/main" id="{CCDD728B-187D-4979-8731-77C3E322BAE4}"/>
              </a:ext>
            </a:extLst>
          </p:cNvPr>
          <p:cNvSpPr>
            <a:spLocks noGrp="1" noChangeArrowheads="1"/>
          </p:cNvSpPr>
          <p:nvPr>
            <p:ph idx="1"/>
          </p:nvPr>
        </p:nvSpPr>
        <p:spPr bwMode="auto">
          <a:xfrm>
            <a:off x="680061" y="3964989"/>
            <a:ext cx="1083187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Gateway: Interface to terrestrial network, modulates DVB-S2X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NCC: Centralized scheduler, generates terminal parameter groups (TPGs), burst profiles, timeslot plans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Manages access types (CRA, DAMA, VBDC, etc.)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8639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BC671-0C57-4890-A124-8ADE938B35F1}"/>
              </a:ext>
            </a:extLst>
          </p:cNvPr>
          <p:cNvSpPr>
            <a:spLocks noGrp="1"/>
          </p:cNvSpPr>
          <p:nvPr>
            <p:ph type="title"/>
          </p:nvPr>
        </p:nvSpPr>
        <p:spPr/>
        <p:txBody>
          <a:bodyPr/>
          <a:lstStyle/>
          <a:p>
            <a:pPr algn="ctr"/>
            <a:r>
              <a:rPr lang="en-ID"/>
              <a:t>RCST (User Terminal) Functions</a:t>
            </a:r>
          </a:p>
        </p:txBody>
      </p:sp>
      <p:pic>
        <p:nvPicPr>
          <p:cNvPr id="4" name="Picture 3">
            <a:extLst>
              <a:ext uri="{FF2B5EF4-FFF2-40B4-BE49-F238E27FC236}">
                <a16:creationId xmlns:a16="http://schemas.microsoft.com/office/drawing/2014/main" id="{CA8DD03D-5AA4-4E42-8AB3-AFB9EF9E44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1891" y="1825625"/>
            <a:ext cx="7608218" cy="3548063"/>
          </a:xfrm>
          <a:prstGeom prst="rect">
            <a:avLst/>
          </a:prstGeom>
        </p:spPr>
      </p:pic>
    </p:spTree>
    <p:extLst>
      <p:ext uri="{BB962C8B-B14F-4D97-AF65-F5344CB8AC3E}">
        <p14:creationId xmlns:p14="http://schemas.microsoft.com/office/powerpoint/2010/main" val="3528843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57652-7991-48E7-B5DA-8165F753A16A}"/>
              </a:ext>
            </a:extLst>
          </p:cNvPr>
          <p:cNvSpPr>
            <a:spLocks noGrp="1"/>
          </p:cNvSpPr>
          <p:nvPr>
            <p:ph type="title"/>
          </p:nvPr>
        </p:nvSpPr>
        <p:spPr>
          <a:xfrm>
            <a:off x="838200" y="137319"/>
            <a:ext cx="10515600" cy="1325563"/>
          </a:xfrm>
        </p:spPr>
        <p:txBody>
          <a:bodyPr/>
          <a:lstStyle/>
          <a:p>
            <a:pPr algn="ctr"/>
            <a:r>
              <a:rPr lang="en-US"/>
              <a:t>DVB-RCS2 Return Link Protocol Stack</a:t>
            </a:r>
            <a:endParaRPr lang="en-ID"/>
          </a:p>
        </p:txBody>
      </p:sp>
      <p:pic>
        <p:nvPicPr>
          <p:cNvPr id="5" name="Content Placeholder 4">
            <a:extLst>
              <a:ext uri="{FF2B5EF4-FFF2-40B4-BE49-F238E27FC236}">
                <a16:creationId xmlns:a16="http://schemas.microsoft.com/office/drawing/2014/main" id="{C1A45872-E2AD-4365-9770-A01B099EA99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36542" y="1454572"/>
            <a:ext cx="4717258" cy="4186981"/>
          </a:xfrm>
        </p:spPr>
      </p:pic>
      <p:sp>
        <p:nvSpPr>
          <p:cNvPr id="6" name="Content Placeholder 2">
            <a:extLst>
              <a:ext uri="{FF2B5EF4-FFF2-40B4-BE49-F238E27FC236}">
                <a16:creationId xmlns:a16="http://schemas.microsoft.com/office/drawing/2014/main" id="{60EA34E5-A17B-437A-A358-1663BF3C8D9E}"/>
              </a:ext>
            </a:extLst>
          </p:cNvPr>
          <p:cNvSpPr txBox="1">
            <a:spLocks/>
          </p:cNvSpPr>
          <p:nvPr/>
        </p:nvSpPr>
        <p:spPr>
          <a:xfrm>
            <a:off x="838200" y="1460103"/>
            <a:ext cx="5381626" cy="417313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The return link (from RCST to hub) in DVB-RCS2 follows a layered protocol stack, similar to the OSI model.</a:t>
            </a:r>
          </a:p>
          <a:p>
            <a:r>
              <a:rPr lang="en-US"/>
              <a:t>SI-SAP (Service Interface SAP) acts as a convergence layer that adapts IP traffic into satellite-compatible frames.</a:t>
            </a:r>
          </a:p>
          <a:p>
            <a:r>
              <a:rPr lang="en-US"/>
              <a:t>The MAC Layer handles scheduling, access types (CRA, VBDC, DBRA), and QoS enforcement.</a:t>
            </a:r>
          </a:p>
          <a:p>
            <a:r>
              <a:rPr lang="en-US"/>
              <a:t>The Physical Layer implements burst transmission based on the DVB-RCS2 waveform.</a:t>
            </a:r>
            <a:endParaRPr lang="en-ID"/>
          </a:p>
        </p:txBody>
      </p:sp>
    </p:spTree>
    <p:extLst>
      <p:ext uri="{BB962C8B-B14F-4D97-AF65-F5344CB8AC3E}">
        <p14:creationId xmlns:p14="http://schemas.microsoft.com/office/powerpoint/2010/main" val="2589551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00589-8CB5-467A-9EDD-885EA194CA37}"/>
              </a:ext>
            </a:extLst>
          </p:cNvPr>
          <p:cNvSpPr>
            <a:spLocks noGrp="1"/>
          </p:cNvSpPr>
          <p:nvPr>
            <p:ph type="title"/>
          </p:nvPr>
        </p:nvSpPr>
        <p:spPr/>
        <p:txBody>
          <a:bodyPr/>
          <a:lstStyle/>
          <a:p>
            <a:pPr algn="ctr"/>
            <a:r>
              <a:rPr lang="en-US"/>
              <a:t>Physical Layer: DVB-RCS2 Return Link Transmission</a:t>
            </a:r>
            <a:endParaRPr lang="en-ID"/>
          </a:p>
        </p:txBody>
      </p:sp>
      <p:pic>
        <p:nvPicPr>
          <p:cNvPr id="5" name="Picture 4">
            <a:extLst>
              <a:ext uri="{FF2B5EF4-FFF2-40B4-BE49-F238E27FC236}">
                <a16:creationId xmlns:a16="http://schemas.microsoft.com/office/drawing/2014/main" id="{AEE49F02-C002-48C0-85FF-E49D774CA4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0641" y="1690688"/>
            <a:ext cx="9510713" cy="2255374"/>
          </a:xfrm>
          <a:prstGeom prst="rect">
            <a:avLst/>
          </a:prstGeom>
        </p:spPr>
      </p:pic>
      <p:sp>
        <p:nvSpPr>
          <p:cNvPr id="6" name="Content Placeholder 2">
            <a:extLst>
              <a:ext uri="{FF2B5EF4-FFF2-40B4-BE49-F238E27FC236}">
                <a16:creationId xmlns:a16="http://schemas.microsoft.com/office/drawing/2014/main" id="{C9DB7541-C39F-4F49-960B-A864B5A51BB8}"/>
              </a:ext>
            </a:extLst>
          </p:cNvPr>
          <p:cNvSpPr txBox="1">
            <a:spLocks/>
          </p:cNvSpPr>
          <p:nvPr/>
        </p:nvSpPr>
        <p:spPr>
          <a:xfrm>
            <a:off x="633409" y="3946061"/>
            <a:ext cx="10720391" cy="284526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D" sz="2000"/>
              <a:t>DVB-RCS2 uses MF-TDMA for return link transmissions.</a:t>
            </a:r>
          </a:p>
          <a:p>
            <a:r>
              <a:rPr lang="en-ID" sz="2000"/>
              <a:t>Data from RCSTs is sent in bursts, each occupying a time slot within a specific frequency channel.</a:t>
            </a:r>
          </a:p>
          <a:p>
            <a:r>
              <a:rPr lang="en-ID" sz="2000"/>
              <a:t>Burst structure includes:</a:t>
            </a:r>
          </a:p>
          <a:p>
            <a:pPr lvl="1"/>
            <a:r>
              <a:rPr lang="en-ID" sz="2000"/>
              <a:t>Preamble: for synchronization</a:t>
            </a:r>
          </a:p>
          <a:p>
            <a:pPr lvl="1"/>
            <a:r>
              <a:rPr lang="en-ID" sz="2000"/>
              <a:t>Header: with signaling/meta info</a:t>
            </a:r>
          </a:p>
          <a:p>
            <a:pPr lvl="1"/>
            <a:r>
              <a:rPr lang="en-ID" sz="2000"/>
              <a:t>Payload: actual user data</a:t>
            </a:r>
          </a:p>
          <a:p>
            <a:pPr lvl="1"/>
            <a:r>
              <a:rPr lang="en-ID" sz="2000"/>
              <a:t>Guard Time: to prevent overlap between burst</a:t>
            </a:r>
          </a:p>
          <a:p>
            <a:pPr marL="228600" lvl="1"/>
            <a:r>
              <a:rPr lang="en-ID" sz="2000"/>
              <a:t>Supports adaptive modulation and coding (ACM) to adjust to link conditions (e.g., QPSK, 8PSK, 16QAM).</a:t>
            </a:r>
          </a:p>
        </p:txBody>
      </p:sp>
    </p:spTree>
    <p:extLst>
      <p:ext uri="{BB962C8B-B14F-4D97-AF65-F5344CB8AC3E}">
        <p14:creationId xmlns:p14="http://schemas.microsoft.com/office/powerpoint/2010/main" val="3542847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3CA8-C006-4F53-A614-6B97ACFBAD60}"/>
              </a:ext>
            </a:extLst>
          </p:cNvPr>
          <p:cNvSpPr>
            <a:spLocks noGrp="1"/>
          </p:cNvSpPr>
          <p:nvPr>
            <p:ph type="title"/>
          </p:nvPr>
        </p:nvSpPr>
        <p:spPr>
          <a:xfrm>
            <a:off x="695960" y="526266"/>
            <a:ext cx="4352694" cy="1001300"/>
          </a:xfrm>
        </p:spPr>
        <p:txBody>
          <a:bodyPr>
            <a:noAutofit/>
          </a:bodyPr>
          <a:lstStyle/>
          <a:p>
            <a:pPr algn="ctr"/>
            <a:r>
              <a:rPr lang="en-US" sz="3600"/>
              <a:t>QoS and Scheduling in DVB-RCS2 Return Link</a:t>
            </a:r>
            <a:endParaRPr lang="en-ID" sz="3600"/>
          </a:p>
        </p:txBody>
      </p:sp>
      <p:sp>
        <p:nvSpPr>
          <p:cNvPr id="3" name="Content Placeholder 2">
            <a:extLst>
              <a:ext uri="{FF2B5EF4-FFF2-40B4-BE49-F238E27FC236}">
                <a16:creationId xmlns:a16="http://schemas.microsoft.com/office/drawing/2014/main" id="{E3145D01-9B57-45C0-AF6F-1482DCC8DFC0}"/>
              </a:ext>
            </a:extLst>
          </p:cNvPr>
          <p:cNvSpPr>
            <a:spLocks noGrp="1"/>
          </p:cNvSpPr>
          <p:nvPr>
            <p:ph idx="1"/>
          </p:nvPr>
        </p:nvSpPr>
        <p:spPr>
          <a:xfrm>
            <a:off x="731520" y="2376136"/>
            <a:ext cx="4494934" cy="3571432"/>
          </a:xfrm>
        </p:spPr>
        <p:txBody>
          <a:bodyPr>
            <a:normAutofit/>
          </a:bodyPr>
          <a:lstStyle/>
          <a:p>
            <a:r>
              <a:rPr lang="en-US" sz="1600"/>
              <a:t>Centralized Scheduler (NCC) assigns time-frequency slots per terminal dynamically.</a:t>
            </a:r>
          </a:p>
          <a:p>
            <a:r>
              <a:rPr lang="en-US" sz="1600"/>
              <a:t>Return Link Scheduling adapts to:</a:t>
            </a:r>
          </a:p>
          <a:p>
            <a:pPr lvl="1"/>
            <a:r>
              <a:rPr lang="en-US" sz="1400"/>
              <a:t>Terminal demand (data backlog)</a:t>
            </a:r>
          </a:p>
          <a:p>
            <a:pPr lvl="1"/>
            <a:r>
              <a:rPr lang="en-US" sz="1400"/>
              <a:t>Link quality (channel condition feedback)</a:t>
            </a:r>
          </a:p>
          <a:p>
            <a:pPr lvl="1"/>
            <a:r>
              <a:rPr lang="en-US" sz="1400"/>
              <a:t>Priority classes / QoS levels</a:t>
            </a:r>
          </a:p>
          <a:p>
            <a:r>
              <a:rPr lang="en-US" sz="1600"/>
              <a:t>QoS Classes:</a:t>
            </a:r>
          </a:p>
          <a:p>
            <a:pPr lvl="1"/>
            <a:r>
              <a:rPr lang="en-US" sz="1400"/>
              <a:t>Real-Time (e.g., VoIP): low latency guaranteed</a:t>
            </a:r>
          </a:p>
          <a:p>
            <a:pPr lvl="1"/>
            <a:r>
              <a:rPr lang="en-US" sz="1400"/>
              <a:t>Elastic (e.g., web traffic): best effort</a:t>
            </a:r>
          </a:p>
          <a:p>
            <a:pPr lvl="1"/>
            <a:r>
              <a:rPr lang="en-US" sz="1400"/>
              <a:t>Streaming/Video: moderate delay, sustained throughput</a:t>
            </a:r>
          </a:p>
          <a:p>
            <a:r>
              <a:rPr lang="en-US" sz="1600"/>
              <a:t>RCSTs request slots using DRA (Dynamic Resource Allocation) via access requests in control bursts.</a:t>
            </a:r>
            <a:endParaRPr lang="en-ID" sz="1600"/>
          </a:p>
        </p:txBody>
      </p:sp>
      <p:sp>
        <p:nvSpPr>
          <p:cNvPr id="4" name="Rectangle 2">
            <a:extLst>
              <a:ext uri="{FF2B5EF4-FFF2-40B4-BE49-F238E27FC236}">
                <a16:creationId xmlns:a16="http://schemas.microsoft.com/office/drawing/2014/main" id="{C349E326-AB29-4603-B671-FA06E7D90568}"/>
              </a:ext>
            </a:extLst>
          </p:cNvPr>
          <p:cNvSpPr txBox="1">
            <a:spLocks noChangeArrowheads="1"/>
          </p:cNvSpPr>
          <p:nvPr/>
        </p:nvSpPr>
        <p:spPr bwMode="auto">
          <a:xfrm>
            <a:off x="624840" y="1527566"/>
            <a:ext cx="4494934"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a:t>DVB-RCS2 uses centralized scheduling managed by the NCC to ensure Quality of Service (QoS) through dynamic return link allocation.</a:t>
            </a:r>
            <a:endParaRPr lang="en-ID" sz="1600"/>
          </a:p>
        </p:txBody>
      </p:sp>
      <p:pic>
        <p:nvPicPr>
          <p:cNvPr id="8" name="Picture 7">
            <a:extLst>
              <a:ext uri="{FF2B5EF4-FFF2-40B4-BE49-F238E27FC236}">
                <a16:creationId xmlns:a16="http://schemas.microsoft.com/office/drawing/2014/main" id="{9778455C-3887-4343-9ED0-11A9E3F0C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3134" y="247015"/>
            <a:ext cx="6566899" cy="6072188"/>
          </a:xfrm>
          <a:prstGeom prst="rect">
            <a:avLst/>
          </a:prstGeom>
        </p:spPr>
      </p:pic>
    </p:spTree>
    <p:extLst>
      <p:ext uri="{BB962C8B-B14F-4D97-AF65-F5344CB8AC3E}">
        <p14:creationId xmlns:p14="http://schemas.microsoft.com/office/powerpoint/2010/main" val="1319548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5098-C48A-404B-9DE3-483FABDDB9EA}"/>
              </a:ext>
            </a:extLst>
          </p:cNvPr>
          <p:cNvSpPr>
            <a:spLocks noGrp="1"/>
          </p:cNvSpPr>
          <p:nvPr>
            <p:ph type="ctrTitle"/>
          </p:nvPr>
        </p:nvSpPr>
        <p:spPr/>
        <p:txBody>
          <a:bodyPr/>
          <a:lstStyle/>
          <a:p>
            <a:r>
              <a:rPr lang="en-ID"/>
              <a:t>DVB-S2X &amp; RCS2</a:t>
            </a:r>
          </a:p>
        </p:txBody>
      </p:sp>
      <p:sp>
        <p:nvSpPr>
          <p:cNvPr id="3" name="Subtitle 2">
            <a:extLst>
              <a:ext uri="{FF2B5EF4-FFF2-40B4-BE49-F238E27FC236}">
                <a16:creationId xmlns:a16="http://schemas.microsoft.com/office/drawing/2014/main" id="{A45F83B2-9755-4EB8-B2E9-DE81289E8EFC}"/>
              </a:ext>
            </a:extLst>
          </p:cNvPr>
          <p:cNvSpPr>
            <a:spLocks noGrp="1"/>
          </p:cNvSpPr>
          <p:nvPr>
            <p:ph type="subTitle" idx="1"/>
          </p:nvPr>
        </p:nvSpPr>
        <p:spPr/>
        <p:txBody>
          <a:bodyPr/>
          <a:lstStyle/>
          <a:p>
            <a:r>
              <a:rPr lang="en-US"/>
              <a:t>Layer 1 (L1) Framing in DVB Systems</a:t>
            </a:r>
            <a:endParaRPr lang="en-ID"/>
          </a:p>
        </p:txBody>
      </p:sp>
    </p:spTree>
    <p:extLst>
      <p:ext uri="{BB962C8B-B14F-4D97-AF65-F5344CB8AC3E}">
        <p14:creationId xmlns:p14="http://schemas.microsoft.com/office/powerpoint/2010/main" val="1618287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684D2-5D74-4F09-914A-DE668E75EFEE}"/>
              </a:ext>
            </a:extLst>
          </p:cNvPr>
          <p:cNvSpPr>
            <a:spLocks noGrp="1"/>
          </p:cNvSpPr>
          <p:nvPr>
            <p:ph type="title"/>
          </p:nvPr>
        </p:nvSpPr>
        <p:spPr/>
        <p:txBody>
          <a:bodyPr/>
          <a:lstStyle/>
          <a:p>
            <a:pPr algn="ctr"/>
            <a:r>
              <a:rPr lang="en-US"/>
              <a:t>Intro to L1 Framing (DVB-S2X &amp; RCS2)</a:t>
            </a:r>
            <a:endParaRPr lang="en-ID"/>
          </a:p>
        </p:txBody>
      </p:sp>
      <p:sp>
        <p:nvSpPr>
          <p:cNvPr id="3" name="Content Placeholder 2">
            <a:extLst>
              <a:ext uri="{FF2B5EF4-FFF2-40B4-BE49-F238E27FC236}">
                <a16:creationId xmlns:a16="http://schemas.microsoft.com/office/drawing/2014/main" id="{2B92CF48-B95B-404D-B735-2C6A99BC7C19}"/>
              </a:ext>
            </a:extLst>
          </p:cNvPr>
          <p:cNvSpPr>
            <a:spLocks noGrp="1"/>
          </p:cNvSpPr>
          <p:nvPr>
            <p:ph idx="1"/>
          </p:nvPr>
        </p:nvSpPr>
        <p:spPr>
          <a:xfrm>
            <a:off x="4025244" y="1405036"/>
            <a:ext cx="7922444" cy="4771926"/>
          </a:xfrm>
        </p:spPr>
        <p:txBody>
          <a:bodyPr>
            <a:normAutofit fontScale="92500" lnSpcReduction="10000"/>
          </a:bodyPr>
          <a:lstStyle/>
          <a:p>
            <a:pPr marL="0" indent="0">
              <a:buNone/>
            </a:pPr>
            <a:r>
              <a:rPr lang="en-ID" b="1"/>
              <a:t> What is L1 Framing?</a:t>
            </a:r>
          </a:p>
          <a:p>
            <a:pPr>
              <a:buFont typeface="Arial" panose="020B0604020202020204" pitchFamily="34" charset="0"/>
              <a:buChar char="•"/>
            </a:pPr>
            <a:r>
              <a:rPr lang="en-ID" b="1"/>
              <a:t>Layer 1 (Physical Layer)</a:t>
            </a:r>
            <a:r>
              <a:rPr lang="en-ID"/>
              <a:t> is responsible for converting digital data into modulated signals for satellite transmission.</a:t>
            </a:r>
          </a:p>
          <a:p>
            <a:pPr>
              <a:buFont typeface="Arial" panose="020B0604020202020204" pitchFamily="34" charset="0"/>
              <a:buChar char="•"/>
            </a:pPr>
            <a:r>
              <a:rPr lang="en-ID"/>
              <a:t>It wraps baseband data into structured </a:t>
            </a:r>
            <a:r>
              <a:rPr lang="en-ID" b="1"/>
              <a:t>frames</a:t>
            </a:r>
            <a:r>
              <a:rPr lang="en-ID"/>
              <a:t> with:</a:t>
            </a:r>
          </a:p>
          <a:p>
            <a:pPr marL="742950" lvl="1" indent="-285750">
              <a:buFont typeface="Arial" panose="020B0604020202020204" pitchFamily="34" charset="0"/>
              <a:buChar char="•"/>
            </a:pPr>
            <a:r>
              <a:rPr lang="en-ID" b="1"/>
              <a:t>Signaling info</a:t>
            </a:r>
            <a:r>
              <a:rPr lang="en-ID"/>
              <a:t> (headers)</a:t>
            </a:r>
          </a:p>
          <a:p>
            <a:pPr marL="742950" lvl="1" indent="-285750">
              <a:buFont typeface="Arial" panose="020B0604020202020204" pitchFamily="34" charset="0"/>
              <a:buChar char="•"/>
            </a:pPr>
            <a:r>
              <a:rPr lang="en-ID" b="1"/>
              <a:t>Error protection</a:t>
            </a:r>
            <a:r>
              <a:rPr lang="en-ID"/>
              <a:t> (FEC)</a:t>
            </a:r>
          </a:p>
          <a:p>
            <a:pPr marL="742950" lvl="1" indent="-285750">
              <a:buFont typeface="Arial" panose="020B0604020202020204" pitchFamily="34" charset="0"/>
              <a:buChar char="•"/>
            </a:pPr>
            <a:r>
              <a:rPr lang="en-ID" b="1"/>
              <a:t>Synchronization aids</a:t>
            </a:r>
            <a:r>
              <a:rPr lang="en-ID"/>
              <a:t> (pilot symbols, preambles)</a:t>
            </a:r>
          </a:p>
          <a:p>
            <a:pPr>
              <a:buFont typeface="Arial" panose="020B0604020202020204" pitchFamily="34" charset="0"/>
              <a:buChar char="•"/>
            </a:pPr>
            <a:r>
              <a:rPr lang="en-ID" b="1"/>
              <a:t>Forward and return links</a:t>
            </a:r>
            <a:r>
              <a:rPr lang="en-ID"/>
              <a:t> use different framing methods:</a:t>
            </a:r>
          </a:p>
          <a:p>
            <a:pPr marL="742950" lvl="1" indent="-285750">
              <a:buFont typeface="Arial" panose="020B0604020202020204" pitchFamily="34" charset="0"/>
              <a:buChar char="•"/>
            </a:pPr>
            <a:r>
              <a:rPr lang="en-ID" b="1"/>
              <a:t>S2X</a:t>
            </a:r>
            <a:r>
              <a:rPr lang="en-ID"/>
              <a:t>: Continuous PLFRAMEs with powerful FEC + ACM</a:t>
            </a:r>
          </a:p>
          <a:p>
            <a:pPr marL="742950" lvl="1" indent="-285750">
              <a:buFont typeface="Arial" panose="020B0604020202020204" pitchFamily="34" charset="0"/>
              <a:buChar char="•"/>
            </a:pPr>
            <a:r>
              <a:rPr lang="en-ID" b="1"/>
              <a:t>RCS2</a:t>
            </a:r>
            <a:r>
              <a:rPr lang="en-ID"/>
              <a:t>: MF-TDMA bursts inside time-frequency slots</a:t>
            </a:r>
          </a:p>
        </p:txBody>
      </p:sp>
      <p:pic>
        <p:nvPicPr>
          <p:cNvPr id="5" name="Picture 4">
            <a:extLst>
              <a:ext uri="{FF2B5EF4-FFF2-40B4-BE49-F238E27FC236}">
                <a16:creationId xmlns:a16="http://schemas.microsoft.com/office/drawing/2014/main" id="{E07B84C2-6623-42EB-8ADF-0C3DE14983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13" y="1405036"/>
            <a:ext cx="3949831" cy="4590051"/>
          </a:xfrm>
          <a:prstGeom prst="rect">
            <a:avLst/>
          </a:prstGeom>
        </p:spPr>
      </p:pic>
    </p:spTree>
    <p:extLst>
      <p:ext uri="{BB962C8B-B14F-4D97-AF65-F5344CB8AC3E}">
        <p14:creationId xmlns:p14="http://schemas.microsoft.com/office/powerpoint/2010/main" val="1886231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F1E3C-8192-4B35-9F2B-3F2B96863D4E}"/>
              </a:ext>
            </a:extLst>
          </p:cNvPr>
          <p:cNvSpPr>
            <a:spLocks noGrp="1"/>
          </p:cNvSpPr>
          <p:nvPr>
            <p:ph type="title"/>
          </p:nvPr>
        </p:nvSpPr>
        <p:spPr/>
        <p:txBody>
          <a:bodyPr/>
          <a:lstStyle/>
          <a:p>
            <a:pPr algn="ctr"/>
            <a:r>
              <a:rPr lang="en-ID"/>
              <a:t>Baseband Frame (BBFRAME) Structure</a:t>
            </a:r>
          </a:p>
        </p:txBody>
      </p:sp>
      <p:sp>
        <p:nvSpPr>
          <p:cNvPr id="3" name="Content Placeholder 2">
            <a:extLst>
              <a:ext uri="{FF2B5EF4-FFF2-40B4-BE49-F238E27FC236}">
                <a16:creationId xmlns:a16="http://schemas.microsoft.com/office/drawing/2014/main" id="{A26D77A9-DE4F-4CD2-B78F-6A2EE34333B0}"/>
              </a:ext>
            </a:extLst>
          </p:cNvPr>
          <p:cNvSpPr>
            <a:spLocks noGrp="1"/>
          </p:cNvSpPr>
          <p:nvPr>
            <p:ph idx="1"/>
          </p:nvPr>
        </p:nvSpPr>
        <p:spPr>
          <a:xfrm>
            <a:off x="838200" y="2605235"/>
            <a:ext cx="10515600" cy="3571728"/>
          </a:xfrm>
        </p:spPr>
        <p:txBody>
          <a:bodyPr>
            <a:normAutofit fontScale="62500" lnSpcReduction="20000"/>
          </a:bodyPr>
          <a:lstStyle/>
          <a:p>
            <a:r>
              <a:rPr lang="en-US"/>
              <a:t>A Baseband Frame is the data container that holds multiple GSE packets (from the convergence layer).</a:t>
            </a:r>
            <a:endParaRPr lang="id-ID"/>
          </a:p>
          <a:p>
            <a:r>
              <a:rPr lang="en-US"/>
              <a:t>It is the input to the physical layer for error protection and modulation.</a:t>
            </a:r>
            <a:endParaRPr lang="id-ID"/>
          </a:p>
          <a:p>
            <a:r>
              <a:rPr lang="en-US"/>
              <a:t>Each BBFRAME is uniform in size (typically ~64K bits) to make signal processing predictable.</a:t>
            </a:r>
            <a:endParaRPr lang="id-ID"/>
          </a:p>
          <a:p>
            <a:pPr marL="0" indent="0">
              <a:buNone/>
            </a:pPr>
            <a:r>
              <a:rPr lang="en-US" b="1"/>
              <a:t>Structure:</a:t>
            </a:r>
          </a:p>
          <a:p>
            <a:pPr>
              <a:buFont typeface="Arial" panose="020B0604020202020204" pitchFamily="34" charset="0"/>
              <a:buChar char="•"/>
            </a:pPr>
            <a:r>
              <a:rPr lang="en-US" b="1"/>
              <a:t>BBHEADER</a:t>
            </a:r>
            <a:endParaRPr lang="en-US"/>
          </a:p>
          <a:p>
            <a:pPr marL="742950" lvl="1" indent="-285750">
              <a:buFont typeface="Arial" panose="020B0604020202020204" pitchFamily="34" charset="0"/>
              <a:buChar char="•"/>
            </a:pPr>
            <a:r>
              <a:rPr lang="en-US"/>
              <a:t>This is like a “label” stuck at the front of the frame.</a:t>
            </a:r>
          </a:p>
          <a:p>
            <a:pPr marL="742950" lvl="1" indent="-285750">
              <a:buFont typeface="Arial" panose="020B0604020202020204" pitchFamily="34" charset="0"/>
              <a:buChar char="•"/>
            </a:pPr>
            <a:r>
              <a:rPr lang="en-US"/>
              <a:t>Contains:</a:t>
            </a:r>
          </a:p>
          <a:p>
            <a:pPr marL="1143000" lvl="2" indent="-228600">
              <a:buFont typeface="Arial" panose="020B0604020202020204" pitchFamily="34" charset="0"/>
              <a:buChar char="•"/>
            </a:pPr>
            <a:r>
              <a:rPr lang="en-US" b="1"/>
              <a:t>Stream type</a:t>
            </a:r>
            <a:r>
              <a:rPr lang="en-US"/>
              <a:t> (is this video? IP data?)</a:t>
            </a:r>
          </a:p>
          <a:p>
            <a:pPr marL="1143000" lvl="2" indent="-228600">
              <a:buFont typeface="Arial" panose="020B0604020202020204" pitchFamily="34" charset="0"/>
              <a:buChar char="•"/>
            </a:pPr>
            <a:r>
              <a:rPr lang="en-US" b="1"/>
              <a:t>Length</a:t>
            </a:r>
            <a:endParaRPr lang="en-US"/>
          </a:p>
          <a:p>
            <a:pPr marL="1143000" lvl="2" indent="-228600">
              <a:buFont typeface="Arial" panose="020B0604020202020204" pitchFamily="34" charset="0"/>
              <a:buChar char="•"/>
            </a:pPr>
            <a:r>
              <a:rPr lang="en-US" b="1"/>
              <a:t>Sync info</a:t>
            </a:r>
            <a:r>
              <a:rPr lang="en-US"/>
              <a:t> (helps the receiver align the bits)</a:t>
            </a:r>
          </a:p>
          <a:p>
            <a:pPr>
              <a:buFont typeface="Arial" panose="020B0604020202020204" pitchFamily="34" charset="0"/>
              <a:buChar char="•"/>
            </a:pPr>
            <a:r>
              <a:rPr lang="en-US" b="1"/>
              <a:t>Payload</a:t>
            </a:r>
            <a:endParaRPr lang="en-US"/>
          </a:p>
          <a:p>
            <a:pPr marL="742950" lvl="1" indent="-285750">
              <a:buFont typeface="Arial" panose="020B0604020202020204" pitchFamily="34" charset="0"/>
              <a:buChar char="•"/>
            </a:pPr>
            <a:r>
              <a:rPr lang="en-US"/>
              <a:t>Made up of one or more </a:t>
            </a:r>
            <a:r>
              <a:rPr lang="en-US" b="1"/>
              <a:t>GSE packets</a:t>
            </a:r>
            <a:endParaRPr lang="en-US"/>
          </a:p>
          <a:p>
            <a:pPr marL="742950" lvl="1" indent="-285750">
              <a:buFont typeface="Arial" panose="020B0604020202020204" pitchFamily="34" charset="0"/>
              <a:buChar char="•"/>
            </a:pPr>
            <a:r>
              <a:rPr lang="en-US"/>
              <a:t>These carry the actual user data (like IP packets, video chunks, etc.)</a:t>
            </a:r>
          </a:p>
          <a:p>
            <a:endParaRPr lang="en-ID"/>
          </a:p>
        </p:txBody>
      </p:sp>
      <p:pic>
        <p:nvPicPr>
          <p:cNvPr id="7" name="Picture 6">
            <a:extLst>
              <a:ext uri="{FF2B5EF4-FFF2-40B4-BE49-F238E27FC236}">
                <a16:creationId xmlns:a16="http://schemas.microsoft.com/office/drawing/2014/main" id="{549F6DFD-F838-4F22-B6B4-AC2CC5653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9350" y="1481285"/>
            <a:ext cx="7353300" cy="1123950"/>
          </a:xfrm>
          <a:prstGeom prst="rect">
            <a:avLst/>
          </a:prstGeom>
        </p:spPr>
      </p:pic>
    </p:spTree>
    <p:extLst>
      <p:ext uri="{BB962C8B-B14F-4D97-AF65-F5344CB8AC3E}">
        <p14:creationId xmlns:p14="http://schemas.microsoft.com/office/powerpoint/2010/main" val="337585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513FC-F2B0-439F-B643-1F65A71DCFD5}"/>
              </a:ext>
            </a:extLst>
          </p:cNvPr>
          <p:cNvSpPr>
            <a:spLocks noGrp="1"/>
          </p:cNvSpPr>
          <p:nvPr>
            <p:ph type="title"/>
          </p:nvPr>
        </p:nvSpPr>
        <p:spPr/>
        <p:txBody>
          <a:bodyPr/>
          <a:lstStyle/>
          <a:p>
            <a:pPr algn="ctr"/>
            <a:r>
              <a:rPr lang="en-US"/>
              <a:t>Forward Error Correction: LDPC + BCH</a:t>
            </a:r>
            <a:endParaRPr lang="en-ID"/>
          </a:p>
        </p:txBody>
      </p:sp>
      <p:sp>
        <p:nvSpPr>
          <p:cNvPr id="3" name="Content Placeholder 2">
            <a:extLst>
              <a:ext uri="{FF2B5EF4-FFF2-40B4-BE49-F238E27FC236}">
                <a16:creationId xmlns:a16="http://schemas.microsoft.com/office/drawing/2014/main" id="{E81722B8-E38F-406E-B645-B973827281E8}"/>
              </a:ext>
            </a:extLst>
          </p:cNvPr>
          <p:cNvSpPr>
            <a:spLocks noGrp="1"/>
          </p:cNvSpPr>
          <p:nvPr>
            <p:ph idx="1"/>
          </p:nvPr>
        </p:nvSpPr>
        <p:spPr>
          <a:xfrm>
            <a:off x="838199" y="2796635"/>
            <a:ext cx="10515599" cy="3380328"/>
          </a:xfrm>
        </p:spPr>
        <p:txBody>
          <a:bodyPr>
            <a:normAutofit fontScale="85000" lnSpcReduction="20000"/>
          </a:bodyPr>
          <a:lstStyle/>
          <a:p>
            <a:pPr marL="0" indent="0">
              <a:buNone/>
            </a:pPr>
            <a:r>
              <a:rPr lang="en-US" b="1"/>
              <a:t>LDPC (Low-Density Parity-Check)</a:t>
            </a:r>
            <a:r>
              <a:rPr lang="id-ID" b="1"/>
              <a:t> </a:t>
            </a:r>
            <a:r>
              <a:rPr lang="en-US"/>
              <a:t>“A smart net that catches most errors.”</a:t>
            </a:r>
            <a:endParaRPr lang="en-US" b="1"/>
          </a:p>
          <a:p>
            <a:pPr>
              <a:buFont typeface="Arial" panose="020B0604020202020204" pitchFamily="34" charset="0"/>
              <a:buChar char="•"/>
            </a:pPr>
            <a:r>
              <a:rPr lang="en-US"/>
              <a:t>Main error correction code.</a:t>
            </a:r>
          </a:p>
          <a:p>
            <a:pPr>
              <a:buFont typeface="Arial" panose="020B0604020202020204" pitchFamily="34" charset="0"/>
              <a:buChar char="•"/>
            </a:pPr>
            <a:r>
              <a:rPr lang="en-US"/>
              <a:t>Adds redundancy in a </a:t>
            </a:r>
            <a:r>
              <a:rPr lang="en-US" b="1"/>
              <a:t>clever, sparse matrix pattern</a:t>
            </a:r>
            <a:r>
              <a:rPr lang="en-US"/>
              <a:t> that makes decoding efficient.</a:t>
            </a:r>
          </a:p>
          <a:p>
            <a:pPr>
              <a:buFont typeface="Arial" panose="020B0604020202020204" pitchFamily="34" charset="0"/>
              <a:buChar char="•"/>
            </a:pPr>
            <a:r>
              <a:rPr lang="en-US"/>
              <a:t>Excellent for </a:t>
            </a:r>
            <a:r>
              <a:rPr lang="en-US" b="1"/>
              <a:t>correcting many errors</a:t>
            </a:r>
            <a:r>
              <a:rPr lang="en-US"/>
              <a:t> with low overhead.</a:t>
            </a:r>
          </a:p>
          <a:p>
            <a:pPr marL="0" indent="0">
              <a:buNone/>
            </a:pPr>
            <a:r>
              <a:rPr lang="en-US" b="1"/>
              <a:t>BCH (Bose–Chaudhuri–Hocquenghem)</a:t>
            </a:r>
            <a:r>
              <a:rPr lang="id-ID" b="1"/>
              <a:t> </a:t>
            </a:r>
            <a:r>
              <a:rPr lang="en-US"/>
              <a:t>“A final quality check at the door.”</a:t>
            </a:r>
            <a:endParaRPr lang="en-US" b="1"/>
          </a:p>
          <a:p>
            <a:pPr>
              <a:buFont typeface="Arial" panose="020B0604020202020204" pitchFamily="34" charset="0"/>
              <a:buChar char="•"/>
            </a:pPr>
            <a:r>
              <a:rPr lang="en-US"/>
              <a:t>Outer error correction layer.</a:t>
            </a:r>
          </a:p>
          <a:p>
            <a:pPr>
              <a:buFont typeface="Arial" panose="020B0604020202020204" pitchFamily="34" charset="0"/>
              <a:buChar char="•"/>
            </a:pPr>
            <a:r>
              <a:rPr lang="en-US"/>
              <a:t>Adds </a:t>
            </a:r>
            <a:r>
              <a:rPr lang="en-US" b="1"/>
              <a:t>a second line of defense</a:t>
            </a:r>
            <a:r>
              <a:rPr lang="en-US"/>
              <a:t> to clean up any errors LDPC couldn’t fix.</a:t>
            </a:r>
          </a:p>
          <a:p>
            <a:pPr>
              <a:buFont typeface="Arial" panose="020B0604020202020204" pitchFamily="34" charset="0"/>
              <a:buChar char="•"/>
            </a:pPr>
            <a:r>
              <a:rPr lang="en-US"/>
              <a:t>Also helps in </a:t>
            </a:r>
            <a:r>
              <a:rPr lang="en-US" b="1"/>
              <a:t>detecting uncorrectable errors</a:t>
            </a:r>
            <a:r>
              <a:rPr lang="en-US"/>
              <a:t>.</a:t>
            </a:r>
          </a:p>
          <a:p>
            <a:endParaRPr lang="en-ID"/>
          </a:p>
        </p:txBody>
      </p:sp>
      <p:pic>
        <p:nvPicPr>
          <p:cNvPr id="4" name="Picture 3">
            <a:extLst>
              <a:ext uri="{FF2B5EF4-FFF2-40B4-BE49-F238E27FC236}">
                <a16:creationId xmlns:a16="http://schemas.microsoft.com/office/drawing/2014/main" id="{8EDBE5C6-E564-448E-B1F1-A3FD568C9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1471072"/>
            <a:ext cx="8534400" cy="1276350"/>
          </a:xfrm>
          <a:prstGeom prst="rect">
            <a:avLst/>
          </a:prstGeom>
        </p:spPr>
      </p:pic>
    </p:spTree>
    <p:extLst>
      <p:ext uri="{BB962C8B-B14F-4D97-AF65-F5344CB8AC3E}">
        <p14:creationId xmlns:p14="http://schemas.microsoft.com/office/powerpoint/2010/main" val="39544846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B3E18-549D-408F-B27D-1E351F49D02D}"/>
              </a:ext>
            </a:extLst>
          </p:cNvPr>
          <p:cNvSpPr>
            <a:spLocks noGrp="1"/>
          </p:cNvSpPr>
          <p:nvPr>
            <p:ph type="title"/>
          </p:nvPr>
        </p:nvSpPr>
        <p:spPr>
          <a:xfrm>
            <a:off x="838200" y="39989"/>
            <a:ext cx="10515600" cy="1325563"/>
          </a:xfrm>
        </p:spPr>
        <p:txBody>
          <a:bodyPr/>
          <a:lstStyle/>
          <a:p>
            <a:pPr algn="ctr"/>
            <a:r>
              <a:rPr lang="en-ID"/>
              <a:t>PLFRAME Composition &amp; PLS Header</a:t>
            </a:r>
          </a:p>
        </p:txBody>
      </p:sp>
      <p:sp>
        <p:nvSpPr>
          <p:cNvPr id="3" name="Content Placeholder 2">
            <a:extLst>
              <a:ext uri="{FF2B5EF4-FFF2-40B4-BE49-F238E27FC236}">
                <a16:creationId xmlns:a16="http://schemas.microsoft.com/office/drawing/2014/main" id="{04842CCD-E2C5-4360-8F01-1062B86E323E}"/>
              </a:ext>
            </a:extLst>
          </p:cNvPr>
          <p:cNvSpPr>
            <a:spLocks noGrp="1"/>
          </p:cNvSpPr>
          <p:nvPr>
            <p:ph idx="1"/>
          </p:nvPr>
        </p:nvSpPr>
        <p:spPr>
          <a:xfrm>
            <a:off x="838200" y="2960015"/>
            <a:ext cx="5257800" cy="3216947"/>
          </a:xfrm>
        </p:spPr>
        <p:txBody>
          <a:bodyPr>
            <a:normAutofit fontScale="62500" lnSpcReduction="20000"/>
          </a:bodyPr>
          <a:lstStyle/>
          <a:p>
            <a:pPr marL="0" indent="0">
              <a:buNone/>
            </a:pPr>
            <a:r>
              <a:rPr lang="en-US" b="1"/>
              <a:t>What Does the PLS Header Do?</a:t>
            </a:r>
          </a:p>
          <a:p>
            <a:pPr>
              <a:buFont typeface="Arial" panose="020B0604020202020204" pitchFamily="34" charset="0"/>
              <a:buChar char="•"/>
            </a:pPr>
            <a:r>
              <a:rPr lang="en-US"/>
              <a:t>Think of it as a </a:t>
            </a:r>
            <a:r>
              <a:rPr lang="en-US" b="1"/>
              <a:t>map or instruction sheet</a:t>
            </a:r>
            <a:r>
              <a:rPr lang="en-US"/>
              <a:t> for the receiver.</a:t>
            </a:r>
          </a:p>
          <a:p>
            <a:pPr>
              <a:buFont typeface="Arial" panose="020B0604020202020204" pitchFamily="34" charset="0"/>
              <a:buChar char="•"/>
            </a:pPr>
            <a:r>
              <a:rPr lang="en-US"/>
              <a:t>It tells the receiver how to </a:t>
            </a:r>
            <a:r>
              <a:rPr lang="en-US" b="1"/>
              <a:t>decode and demodulate</a:t>
            </a:r>
            <a:r>
              <a:rPr lang="en-US"/>
              <a:t> the incoming signal.</a:t>
            </a:r>
          </a:p>
          <a:p>
            <a:pPr>
              <a:buFont typeface="Arial" panose="020B0604020202020204" pitchFamily="34" charset="0"/>
              <a:buChar char="•"/>
            </a:pPr>
            <a:r>
              <a:rPr lang="en-US"/>
              <a:t>Contains:</a:t>
            </a:r>
          </a:p>
          <a:p>
            <a:pPr marL="742950" lvl="1" indent="-285750">
              <a:buFont typeface="Arial" panose="020B0604020202020204" pitchFamily="34" charset="0"/>
              <a:buChar char="•"/>
            </a:pPr>
            <a:r>
              <a:rPr lang="en-US" b="1"/>
              <a:t>MODCOD info</a:t>
            </a:r>
            <a:r>
              <a:rPr lang="en-US"/>
              <a:t> (what modulation + FEC to use: QPSK, 8PSK, 16APSK, etc.)</a:t>
            </a:r>
          </a:p>
          <a:p>
            <a:pPr marL="742950" lvl="1" indent="-285750">
              <a:buFont typeface="Arial" panose="020B0604020202020204" pitchFamily="34" charset="0"/>
              <a:buChar char="•"/>
            </a:pPr>
            <a:r>
              <a:rPr lang="en-US" b="1"/>
              <a:t>Frame type</a:t>
            </a:r>
            <a:r>
              <a:rPr lang="en-US"/>
              <a:t> (short or normal)</a:t>
            </a:r>
          </a:p>
          <a:p>
            <a:pPr marL="742950" lvl="1" indent="-285750">
              <a:buFont typeface="Arial" panose="020B0604020202020204" pitchFamily="34" charset="0"/>
              <a:buChar char="•"/>
            </a:pPr>
            <a:r>
              <a:rPr lang="en-US" b="1"/>
              <a:t>Stream ID or frame count info</a:t>
            </a:r>
            <a:endParaRPr lang="en-US"/>
          </a:p>
          <a:p>
            <a:pPr marL="0" indent="0">
              <a:buNone/>
            </a:pPr>
            <a:r>
              <a:rPr lang="en-US"/>
              <a:t>Without the PLS Header, the receiver wouldn’t know how to begin decoding.</a:t>
            </a:r>
          </a:p>
          <a:p>
            <a:endParaRPr lang="en-ID"/>
          </a:p>
        </p:txBody>
      </p:sp>
      <p:pic>
        <p:nvPicPr>
          <p:cNvPr id="6" name="Picture 5">
            <a:extLst>
              <a:ext uri="{FF2B5EF4-FFF2-40B4-BE49-F238E27FC236}">
                <a16:creationId xmlns:a16="http://schemas.microsoft.com/office/drawing/2014/main" id="{2360225B-A123-4768-9965-8CFD0104B7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69626"/>
            <a:ext cx="12192000" cy="1902169"/>
          </a:xfrm>
          <a:prstGeom prst="rect">
            <a:avLst/>
          </a:prstGeom>
        </p:spPr>
      </p:pic>
      <p:sp>
        <p:nvSpPr>
          <p:cNvPr id="7" name="Content Placeholder 2">
            <a:extLst>
              <a:ext uri="{FF2B5EF4-FFF2-40B4-BE49-F238E27FC236}">
                <a16:creationId xmlns:a16="http://schemas.microsoft.com/office/drawing/2014/main" id="{C259B9CE-EA75-4853-AB90-36A7A739F546}"/>
              </a:ext>
            </a:extLst>
          </p:cNvPr>
          <p:cNvSpPr txBox="1">
            <a:spLocks/>
          </p:cNvSpPr>
          <p:nvPr/>
        </p:nvSpPr>
        <p:spPr>
          <a:xfrm>
            <a:off x="6096000" y="2960015"/>
            <a:ext cx="5257800" cy="32169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t> What Are Pilot Symbols?</a:t>
            </a:r>
          </a:p>
          <a:p>
            <a:pPr>
              <a:buFont typeface="Arial" panose="020B0604020202020204" pitchFamily="34" charset="0"/>
              <a:buChar char="•"/>
            </a:pPr>
            <a:r>
              <a:rPr lang="en-US" sz="1800"/>
              <a:t>Known, fixed patterns inserted at regular intervals.</a:t>
            </a:r>
          </a:p>
          <a:p>
            <a:pPr>
              <a:buFont typeface="Arial" panose="020B0604020202020204" pitchFamily="34" charset="0"/>
              <a:buChar char="•"/>
            </a:pPr>
            <a:r>
              <a:rPr lang="en-US" sz="1800"/>
              <a:t>Help the receiver </a:t>
            </a:r>
            <a:r>
              <a:rPr lang="en-US" sz="1800" b="1"/>
              <a:t>lock on</a:t>
            </a:r>
            <a:r>
              <a:rPr lang="en-US" sz="1800"/>
              <a:t> to the signal (like adjusting a radio tuner).</a:t>
            </a:r>
          </a:p>
          <a:p>
            <a:pPr>
              <a:buFont typeface="Arial" panose="020B0604020202020204" pitchFamily="34" charset="0"/>
              <a:buChar char="•"/>
            </a:pPr>
            <a:r>
              <a:rPr lang="en-US" sz="1800"/>
              <a:t>Used for:</a:t>
            </a:r>
          </a:p>
          <a:p>
            <a:pPr marL="742950" lvl="1" indent="-285750">
              <a:buFont typeface="Arial" panose="020B0604020202020204" pitchFamily="34" charset="0"/>
              <a:buChar char="•"/>
            </a:pPr>
            <a:r>
              <a:rPr lang="en-US" sz="1500"/>
              <a:t>Timing recovery</a:t>
            </a:r>
          </a:p>
          <a:p>
            <a:pPr marL="742950" lvl="1" indent="-285750">
              <a:buFont typeface="Arial" panose="020B0604020202020204" pitchFamily="34" charset="0"/>
              <a:buChar char="•"/>
            </a:pPr>
            <a:r>
              <a:rPr lang="en-US" sz="1500"/>
              <a:t>Channel estimation</a:t>
            </a:r>
          </a:p>
          <a:p>
            <a:pPr marL="742950" lvl="1" indent="-285750">
              <a:buFont typeface="Arial" panose="020B0604020202020204" pitchFamily="34" charset="0"/>
              <a:buChar char="•"/>
            </a:pPr>
            <a:r>
              <a:rPr lang="en-US" sz="1500"/>
              <a:t>Frequency synchronization</a:t>
            </a:r>
          </a:p>
        </p:txBody>
      </p:sp>
    </p:spTree>
    <p:extLst>
      <p:ext uri="{BB962C8B-B14F-4D97-AF65-F5344CB8AC3E}">
        <p14:creationId xmlns:p14="http://schemas.microsoft.com/office/powerpoint/2010/main" val="3881320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9C7C-BE1C-4901-9740-F4E14A2AD9E6}"/>
              </a:ext>
            </a:extLst>
          </p:cNvPr>
          <p:cNvSpPr>
            <a:spLocks noGrp="1"/>
          </p:cNvSpPr>
          <p:nvPr>
            <p:ph type="title"/>
          </p:nvPr>
        </p:nvSpPr>
        <p:spPr/>
        <p:txBody>
          <a:bodyPr/>
          <a:lstStyle/>
          <a:p>
            <a:pPr algn="ctr"/>
            <a:r>
              <a:rPr lang="en-US"/>
              <a:t>MODCOD Mapping &amp; ACM in DVB-S2X</a:t>
            </a:r>
            <a:endParaRPr lang="en-ID"/>
          </a:p>
        </p:txBody>
      </p:sp>
      <p:sp>
        <p:nvSpPr>
          <p:cNvPr id="3" name="Content Placeholder 2">
            <a:extLst>
              <a:ext uri="{FF2B5EF4-FFF2-40B4-BE49-F238E27FC236}">
                <a16:creationId xmlns:a16="http://schemas.microsoft.com/office/drawing/2014/main" id="{A7AA6815-8A91-4B32-B655-79449CBAAA78}"/>
              </a:ext>
            </a:extLst>
          </p:cNvPr>
          <p:cNvSpPr>
            <a:spLocks noGrp="1"/>
          </p:cNvSpPr>
          <p:nvPr>
            <p:ph idx="1"/>
          </p:nvPr>
        </p:nvSpPr>
        <p:spPr>
          <a:xfrm>
            <a:off x="5710424" y="1825625"/>
            <a:ext cx="6332894" cy="4351338"/>
          </a:xfrm>
        </p:spPr>
        <p:txBody>
          <a:bodyPr>
            <a:normAutofit fontScale="70000" lnSpcReduction="20000"/>
          </a:bodyPr>
          <a:lstStyle/>
          <a:p>
            <a:pPr marL="0" indent="0">
              <a:buNone/>
            </a:pPr>
            <a:r>
              <a:rPr lang="en-US" b="1"/>
              <a:t>What is MODCOD?</a:t>
            </a:r>
          </a:p>
          <a:p>
            <a:pPr>
              <a:buFont typeface="Arial" panose="020B0604020202020204" pitchFamily="34" charset="0"/>
              <a:buChar char="•"/>
            </a:pPr>
            <a:r>
              <a:rPr lang="en-US"/>
              <a:t>MODCOD = Modulation + Coding</a:t>
            </a:r>
          </a:p>
          <a:p>
            <a:pPr>
              <a:buFont typeface="Arial" panose="020B0604020202020204" pitchFamily="34" charset="0"/>
              <a:buChar char="•"/>
            </a:pPr>
            <a:r>
              <a:rPr lang="en-US"/>
              <a:t>It's a combo of:</a:t>
            </a:r>
          </a:p>
          <a:p>
            <a:pPr marL="742950" lvl="1" indent="-285750">
              <a:buFont typeface="Arial" panose="020B0604020202020204" pitchFamily="34" charset="0"/>
              <a:buChar char="•"/>
            </a:pPr>
            <a:r>
              <a:rPr lang="en-US"/>
              <a:t>Modulation type (QPSK, 8PSK, 16APSK, 32APSK, 64APSK)</a:t>
            </a:r>
          </a:p>
          <a:p>
            <a:pPr marL="742950" lvl="1" indent="-285750">
              <a:buFont typeface="Arial" panose="020B0604020202020204" pitchFamily="34" charset="0"/>
              <a:buChar char="•"/>
            </a:pPr>
            <a:r>
              <a:rPr lang="en-US"/>
              <a:t>Coding rate (e.g. 1/2, 3/4, 5/6 – how much redundancy is used)</a:t>
            </a:r>
            <a:endParaRPr lang="id-ID"/>
          </a:p>
          <a:p>
            <a:pPr marL="0" indent="0">
              <a:buNone/>
            </a:pPr>
            <a:r>
              <a:rPr lang="en-ID" b="1"/>
              <a:t>How MODCOD is Selected:</a:t>
            </a:r>
          </a:p>
          <a:p>
            <a:pPr>
              <a:buFont typeface="Arial" panose="020B0604020202020204" pitchFamily="34" charset="0"/>
              <a:buChar char="•"/>
            </a:pPr>
            <a:r>
              <a:rPr lang="en-ID"/>
              <a:t>The Gateway monitors each user’s SNR (Signal-to-Noise Ratio).</a:t>
            </a:r>
          </a:p>
          <a:p>
            <a:pPr>
              <a:buFont typeface="Arial" panose="020B0604020202020204" pitchFamily="34" charset="0"/>
              <a:buChar char="•"/>
            </a:pPr>
            <a:r>
              <a:rPr lang="en-ID"/>
              <a:t>Based on the SNR, it picks the best MODCOD that:</a:t>
            </a:r>
          </a:p>
          <a:p>
            <a:pPr marL="742950" lvl="1" indent="-285750">
              <a:buFont typeface="Arial" panose="020B0604020202020204" pitchFamily="34" charset="0"/>
              <a:buChar char="•"/>
            </a:pPr>
            <a:r>
              <a:rPr lang="en-ID"/>
              <a:t>Maximizes throughput</a:t>
            </a:r>
          </a:p>
          <a:p>
            <a:pPr marL="742950" lvl="1" indent="-285750">
              <a:buFont typeface="Arial" panose="020B0604020202020204" pitchFamily="34" charset="0"/>
              <a:buChar char="•"/>
            </a:pPr>
            <a:r>
              <a:rPr lang="en-ID"/>
              <a:t>Maintains reliable reception</a:t>
            </a:r>
          </a:p>
          <a:p>
            <a:r>
              <a:rPr lang="en-ID"/>
              <a:t>Higher SNR → more efficient MODCOD</a:t>
            </a:r>
            <a:br>
              <a:rPr lang="en-ID"/>
            </a:br>
            <a:r>
              <a:rPr lang="en-ID"/>
              <a:t>Lower SNR → robust but slower MODCOD</a:t>
            </a:r>
          </a:p>
          <a:p>
            <a:pPr marL="457200" lvl="1" indent="0">
              <a:buNone/>
            </a:pPr>
            <a:endParaRPr lang="en-US"/>
          </a:p>
          <a:p>
            <a:endParaRPr lang="en-ID"/>
          </a:p>
        </p:txBody>
      </p:sp>
      <p:pic>
        <p:nvPicPr>
          <p:cNvPr id="4" name="Picture 3">
            <a:extLst>
              <a:ext uri="{FF2B5EF4-FFF2-40B4-BE49-F238E27FC236}">
                <a16:creationId xmlns:a16="http://schemas.microsoft.com/office/drawing/2014/main" id="{6C3B309B-E6D9-4556-9FBD-D091903BC1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535" y="2213033"/>
            <a:ext cx="5284680" cy="2974895"/>
          </a:xfrm>
          <a:prstGeom prst="rect">
            <a:avLst/>
          </a:prstGeom>
        </p:spPr>
      </p:pic>
    </p:spTree>
    <p:extLst>
      <p:ext uri="{BB962C8B-B14F-4D97-AF65-F5344CB8AC3E}">
        <p14:creationId xmlns:p14="http://schemas.microsoft.com/office/powerpoint/2010/main" val="35035665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C5689-474A-4C31-8972-76499F1D6584}"/>
              </a:ext>
            </a:extLst>
          </p:cNvPr>
          <p:cNvSpPr>
            <a:spLocks noGrp="1"/>
          </p:cNvSpPr>
          <p:nvPr>
            <p:ph type="title"/>
          </p:nvPr>
        </p:nvSpPr>
        <p:spPr/>
        <p:txBody>
          <a:bodyPr/>
          <a:lstStyle/>
          <a:p>
            <a:pPr algn="ctr"/>
            <a:r>
              <a:rPr lang="en-ID"/>
              <a:t>Superframe Structur</a:t>
            </a:r>
            <a:r>
              <a:rPr lang="id-ID"/>
              <a:t>e</a:t>
            </a:r>
            <a:endParaRPr lang="en-ID"/>
          </a:p>
        </p:txBody>
      </p:sp>
      <p:sp>
        <p:nvSpPr>
          <p:cNvPr id="3" name="Content Placeholder 2">
            <a:extLst>
              <a:ext uri="{FF2B5EF4-FFF2-40B4-BE49-F238E27FC236}">
                <a16:creationId xmlns:a16="http://schemas.microsoft.com/office/drawing/2014/main" id="{6CF82118-BA2F-454A-ADAF-27D201216ED7}"/>
              </a:ext>
            </a:extLst>
          </p:cNvPr>
          <p:cNvSpPr>
            <a:spLocks noGrp="1"/>
          </p:cNvSpPr>
          <p:nvPr>
            <p:ph idx="1"/>
          </p:nvPr>
        </p:nvSpPr>
        <p:spPr>
          <a:xfrm>
            <a:off x="5998028" y="1825625"/>
            <a:ext cx="5355771" cy="4351338"/>
          </a:xfrm>
        </p:spPr>
        <p:txBody>
          <a:bodyPr>
            <a:normAutofit fontScale="85000" lnSpcReduction="20000"/>
          </a:bodyPr>
          <a:lstStyle/>
          <a:p>
            <a:r>
              <a:rPr lang="en-US"/>
              <a:t>A Superframe is a structured sequence of PLFRAMEs used for efficient and synchronized transmission across beams.</a:t>
            </a:r>
          </a:p>
          <a:p>
            <a:r>
              <a:rPr lang="en-US"/>
              <a:t>It begins with a Start of Superframe (SoSF) marker to help terminals lock onto timing.</a:t>
            </a:r>
          </a:p>
          <a:p>
            <a:r>
              <a:rPr lang="en-US"/>
              <a:t>Pilot symbols (P) are inserted between frames to aid channel estimation and demodulation.</a:t>
            </a:r>
          </a:p>
          <a:p>
            <a:r>
              <a:rPr lang="en-US"/>
              <a:t>This structure ensures all beams (e.g., Beam A and B) stay aligned, which is essential for techniques like precoding and multi-beam coordination.</a:t>
            </a:r>
            <a:endParaRPr lang="en-ID"/>
          </a:p>
        </p:txBody>
      </p:sp>
      <p:pic>
        <p:nvPicPr>
          <p:cNvPr id="6" name="Picture 5">
            <a:extLst>
              <a:ext uri="{FF2B5EF4-FFF2-40B4-BE49-F238E27FC236}">
                <a16:creationId xmlns:a16="http://schemas.microsoft.com/office/drawing/2014/main" id="{A1D14A79-1049-403F-A22F-80DC74A28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725" y="1825625"/>
            <a:ext cx="5570760" cy="3966482"/>
          </a:xfrm>
          <a:prstGeom prst="rect">
            <a:avLst/>
          </a:prstGeom>
        </p:spPr>
      </p:pic>
    </p:spTree>
    <p:extLst>
      <p:ext uri="{BB962C8B-B14F-4D97-AF65-F5344CB8AC3E}">
        <p14:creationId xmlns:p14="http://schemas.microsoft.com/office/powerpoint/2010/main" val="4268436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BBC8E-368A-42B0-9A6C-92DB67C675A7}"/>
              </a:ext>
            </a:extLst>
          </p:cNvPr>
          <p:cNvSpPr>
            <a:spLocks noGrp="1"/>
          </p:cNvSpPr>
          <p:nvPr>
            <p:ph type="title"/>
          </p:nvPr>
        </p:nvSpPr>
        <p:spPr/>
        <p:txBody>
          <a:bodyPr/>
          <a:lstStyle/>
          <a:p>
            <a:pPr algn="ctr"/>
            <a:r>
              <a:rPr lang="en-ID"/>
              <a:t>Return Link Burst Framing (MF-TDMA in DVB-RCS2)</a:t>
            </a:r>
          </a:p>
        </p:txBody>
      </p:sp>
      <p:pic>
        <p:nvPicPr>
          <p:cNvPr id="4" name="Picture 3">
            <a:extLst>
              <a:ext uri="{FF2B5EF4-FFF2-40B4-BE49-F238E27FC236}">
                <a16:creationId xmlns:a16="http://schemas.microsoft.com/office/drawing/2014/main" id="{AC61A123-05B0-442C-94E8-C308F2AC9D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198" y="2079069"/>
            <a:ext cx="6478394" cy="3383697"/>
          </a:xfrm>
          <a:prstGeom prst="rect">
            <a:avLst/>
          </a:prstGeom>
        </p:spPr>
      </p:pic>
      <p:sp>
        <p:nvSpPr>
          <p:cNvPr id="5" name="Content Placeholder 2">
            <a:extLst>
              <a:ext uri="{FF2B5EF4-FFF2-40B4-BE49-F238E27FC236}">
                <a16:creationId xmlns:a16="http://schemas.microsoft.com/office/drawing/2014/main" id="{B4F10F5F-BFC3-4641-89A3-79B3FBE7BEEB}"/>
              </a:ext>
            </a:extLst>
          </p:cNvPr>
          <p:cNvSpPr txBox="1">
            <a:spLocks/>
          </p:cNvSpPr>
          <p:nvPr/>
        </p:nvSpPr>
        <p:spPr>
          <a:xfrm>
            <a:off x="6084849" y="4311225"/>
            <a:ext cx="5257800" cy="45205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500"/>
          </a:p>
        </p:txBody>
      </p:sp>
      <p:sp>
        <p:nvSpPr>
          <p:cNvPr id="7" name="Rectangle 2">
            <a:extLst>
              <a:ext uri="{FF2B5EF4-FFF2-40B4-BE49-F238E27FC236}">
                <a16:creationId xmlns:a16="http://schemas.microsoft.com/office/drawing/2014/main" id="{E6BF3EE1-890E-416D-A317-DADC219F2C16}"/>
              </a:ext>
            </a:extLst>
          </p:cNvPr>
          <p:cNvSpPr>
            <a:spLocks noChangeArrowheads="1"/>
          </p:cNvSpPr>
          <p:nvPr/>
        </p:nvSpPr>
        <p:spPr bwMode="auto">
          <a:xfrm>
            <a:off x="6609592" y="2339756"/>
            <a:ext cx="52578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Multi-Frequency Time Division Multiple Access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a:t>
            </a:r>
            <a:r>
              <a:rPr kumimoji="0" lang="en-US" altLang="en-US" sz="1800" b="1" i="0" u="none" strike="noStrike" cap="none" normalizeH="0" baseline="0">
                <a:ln>
                  <a:noFill/>
                </a:ln>
                <a:solidFill>
                  <a:schemeClr val="tx1"/>
                </a:solidFill>
                <a:effectLst/>
                <a:latin typeface="Arial" panose="020B0604020202020204" pitchFamily="34" charset="0"/>
              </a:rPr>
              <a:t>sharing method</a:t>
            </a:r>
            <a:r>
              <a:rPr kumimoji="0" lang="en-US" altLang="en-US" sz="1800" b="0" i="0" u="none" strike="noStrike" cap="none" normalizeH="0" baseline="0">
                <a:ln>
                  <a:noFill/>
                </a:ln>
                <a:solidFill>
                  <a:schemeClr val="tx1"/>
                </a:solidFill>
                <a:effectLst/>
                <a:latin typeface="Arial" panose="020B0604020202020204" pitchFamily="34" charset="0"/>
              </a:rPr>
              <a:t> that allows many user terminals (RCSTs) to </a:t>
            </a:r>
            <a:r>
              <a:rPr kumimoji="0" lang="en-US" altLang="en-US" sz="1800" b="1" i="0" u="none" strike="noStrike" cap="none" normalizeH="0" baseline="0">
                <a:ln>
                  <a:noFill/>
                </a:ln>
                <a:solidFill>
                  <a:schemeClr val="tx1"/>
                </a:solidFill>
                <a:effectLst/>
                <a:latin typeface="Arial" panose="020B0604020202020204" pitchFamily="34" charset="0"/>
              </a:rPr>
              <a:t>take turns</a:t>
            </a:r>
            <a:r>
              <a:rPr kumimoji="0" lang="en-US" altLang="en-US" sz="1800" b="0" i="0" u="none" strike="noStrike" cap="none" normalizeH="0" baseline="0">
                <a:ln>
                  <a:noFill/>
                </a:ln>
                <a:solidFill>
                  <a:schemeClr val="tx1"/>
                </a:solidFill>
                <a:effectLst/>
                <a:latin typeface="Arial" panose="020B0604020202020204" pitchFamily="34" charset="0"/>
              </a:rPr>
              <a:t> sending data on different </a:t>
            </a:r>
            <a:r>
              <a:rPr kumimoji="0" lang="en-US" altLang="en-US" sz="1800" b="1" i="0" u="none" strike="noStrike" cap="none" normalizeH="0" baseline="0">
                <a:ln>
                  <a:noFill/>
                </a:ln>
                <a:solidFill>
                  <a:schemeClr val="tx1"/>
                </a:solidFill>
                <a:effectLst/>
                <a:latin typeface="Arial" panose="020B0604020202020204" pitchFamily="34" charset="0"/>
              </a:rPr>
              <a:t>time slots</a:t>
            </a:r>
            <a:r>
              <a:rPr kumimoji="0" lang="en-US" altLang="en-US" sz="1800" b="0" i="0" u="none" strike="noStrike" cap="none" normalizeH="0" baseline="0">
                <a:ln>
                  <a:noFill/>
                </a:ln>
                <a:solidFill>
                  <a:schemeClr val="tx1"/>
                </a:solidFill>
                <a:effectLst/>
                <a:latin typeface="Arial" panose="020B0604020202020204" pitchFamily="34" charset="0"/>
              </a:rPr>
              <a:t> and </a:t>
            </a:r>
            <a:r>
              <a:rPr kumimoji="0" lang="en-US" altLang="en-US" sz="1800" b="1" i="0" u="none" strike="noStrike" cap="none" normalizeH="0" baseline="0">
                <a:ln>
                  <a:noFill/>
                </a:ln>
                <a:solidFill>
                  <a:schemeClr val="tx1"/>
                </a:solidFill>
                <a:effectLst/>
                <a:latin typeface="Arial" panose="020B0604020202020204" pitchFamily="34" charset="0"/>
              </a:rPr>
              <a:t>frequencies</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Like a </a:t>
            </a:r>
            <a:r>
              <a:rPr kumimoji="0" lang="en-US" altLang="en-US" sz="1800" b="1" i="0" u="none" strike="noStrike" cap="none" normalizeH="0" baseline="0">
                <a:ln>
                  <a:noFill/>
                </a:ln>
                <a:solidFill>
                  <a:schemeClr val="tx1"/>
                </a:solidFill>
                <a:effectLst/>
                <a:latin typeface="Arial" panose="020B0604020202020204" pitchFamily="34" charset="0"/>
              </a:rPr>
              <a:t>schedule of parking spots</a:t>
            </a:r>
            <a:r>
              <a:rPr kumimoji="0" lang="en-US" altLang="en-US" sz="1800" b="0" i="0" u="none" strike="noStrike" cap="none" normalizeH="0" baseline="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Each user gets a “slot” to send their burst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At a set time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On a specific frequency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7075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41D8-D8A9-4E73-BE96-145BF59CB692}"/>
              </a:ext>
            </a:extLst>
          </p:cNvPr>
          <p:cNvSpPr>
            <a:spLocks noGrp="1"/>
          </p:cNvSpPr>
          <p:nvPr>
            <p:ph type="title"/>
          </p:nvPr>
        </p:nvSpPr>
        <p:spPr/>
        <p:txBody>
          <a:bodyPr/>
          <a:lstStyle/>
          <a:p>
            <a:pPr algn="ctr"/>
            <a:r>
              <a:rPr lang="en-US"/>
              <a:t>MF-TDMA Burst Grid in Return Link (DVB-RCS2)</a:t>
            </a:r>
            <a:endParaRPr lang="en-ID"/>
          </a:p>
        </p:txBody>
      </p:sp>
      <p:sp>
        <p:nvSpPr>
          <p:cNvPr id="3" name="Content Placeholder 2">
            <a:extLst>
              <a:ext uri="{FF2B5EF4-FFF2-40B4-BE49-F238E27FC236}">
                <a16:creationId xmlns:a16="http://schemas.microsoft.com/office/drawing/2014/main" id="{38635F95-267C-46A1-8908-A14E7483942F}"/>
              </a:ext>
            </a:extLst>
          </p:cNvPr>
          <p:cNvSpPr>
            <a:spLocks noGrp="1"/>
          </p:cNvSpPr>
          <p:nvPr>
            <p:ph idx="1"/>
          </p:nvPr>
        </p:nvSpPr>
        <p:spPr>
          <a:xfrm>
            <a:off x="6713034" y="1836776"/>
            <a:ext cx="5131420" cy="4351338"/>
          </a:xfrm>
        </p:spPr>
        <p:txBody>
          <a:bodyPr>
            <a:normAutofit fontScale="85000" lnSpcReduction="10000"/>
          </a:bodyPr>
          <a:lstStyle/>
          <a:p>
            <a:pPr marL="0" indent="0">
              <a:buNone/>
            </a:pPr>
            <a:r>
              <a:rPr lang="en-US" b="1"/>
              <a:t>What is the Burst Grid?</a:t>
            </a:r>
          </a:p>
          <a:p>
            <a:pPr>
              <a:buFont typeface="Arial" panose="020B0604020202020204" pitchFamily="34" charset="0"/>
              <a:buChar char="•"/>
            </a:pPr>
            <a:r>
              <a:rPr lang="en-US"/>
              <a:t>The return link uses </a:t>
            </a:r>
            <a:r>
              <a:rPr lang="en-US" b="1"/>
              <a:t>MF-TDMA</a:t>
            </a:r>
            <a:r>
              <a:rPr lang="en-US"/>
              <a:t>:</a:t>
            </a:r>
            <a:br>
              <a:rPr lang="en-US"/>
            </a:br>
            <a:r>
              <a:rPr lang="en-US" b="1"/>
              <a:t>M</a:t>
            </a:r>
            <a:r>
              <a:rPr lang="en-US"/>
              <a:t>ulti-</a:t>
            </a:r>
            <a:r>
              <a:rPr lang="en-US" b="1"/>
              <a:t>F</a:t>
            </a:r>
            <a:r>
              <a:rPr lang="en-US"/>
              <a:t>requency </a:t>
            </a:r>
            <a:r>
              <a:rPr lang="en-US" b="1"/>
              <a:t>T</a:t>
            </a:r>
            <a:r>
              <a:rPr lang="en-US"/>
              <a:t>ime </a:t>
            </a:r>
            <a:r>
              <a:rPr lang="en-US" b="1"/>
              <a:t>D</a:t>
            </a:r>
            <a:r>
              <a:rPr lang="en-US"/>
              <a:t>ivision </a:t>
            </a:r>
            <a:r>
              <a:rPr lang="en-US" b="1"/>
              <a:t>M</a:t>
            </a:r>
            <a:r>
              <a:rPr lang="en-US"/>
              <a:t>ultiple </a:t>
            </a:r>
            <a:r>
              <a:rPr lang="en-US" b="1"/>
              <a:t>A</a:t>
            </a:r>
            <a:r>
              <a:rPr lang="en-US"/>
              <a:t>ccess.</a:t>
            </a:r>
          </a:p>
          <a:p>
            <a:pPr>
              <a:buFont typeface="Arial" panose="020B0604020202020204" pitchFamily="34" charset="0"/>
              <a:buChar char="•"/>
            </a:pPr>
            <a:r>
              <a:rPr lang="en-US"/>
              <a:t>Think of it like a </a:t>
            </a:r>
            <a:r>
              <a:rPr lang="en-US" b="1"/>
              <a:t>grid of parking slots</a:t>
            </a:r>
            <a:r>
              <a:rPr lang="en-US"/>
              <a:t> —</a:t>
            </a:r>
            <a:br>
              <a:rPr lang="en-US"/>
            </a:br>
            <a:r>
              <a:rPr lang="en-US"/>
              <a:t>where each </a:t>
            </a:r>
            <a:r>
              <a:rPr lang="en-US" b="1"/>
              <a:t>row is a frequency</a:t>
            </a:r>
            <a:br>
              <a:rPr lang="en-US"/>
            </a:br>
            <a:r>
              <a:rPr lang="en-US"/>
              <a:t>and each </a:t>
            </a:r>
            <a:r>
              <a:rPr lang="en-US" b="1"/>
              <a:t>column is a time slot</a:t>
            </a:r>
            <a:r>
              <a:rPr lang="en-US"/>
              <a:t>.</a:t>
            </a:r>
          </a:p>
          <a:p>
            <a:pPr>
              <a:buFont typeface="Arial" panose="020B0604020202020204" pitchFamily="34" charset="0"/>
              <a:buChar char="•"/>
            </a:pPr>
            <a:r>
              <a:rPr lang="en-US"/>
              <a:t>The </a:t>
            </a:r>
            <a:r>
              <a:rPr lang="en-US" b="1"/>
              <a:t>scheduler</a:t>
            </a:r>
            <a:r>
              <a:rPr lang="en-US"/>
              <a:t> assigns these slots to </a:t>
            </a:r>
            <a:r>
              <a:rPr lang="en-US" b="1"/>
              <a:t>different users</a:t>
            </a:r>
            <a:r>
              <a:rPr lang="en-US"/>
              <a:t> (RCSTs) based on:</a:t>
            </a:r>
          </a:p>
          <a:p>
            <a:pPr marL="742950" lvl="1" indent="-285750">
              <a:buFont typeface="Arial" panose="020B0604020202020204" pitchFamily="34" charset="0"/>
              <a:buChar char="•"/>
            </a:pPr>
            <a:r>
              <a:rPr lang="en-US"/>
              <a:t>Demand (who wants to send data)</a:t>
            </a:r>
          </a:p>
          <a:p>
            <a:pPr marL="742950" lvl="1" indent="-285750">
              <a:buFont typeface="Arial" panose="020B0604020202020204" pitchFamily="34" charset="0"/>
              <a:buChar char="•"/>
            </a:pPr>
            <a:r>
              <a:rPr lang="en-US"/>
              <a:t>QoS class (VoIP gets priority)</a:t>
            </a:r>
          </a:p>
          <a:p>
            <a:pPr marL="742950" lvl="1" indent="-285750">
              <a:buFont typeface="Arial" panose="020B0604020202020204" pitchFamily="34" charset="0"/>
              <a:buChar char="•"/>
            </a:pPr>
            <a:r>
              <a:rPr lang="en-US"/>
              <a:t>Link conditions</a:t>
            </a:r>
          </a:p>
          <a:p>
            <a:endParaRPr lang="en-ID"/>
          </a:p>
        </p:txBody>
      </p:sp>
      <p:pic>
        <p:nvPicPr>
          <p:cNvPr id="4" name="Picture 3">
            <a:extLst>
              <a:ext uri="{FF2B5EF4-FFF2-40B4-BE49-F238E27FC236}">
                <a16:creationId xmlns:a16="http://schemas.microsoft.com/office/drawing/2014/main" id="{3F47F273-083D-4916-AABA-70B38493D2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156" y="2072384"/>
            <a:ext cx="6284834" cy="2956816"/>
          </a:xfrm>
          <a:prstGeom prst="rect">
            <a:avLst/>
          </a:prstGeom>
        </p:spPr>
      </p:pic>
    </p:spTree>
    <p:extLst>
      <p:ext uri="{BB962C8B-B14F-4D97-AF65-F5344CB8AC3E}">
        <p14:creationId xmlns:p14="http://schemas.microsoft.com/office/powerpoint/2010/main" val="40012449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C208-A9B1-407B-A117-FB5CC1F57C33}"/>
              </a:ext>
            </a:extLst>
          </p:cNvPr>
          <p:cNvSpPr>
            <a:spLocks noGrp="1"/>
          </p:cNvSpPr>
          <p:nvPr>
            <p:ph type="title"/>
          </p:nvPr>
        </p:nvSpPr>
        <p:spPr>
          <a:xfrm>
            <a:off x="4382428" y="365125"/>
            <a:ext cx="6971372" cy="1325563"/>
          </a:xfrm>
        </p:spPr>
        <p:txBody>
          <a:bodyPr/>
          <a:lstStyle/>
          <a:p>
            <a:pPr algn="ctr"/>
            <a:r>
              <a:rPr lang="en-US"/>
              <a:t>Slot Assignment Strategy in DVB-RCS2</a:t>
            </a:r>
            <a:endParaRPr lang="en-ID"/>
          </a:p>
        </p:txBody>
      </p:sp>
      <p:sp>
        <p:nvSpPr>
          <p:cNvPr id="3" name="Content Placeholder 2">
            <a:extLst>
              <a:ext uri="{FF2B5EF4-FFF2-40B4-BE49-F238E27FC236}">
                <a16:creationId xmlns:a16="http://schemas.microsoft.com/office/drawing/2014/main" id="{9C41E4FA-0CF7-4374-B124-C068FBE60D63}"/>
              </a:ext>
            </a:extLst>
          </p:cNvPr>
          <p:cNvSpPr>
            <a:spLocks noGrp="1"/>
          </p:cNvSpPr>
          <p:nvPr>
            <p:ph idx="1"/>
          </p:nvPr>
        </p:nvSpPr>
        <p:spPr>
          <a:xfrm>
            <a:off x="4382428" y="1825625"/>
            <a:ext cx="6971372" cy="4351338"/>
          </a:xfrm>
        </p:spPr>
        <p:txBody>
          <a:bodyPr>
            <a:normAutofit fontScale="92500" lnSpcReduction="10000"/>
          </a:bodyPr>
          <a:lstStyle/>
          <a:p>
            <a:pPr marL="0" indent="0">
              <a:buNone/>
            </a:pPr>
            <a:r>
              <a:rPr lang="en-US" sz="1600" b="1"/>
              <a:t>Contention-Based Assignment</a:t>
            </a:r>
            <a:endParaRPr lang="id-ID" sz="1600" b="1"/>
          </a:p>
          <a:p>
            <a:r>
              <a:rPr lang="en-US" sz="1600"/>
              <a:t>Used when the RCST has no current reservation.</a:t>
            </a:r>
            <a:endParaRPr lang="id-ID" sz="1600"/>
          </a:p>
          <a:p>
            <a:r>
              <a:rPr lang="en-US" sz="1600"/>
              <a:t>Terminal sends a bandwidth request burst in shared slots.</a:t>
            </a:r>
            <a:endParaRPr lang="id-ID" sz="1600"/>
          </a:p>
          <a:p>
            <a:r>
              <a:rPr lang="en-US" sz="1600"/>
              <a:t>Multiple users might try to access the same slot.</a:t>
            </a:r>
            <a:endParaRPr lang="id-ID" sz="1600"/>
          </a:p>
          <a:p>
            <a:r>
              <a:rPr lang="en-US" sz="1600"/>
              <a:t>Risk of collision — handled by:</a:t>
            </a:r>
            <a:endParaRPr lang="id-ID" sz="1600"/>
          </a:p>
          <a:p>
            <a:pPr lvl="1"/>
            <a:r>
              <a:rPr lang="en-US" sz="1400"/>
              <a:t>Backoff timers</a:t>
            </a:r>
            <a:endParaRPr lang="id-ID" sz="1400"/>
          </a:p>
          <a:p>
            <a:pPr lvl="1"/>
            <a:r>
              <a:rPr lang="en-US" sz="1400"/>
              <a:t>Retransmissions</a:t>
            </a:r>
            <a:endParaRPr lang="id-ID" sz="1400"/>
          </a:p>
          <a:p>
            <a:r>
              <a:rPr lang="en-US" sz="1600"/>
              <a:t>Similar to Wi-Fi access — "ask first, retry if busy“</a:t>
            </a:r>
            <a:endParaRPr lang="id-ID" sz="1600"/>
          </a:p>
          <a:p>
            <a:pPr marL="0" indent="0">
              <a:buNone/>
            </a:pPr>
            <a:r>
              <a:rPr lang="en-US" sz="1600" b="1"/>
              <a:t>Scheduled Assignment</a:t>
            </a:r>
            <a:endParaRPr lang="id-ID" sz="1600" b="1"/>
          </a:p>
          <a:p>
            <a:r>
              <a:rPr lang="en-US" sz="1600"/>
              <a:t>Used when the RCST already has a bandwidth reservation.</a:t>
            </a:r>
            <a:endParaRPr lang="id-ID" sz="1600"/>
          </a:p>
          <a:p>
            <a:r>
              <a:rPr lang="en-US" sz="1600"/>
              <a:t>The NCC (Network Control Center) pre-allocates specific slots to an RCST.</a:t>
            </a:r>
            <a:endParaRPr lang="id-ID" sz="1600"/>
          </a:p>
          <a:p>
            <a:r>
              <a:rPr lang="en-US" sz="1600"/>
              <a:t>Based on:</a:t>
            </a:r>
            <a:endParaRPr lang="id-ID" sz="1600"/>
          </a:p>
          <a:p>
            <a:r>
              <a:rPr lang="en-US" sz="1600"/>
              <a:t>Traffic demand</a:t>
            </a:r>
            <a:r>
              <a:rPr lang="id-ID" sz="1600"/>
              <a:t>, </a:t>
            </a:r>
            <a:r>
              <a:rPr lang="en-US" sz="1600"/>
              <a:t>QoS class (e.g., VoIP, file transfer, streaming)</a:t>
            </a:r>
            <a:r>
              <a:rPr lang="id-ID" sz="1600"/>
              <a:t>, </a:t>
            </a:r>
            <a:r>
              <a:rPr lang="en-US" sz="1600"/>
              <a:t>Terminal priority</a:t>
            </a:r>
            <a:endParaRPr lang="id-ID" sz="1600"/>
          </a:p>
          <a:p>
            <a:r>
              <a:rPr lang="en-US" sz="1600"/>
              <a:t>Ensures predictable access — like a reserved lane on a highway.</a:t>
            </a:r>
            <a:endParaRPr lang="en-ID" sz="1600"/>
          </a:p>
        </p:txBody>
      </p:sp>
      <p:pic>
        <p:nvPicPr>
          <p:cNvPr id="4" name="Picture 3">
            <a:extLst>
              <a:ext uri="{FF2B5EF4-FFF2-40B4-BE49-F238E27FC236}">
                <a16:creationId xmlns:a16="http://schemas.microsoft.com/office/drawing/2014/main" id="{D226D0DF-F983-4E96-AF7B-F16A8FB93300}"/>
              </a:ext>
            </a:extLst>
          </p:cNvPr>
          <p:cNvPicPr>
            <a:picLocks noChangeAspect="1"/>
          </p:cNvPicPr>
          <p:nvPr/>
        </p:nvPicPr>
        <p:blipFill rotWithShape="1">
          <a:blip r:embed="rId3">
            <a:extLst>
              <a:ext uri="{28A0092B-C50C-407E-A947-70E740481C1C}">
                <a14:useLocalDpi xmlns:a14="http://schemas.microsoft.com/office/drawing/2010/main" val="0"/>
              </a:ext>
            </a:extLst>
          </a:blip>
          <a:srcRect t="1" b="-2293"/>
          <a:stretch/>
        </p:blipFill>
        <p:spPr>
          <a:xfrm>
            <a:off x="111047" y="0"/>
            <a:ext cx="4271381" cy="6858000"/>
          </a:xfrm>
          <a:prstGeom prst="rect">
            <a:avLst/>
          </a:prstGeom>
        </p:spPr>
      </p:pic>
    </p:spTree>
    <p:extLst>
      <p:ext uri="{BB962C8B-B14F-4D97-AF65-F5344CB8AC3E}">
        <p14:creationId xmlns:p14="http://schemas.microsoft.com/office/powerpoint/2010/main" val="2870032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73872-5699-40E9-B0BA-5F6960343530}"/>
              </a:ext>
            </a:extLst>
          </p:cNvPr>
          <p:cNvSpPr>
            <a:spLocks noGrp="1"/>
          </p:cNvSpPr>
          <p:nvPr>
            <p:ph type="title"/>
          </p:nvPr>
        </p:nvSpPr>
        <p:spPr>
          <a:xfrm>
            <a:off x="838200" y="-180976"/>
            <a:ext cx="10515600" cy="1325563"/>
          </a:xfrm>
        </p:spPr>
        <p:txBody>
          <a:bodyPr/>
          <a:lstStyle/>
          <a:p>
            <a:pPr algn="ctr"/>
            <a:r>
              <a:rPr lang="en-ID"/>
              <a:t>RCST Return Burst Timing</a:t>
            </a:r>
          </a:p>
        </p:txBody>
      </p:sp>
      <p:sp>
        <p:nvSpPr>
          <p:cNvPr id="3" name="Content Placeholder 2">
            <a:extLst>
              <a:ext uri="{FF2B5EF4-FFF2-40B4-BE49-F238E27FC236}">
                <a16:creationId xmlns:a16="http://schemas.microsoft.com/office/drawing/2014/main" id="{AD0A7C90-CC04-43EB-9513-D08E6CC0893B}"/>
              </a:ext>
            </a:extLst>
          </p:cNvPr>
          <p:cNvSpPr>
            <a:spLocks noGrp="1"/>
          </p:cNvSpPr>
          <p:nvPr>
            <p:ph idx="1"/>
          </p:nvPr>
        </p:nvSpPr>
        <p:spPr>
          <a:xfrm>
            <a:off x="1243012" y="2547257"/>
            <a:ext cx="10110788" cy="3629706"/>
          </a:xfrm>
        </p:spPr>
        <p:txBody>
          <a:bodyPr>
            <a:normAutofit fontScale="92500" lnSpcReduction="20000"/>
          </a:bodyPr>
          <a:lstStyle/>
          <a:p>
            <a:r>
              <a:rPr lang="en-US"/>
              <a:t>Return bursts are short, time-slotted transmissions from RCSTs to the gateway.</a:t>
            </a:r>
          </a:p>
          <a:p>
            <a:r>
              <a:rPr lang="en-US"/>
              <a:t>Each RCST is assigned a specific time-frequency slot by the NCC (Network Control Center).</a:t>
            </a:r>
          </a:p>
          <a:p>
            <a:r>
              <a:rPr lang="en-US"/>
              <a:t>The burst timing must be extremely accurate to fit inside the guard interval and avoid overlap with adjacent slots.</a:t>
            </a:r>
          </a:p>
          <a:p>
            <a:r>
              <a:rPr lang="en-US"/>
              <a:t>Return bursts typically include:</a:t>
            </a:r>
          </a:p>
          <a:p>
            <a:pPr lvl="1"/>
            <a:r>
              <a:rPr lang="en-US"/>
              <a:t>Preamble (for synchronization)</a:t>
            </a:r>
          </a:p>
          <a:p>
            <a:pPr lvl="1"/>
            <a:r>
              <a:rPr lang="en-US"/>
              <a:t>Payload (user data)</a:t>
            </a:r>
          </a:p>
          <a:p>
            <a:pPr lvl="1"/>
            <a:r>
              <a:rPr lang="en-US"/>
              <a:t>Guard time (to prevent collisions due to delay variations)</a:t>
            </a:r>
            <a:endParaRPr lang="en-ID"/>
          </a:p>
        </p:txBody>
      </p:sp>
      <p:pic>
        <p:nvPicPr>
          <p:cNvPr id="5" name="Picture 4">
            <a:extLst>
              <a:ext uri="{FF2B5EF4-FFF2-40B4-BE49-F238E27FC236}">
                <a16:creationId xmlns:a16="http://schemas.microsoft.com/office/drawing/2014/main" id="{19FC0DF9-49F5-4F03-8DA0-2AF3528CE3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3012" y="783772"/>
            <a:ext cx="9705975" cy="1676400"/>
          </a:xfrm>
          <a:prstGeom prst="rect">
            <a:avLst/>
          </a:prstGeom>
        </p:spPr>
      </p:pic>
    </p:spTree>
    <p:extLst>
      <p:ext uri="{BB962C8B-B14F-4D97-AF65-F5344CB8AC3E}">
        <p14:creationId xmlns:p14="http://schemas.microsoft.com/office/powerpoint/2010/main" val="3821881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ACFCB-9C0A-41DD-9BE5-91F4728B575A}"/>
              </a:ext>
            </a:extLst>
          </p:cNvPr>
          <p:cNvSpPr>
            <a:spLocks noGrp="1"/>
          </p:cNvSpPr>
          <p:nvPr>
            <p:ph type="title"/>
          </p:nvPr>
        </p:nvSpPr>
        <p:spPr/>
        <p:txBody>
          <a:bodyPr/>
          <a:lstStyle/>
          <a:p>
            <a:pPr algn="ctr"/>
            <a:r>
              <a:rPr lang="en-ID"/>
              <a:t>RCS2 Modulation &amp; Coding</a:t>
            </a:r>
          </a:p>
        </p:txBody>
      </p:sp>
      <p:pic>
        <p:nvPicPr>
          <p:cNvPr id="6" name="Picture 5">
            <a:extLst>
              <a:ext uri="{FF2B5EF4-FFF2-40B4-BE49-F238E27FC236}">
                <a16:creationId xmlns:a16="http://schemas.microsoft.com/office/drawing/2014/main" id="{20255E95-4A5A-48C6-A249-23CC3209FA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6933" y="1825625"/>
            <a:ext cx="7998134" cy="3588204"/>
          </a:xfrm>
          <a:prstGeom prst="rect">
            <a:avLst/>
          </a:prstGeom>
        </p:spPr>
      </p:pic>
    </p:spTree>
    <p:extLst>
      <p:ext uri="{BB962C8B-B14F-4D97-AF65-F5344CB8AC3E}">
        <p14:creationId xmlns:p14="http://schemas.microsoft.com/office/powerpoint/2010/main" val="3693211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AA2AF9B-1E2B-45C1-9745-BF5CB0839A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739436" cy="6858000"/>
          </a:xfrm>
          <a:prstGeom prst="rect">
            <a:avLst/>
          </a:prstGeom>
        </p:spPr>
      </p:pic>
      <p:sp>
        <p:nvSpPr>
          <p:cNvPr id="2" name="Title 1">
            <a:extLst>
              <a:ext uri="{FF2B5EF4-FFF2-40B4-BE49-F238E27FC236}">
                <a16:creationId xmlns:a16="http://schemas.microsoft.com/office/drawing/2014/main" id="{A64B14AA-4A67-49D0-A20C-A544FA4918D7}"/>
              </a:ext>
            </a:extLst>
          </p:cNvPr>
          <p:cNvSpPr>
            <a:spLocks noGrp="1"/>
          </p:cNvSpPr>
          <p:nvPr>
            <p:ph type="title"/>
          </p:nvPr>
        </p:nvSpPr>
        <p:spPr>
          <a:xfrm>
            <a:off x="4201886" y="4850040"/>
            <a:ext cx="7489372" cy="1605189"/>
          </a:xfrm>
        </p:spPr>
        <p:txBody>
          <a:bodyPr>
            <a:normAutofit/>
          </a:bodyPr>
          <a:lstStyle/>
          <a:p>
            <a:pPr algn="ctr"/>
            <a:r>
              <a:rPr lang="en-ID"/>
              <a:t>Recap : End-to-End Framing</a:t>
            </a:r>
          </a:p>
        </p:txBody>
      </p:sp>
    </p:spTree>
    <p:extLst>
      <p:ext uri="{BB962C8B-B14F-4D97-AF65-F5344CB8AC3E}">
        <p14:creationId xmlns:p14="http://schemas.microsoft.com/office/powerpoint/2010/main" val="31089829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5098-C48A-404B-9DE3-483FABDDB9EA}"/>
              </a:ext>
            </a:extLst>
          </p:cNvPr>
          <p:cNvSpPr>
            <a:spLocks noGrp="1"/>
          </p:cNvSpPr>
          <p:nvPr>
            <p:ph type="ctrTitle"/>
          </p:nvPr>
        </p:nvSpPr>
        <p:spPr/>
        <p:txBody>
          <a:bodyPr/>
          <a:lstStyle/>
          <a:p>
            <a:r>
              <a:rPr lang="en-ID"/>
              <a:t>DVB-S2X &amp; RCS2</a:t>
            </a:r>
          </a:p>
        </p:txBody>
      </p:sp>
      <p:sp>
        <p:nvSpPr>
          <p:cNvPr id="3" name="Subtitle 2">
            <a:extLst>
              <a:ext uri="{FF2B5EF4-FFF2-40B4-BE49-F238E27FC236}">
                <a16:creationId xmlns:a16="http://schemas.microsoft.com/office/drawing/2014/main" id="{A45F83B2-9755-4EB8-B2E9-DE81289E8EFC}"/>
              </a:ext>
            </a:extLst>
          </p:cNvPr>
          <p:cNvSpPr>
            <a:spLocks noGrp="1"/>
          </p:cNvSpPr>
          <p:nvPr>
            <p:ph type="subTitle" idx="1"/>
          </p:nvPr>
        </p:nvSpPr>
        <p:spPr/>
        <p:txBody>
          <a:bodyPr/>
          <a:lstStyle/>
          <a:p>
            <a:r>
              <a:rPr lang="en-US"/>
              <a:t>Logical And Physical Channels</a:t>
            </a:r>
            <a:endParaRPr lang="en-ID"/>
          </a:p>
        </p:txBody>
      </p:sp>
    </p:spTree>
    <p:extLst>
      <p:ext uri="{BB962C8B-B14F-4D97-AF65-F5344CB8AC3E}">
        <p14:creationId xmlns:p14="http://schemas.microsoft.com/office/powerpoint/2010/main" val="3460622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5B6C3-94F0-43ED-A200-7DC65AF8645C}"/>
              </a:ext>
            </a:extLst>
          </p:cNvPr>
          <p:cNvSpPr>
            <a:spLocks noGrp="1"/>
          </p:cNvSpPr>
          <p:nvPr>
            <p:ph type="title"/>
          </p:nvPr>
        </p:nvSpPr>
        <p:spPr>
          <a:xfrm>
            <a:off x="838200" y="251618"/>
            <a:ext cx="10515600" cy="1325563"/>
          </a:xfrm>
        </p:spPr>
        <p:txBody>
          <a:bodyPr/>
          <a:lstStyle/>
          <a:p>
            <a:pPr algn="ctr"/>
            <a:r>
              <a:rPr lang="en-ID"/>
              <a:t>Intro To Logical &amp; Physical Channels</a:t>
            </a:r>
          </a:p>
        </p:txBody>
      </p:sp>
      <p:pic>
        <p:nvPicPr>
          <p:cNvPr id="9" name="Content Placeholder 8">
            <a:extLst>
              <a:ext uri="{FF2B5EF4-FFF2-40B4-BE49-F238E27FC236}">
                <a16:creationId xmlns:a16="http://schemas.microsoft.com/office/drawing/2014/main" id="{DED5252E-EF77-4A00-BD84-915EB8439B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7650" y="1405731"/>
            <a:ext cx="11116699" cy="4347369"/>
          </a:xfrm>
        </p:spPr>
      </p:pic>
    </p:spTree>
    <p:extLst>
      <p:ext uri="{BB962C8B-B14F-4D97-AF65-F5344CB8AC3E}">
        <p14:creationId xmlns:p14="http://schemas.microsoft.com/office/powerpoint/2010/main" val="22297092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EF9EAD-741C-4FC1-A150-3ED7C015A5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485704" cy="6858000"/>
          </a:xfrm>
          <a:prstGeom prst="rect">
            <a:avLst/>
          </a:prstGeom>
        </p:spPr>
      </p:pic>
      <p:sp>
        <p:nvSpPr>
          <p:cNvPr id="2" name="Title 1">
            <a:extLst>
              <a:ext uri="{FF2B5EF4-FFF2-40B4-BE49-F238E27FC236}">
                <a16:creationId xmlns:a16="http://schemas.microsoft.com/office/drawing/2014/main" id="{92A828F3-2D6C-4E44-954A-E564521350CA}"/>
              </a:ext>
            </a:extLst>
          </p:cNvPr>
          <p:cNvSpPr>
            <a:spLocks noGrp="1"/>
          </p:cNvSpPr>
          <p:nvPr>
            <p:ph type="title"/>
          </p:nvPr>
        </p:nvSpPr>
        <p:spPr>
          <a:xfrm>
            <a:off x="3679352" y="850900"/>
            <a:ext cx="7912100" cy="966788"/>
          </a:xfrm>
        </p:spPr>
        <p:txBody>
          <a:bodyPr/>
          <a:lstStyle/>
          <a:p>
            <a:pPr algn="ctr"/>
            <a:r>
              <a:rPr lang="en-ID"/>
              <a:t>What Are Logical Channels</a:t>
            </a:r>
          </a:p>
        </p:txBody>
      </p:sp>
      <p:sp>
        <p:nvSpPr>
          <p:cNvPr id="3" name="Content Placeholder 2">
            <a:extLst>
              <a:ext uri="{FF2B5EF4-FFF2-40B4-BE49-F238E27FC236}">
                <a16:creationId xmlns:a16="http://schemas.microsoft.com/office/drawing/2014/main" id="{1B54C1AF-C849-47CA-97B9-6C3E1DC14FC6}"/>
              </a:ext>
            </a:extLst>
          </p:cNvPr>
          <p:cNvSpPr>
            <a:spLocks noGrp="1"/>
          </p:cNvSpPr>
          <p:nvPr>
            <p:ph idx="1"/>
          </p:nvPr>
        </p:nvSpPr>
        <p:spPr>
          <a:xfrm>
            <a:off x="3543300" y="1968500"/>
            <a:ext cx="8184204" cy="4422776"/>
          </a:xfrm>
        </p:spPr>
        <p:txBody>
          <a:bodyPr>
            <a:normAutofit fontScale="85000" lnSpcReduction="20000"/>
          </a:bodyPr>
          <a:lstStyle/>
          <a:p>
            <a:r>
              <a:rPr lang="en-ID"/>
              <a:t>Definition: Logical channels are functional data flows between the MAC and physical layer, each carrying a specific type of information.</a:t>
            </a:r>
          </a:p>
          <a:p>
            <a:r>
              <a:rPr lang="en-ID"/>
              <a:t>Purpose: Separate and manage different traffic types — user payload, control information, and signaling — before transmission.</a:t>
            </a:r>
          </a:p>
          <a:p>
            <a:r>
              <a:rPr lang="en-ID"/>
              <a:t>DVB-S2X Examples:</a:t>
            </a:r>
          </a:p>
          <a:p>
            <a:pPr lvl="1"/>
            <a:r>
              <a:rPr lang="en-ID"/>
              <a:t>Control Logical Channel (CLC): Network management commands</a:t>
            </a:r>
          </a:p>
          <a:p>
            <a:pPr lvl="1"/>
            <a:r>
              <a:rPr lang="en-ID"/>
              <a:t>GSE Logical Channel: Encapsulated IP / MPEG-TS user traffic</a:t>
            </a:r>
          </a:p>
          <a:p>
            <a:pPr lvl="1"/>
            <a:r>
              <a:rPr lang="en-ID"/>
              <a:t>Signaling Logical Channel: PLS code, MODCOD, frame structure signaling</a:t>
            </a:r>
          </a:p>
          <a:p>
            <a:r>
              <a:rPr lang="en-ID"/>
              <a:t>DVB-RCS2 Examples:</a:t>
            </a:r>
          </a:p>
          <a:p>
            <a:pPr lvl="1"/>
            <a:r>
              <a:rPr lang="en-ID"/>
              <a:t>Traffic Logical Channel (TLC): User payload in return link</a:t>
            </a:r>
          </a:p>
          <a:p>
            <a:pPr lvl="1"/>
            <a:r>
              <a:rPr lang="en-ID"/>
              <a:t>Control Logical Channel (CLC): NCC control and resource allocation</a:t>
            </a:r>
          </a:p>
          <a:p>
            <a:pPr lvl="1"/>
            <a:r>
              <a:rPr lang="en-ID"/>
              <a:t>Signaling Logical Channel (SLC): Burst timing, slot assignment info</a:t>
            </a:r>
          </a:p>
        </p:txBody>
      </p:sp>
    </p:spTree>
    <p:extLst>
      <p:ext uri="{BB962C8B-B14F-4D97-AF65-F5344CB8AC3E}">
        <p14:creationId xmlns:p14="http://schemas.microsoft.com/office/powerpoint/2010/main" val="2783281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0FCE6-C47F-4C02-834F-B442CF595031}"/>
              </a:ext>
            </a:extLst>
          </p:cNvPr>
          <p:cNvSpPr>
            <a:spLocks noGrp="1"/>
          </p:cNvSpPr>
          <p:nvPr>
            <p:ph type="title"/>
          </p:nvPr>
        </p:nvSpPr>
        <p:spPr>
          <a:xfrm>
            <a:off x="3911600" y="365125"/>
            <a:ext cx="7442200" cy="1325563"/>
          </a:xfrm>
        </p:spPr>
        <p:txBody>
          <a:bodyPr/>
          <a:lstStyle/>
          <a:p>
            <a:pPr algn="ctr"/>
            <a:r>
              <a:rPr lang="en-ID"/>
              <a:t>What Are Physical Channels</a:t>
            </a:r>
          </a:p>
        </p:txBody>
      </p:sp>
      <p:sp>
        <p:nvSpPr>
          <p:cNvPr id="3" name="Content Placeholder 2">
            <a:extLst>
              <a:ext uri="{FF2B5EF4-FFF2-40B4-BE49-F238E27FC236}">
                <a16:creationId xmlns:a16="http://schemas.microsoft.com/office/drawing/2014/main" id="{F11664D6-2431-41C2-878C-8EB99E78F5BA}"/>
              </a:ext>
            </a:extLst>
          </p:cNvPr>
          <p:cNvSpPr>
            <a:spLocks noGrp="1"/>
          </p:cNvSpPr>
          <p:nvPr>
            <p:ph idx="1"/>
          </p:nvPr>
        </p:nvSpPr>
        <p:spPr>
          <a:xfrm>
            <a:off x="3911600" y="1825625"/>
            <a:ext cx="7442200" cy="4351338"/>
          </a:xfrm>
        </p:spPr>
        <p:txBody>
          <a:bodyPr>
            <a:normAutofit fontScale="77500" lnSpcReduction="20000"/>
          </a:bodyPr>
          <a:lstStyle/>
          <a:p>
            <a:r>
              <a:rPr lang="en-US"/>
              <a:t>Definition: Physical channels are actual transmission resources in the physical layer, defined by time, frequency, and modulation/coding (MODCOD) parameters.</a:t>
            </a:r>
          </a:p>
          <a:p>
            <a:r>
              <a:rPr lang="en-US"/>
              <a:t>Purpose: Provide the medium through which logical channels are actually sent over the satellite link.</a:t>
            </a:r>
          </a:p>
          <a:p>
            <a:r>
              <a:rPr lang="en-US"/>
              <a:t>DVB-S2X Examples:</a:t>
            </a:r>
          </a:p>
          <a:p>
            <a:pPr lvl="1"/>
            <a:r>
              <a:rPr lang="en-US"/>
              <a:t>PLFRAME / BBFRAME: Encapsulated forward link data for transmission</a:t>
            </a:r>
          </a:p>
          <a:p>
            <a:pPr lvl="1"/>
            <a:r>
              <a:rPr lang="en-US"/>
              <a:t>Carrier Frequency Allocation: Physical RF channel assignments</a:t>
            </a:r>
          </a:p>
          <a:p>
            <a:pPr lvl="1"/>
            <a:r>
              <a:rPr lang="en-US"/>
              <a:t>MODCOD: Defines modulation and coding rate for each PLFRAME</a:t>
            </a:r>
          </a:p>
          <a:p>
            <a:r>
              <a:rPr lang="en-US"/>
              <a:t>DVB-RCS2 Examples:</a:t>
            </a:r>
          </a:p>
          <a:p>
            <a:pPr lvl="1"/>
            <a:r>
              <a:rPr lang="en-US"/>
              <a:t>MF-TDMA Slots: Time-frequency slots in the return link burst</a:t>
            </a:r>
          </a:p>
          <a:p>
            <a:pPr lvl="1"/>
            <a:r>
              <a:rPr lang="en-US"/>
              <a:t>Carrier Frequencies: Allocated uplink RF channels for RCSTs</a:t>
            </a:r>
          </a:p>
          <a:p>
            <a:pPr lvl="1"/>
            <a:r>
              <a:rPr lang="en-US"/>
              <a:t>Burst Structure Parameters: Preamble, payload, and guard time details</a:t>
            </a:r>
            <a:endParaRPr lang="en-ID"/>
          </a:p>
        </p:txBody>
      </p:sp>
      <p:pic>
        <p:nvPicPr>
          <p:cNvPr id="4" name="Picture 3">
            <a:extLst>
              <a:ext uri="{FF2B5EF4-FFF2-40B4-BE49-F238E27FC236}">
                <a16:creationId xmlns:a16="http://schemas.microsoft.com/office/drawing/2014/main" id="{F189C16B-AF94-4079-885D-C20BD1E93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622710" cy="6858000"/>
          </a:xfrm>
          <a:prstGeom prst="rect">
            <a:avLst/>
          </a:prstGeom>
        </p:spPr>
      </p:pic>
    </p:spTree>
    <p:extLst>
      <p:ext uri="{BB962C8B-B14F-4D97-AF65-F5344CB8AC3E}">
        <p14:creationId xmlns:p14="http://schemas.microsoft.com/office/powerpoint/2010/main" val="1034908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AE91D-41B2-4232-B388-842AAD26E161}"/>
              </a:ext>
            </a:extLst>
          </p:cNvPr>
          <p:cNvSpPr>
            <a:spLocks noGrp="1"/>
          </p:cNvSpPr>
          <p:nvPr>
            <p:ph type="title"/>
          </p:nvPr>
        </p:nvSpPr>
        <p:spPr/>
        <p:txBody>
          <a:bodyPr/>
          <a:lstStyle/>
          <a:p>
            <a:pPr algn="ctr"/>
            <a:r>
              <a:rPr lang="en-ID"/>
              <a:t>Logical Channels In DVB-S2X</a:t>
            </a:r>
          </a:p>
        </p:txBody>
      </p:sp>
      <p:pic>
        <p:nvPicPr>
          <p:cNvPr id="4" name="Picture 3">
            <a:extLst>
              <a:ext uri="{FF2B5EF4-FFF2-40B4-BE49-F238E27FC236}">
                <a16:creationId xmlns:a16="http://schemas.microsoft.com/office/drawing/2014/main" id="{6D5CF8AA-2CD1-4550-8A80-640CBEBB3E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1687" y="1516857"/>
            <a:ext cx="8048625" cy="4610100"/>
          </a:xfrm>
          <a:prstGeom prst="rect">
            <a:avLst/>
          </a:prstGeom>
        </p:spPr>
      </p:pic>
    </p:spTree>
    <p:extLst>
      <p:ext uri="{BB962C8B-B14F-4D97-AF65-F5344CB8AC3E}">
        <p14:creationId xmlns:p14="http://schemas.microsoft.com/office/powerpoint/2010/main" val="1958660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5F5EE-460B-41EA-862F-B543F0DCD554}"/>
              </a:ext>
            </a:extLst>
          </p:cNvPr>
          <p:cNvSpPr>
            <a:spLocks noGrp="1"/>
          </p:cNvSpPr>
          <p:nvPr>
            <p:ph type="title"/>
          </p:nvPr>
        </p:nvSpPr>
        <p:spPr>
          <a:xfrm>
            <a:off x="2602706" y="243958"/>
            <a:ext cx="6986588" cy="1325563"/>
          </a:xfrm>
        </p:spPr>
        <p:txBody>
          <a:bodyPr/>
          <a:lstStyle/>
          <a:p>
            <a:pPr algn="ctr"/>
            <a:r>
              <a:rPr lang="en-ID"/>
              <a:t>Physical Channels In DVB-S2X</a:t>
            </a:r>
          </a:p>
        </p:txBody>
      </p:sp>
      <p:sp>
        <p:nvSpPr>
          <p:cNvPr id="3" name="Content Placeholder 2">
            <a:extLst>
              <a:ext uri="{FF2B5EF4-FFF2-40B4-BE49-F238E27FC236}">
                <a16:creationId xmlns:a16="http://schemas.microsoft.com/office/drawing/2014/main" id="{A5777A73-00B4-4BD3-AD7F-01A74737192E}"/>
              </a:ext>
            </a:extLst>
          </p:cNvPr>
          <p:cNvSpPr>
            <a:spLocks noGrp="1"/>
          </p:cNvSpPr>
          <p:nvPr>
            <p:ph idx="1"/>
          </p:nvPr>
        </p:nvSpPr>
        <p:spPr>
          <a:xfrm>
            <a:off x="4940300" y="1665288"/>
            <a:ext cx="6413500" cy="4511675"/>
          </a:xfrm>
        </p:spPr>
        <p:txBody>
          <a:bodyPr>
            <a:normAutofit fontScale="92500" lnSpcReduction="20000"/>
          </a:bodyPr>
          <a:lstStyle/>
          <a:p>
            <a:r>
              <a:rPr lang="en-ID"/>
              <a:t>Carrier Frequency</a:t>
            </a:r>
          </a:p>
          <a:p>
            <a:pPr lvl="1"/>
            <a:r>
              <a:rPr lang="en-ID"/>
              <a:t>RF channel assignment in Ku, Ka, or other bands.</a:t>
            </a:r>
          </a:p>
          <a:p>
            <a:pPr lvl="1"/>
            <a:r>
              <a:rPr lang="en-ID"/>
              <a:t>Allocated to different beams or services.</a:t>
            </a:r>
          </a:p>
          <a:p>
            <a:r>
              <a:rPr lang="en-ID"/>
              <a:t>MODCOD (Modulation and Coding)</a:t>
            </a:r>
          </a:p>
          <a:p>
            <a:pPr lvl="1"/>
            <a:r>
              <a:rPr lang="en-ID"/>
              <a:t>Combines modulation type (e.g., QPSK, 8PSK, 16APSK, 64APSK) with FEC rate.</a:t>
            </a:r>
          </a:p>
          <a:p>
            <a:pPr lvl="1"/>
            <a:r>
              <a:rPr lang="en-ID"/>
              <a:t>Chosen dynamically via ACM (Adaptive Coding and Modulation).</a:t>
            </a:r>
          </a:p>
          <a:p>
            <a:r>
              <a:rPr lang="en-ID"/>
              <a:t>PLFRAME / BBFRAME</a:t>
            </a:r>
          </a:p>
          <a:p>
            <a:pPr lvl="1"/>
            <a:r>
              <a:rPr lang="en-ID"/>
              <a:t>BBFRAME: Encapsulates baseband user or control data.</a:t>
            </a:r>
          </a:p>
          <a:p>
            <a:pPr lvl="1"/>
            <a:r>
              <a:rPr lang="en-ID"/>
              <a:t>PLFRAME: Adds physical layer overhead (PLHEADER, pilots) for synchronization and demodulation.</a:t>
            </a:r>
          </a:p>
        </p:txBody>
      </p:sp>
      <p:pic>
        <p:nvPicPr>
          <p:cNvPr id="6" name="Picture 5">
            <a:extLst>
              <a:ext uri="{FF2B5EF4-FFF2-40B4-BE49-F238E27FC236}">
                <a16:creationId xmlns:a16="http://schemas.microsoft.com/office/drawing/2014/main" id="{C47167EB-A445-4920-ACD4-216BCDDAE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700" y="1473755"/>
            <a:ext cx="4800600" cy="4940084"/>
          </a:xfrm>
          <a:prstGeom prst="rect">
            <a:avLst/>
          </a:prstGeom>
        </p:spPr>
      </p:pic>
    </p:spTree>
    <p:extLst>
      <p:ext uri="{BB962C8B-B14F-4D97-AF65-F5344CB8AC3E}">
        <p14:creationId xmlns:p14="http://schemas.microsoft.com/office/powerpoint/2010/main" val="87464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EEB35-A5B6-4EC1-B3F8-6335F7FA9213}"/>
              </a:ext>
            </a:extLst>
          </p:cNvPr>
          <p:cNvSpPr>
            <a:spLocks noGrp="1"/>
          </p:cNvSpPr>
          <p:nvPr>
            <p:ph type="title"/>
          </p:nvPr>
        </p:nvSpPr>
        <p:spPr/>
        <p:txBody>
          <a:bodyPr/>
          <a:lstStyle/>
          <a:p>
            <a:pPr algn="ctr"/>
            <a:r>
              <a:rPr lang="en-ID"/>
              <a:t>Logical Channels In DVB-RCS2</a:t>
            </a:r>
          </a:p>
        </p:txBody>
      </p:sp>
      <p:pic>
        <p:nvPicPr>
          <p:cNvPr id="6" name="Picture 5">
            <a:extLst>
              <a:ext uri="{FF2B5EF4-FFF2-40B4-BE49-F238E27FC236}">
                <a16:creationId xmlns:a16="http://schemas.microsoft.com/office/drawing/2014/main" id="{08A7AC76-0915-404F-B337-03D0E1BDA6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1183" y="1441449"/>
            <a:ext cx="10349634" cy="4949825"/>
          </a:xfrm>
          <a:prstGeom prst="rect">
            <a:avLst/>
          </a:prstGeom>
        </p:spPr>
      </p:pic>
    </p:spTree>
    <p:extLst>
      <p:ext uri="{BB962C8B-B14F-4D97-AF65-F5344CB8AC3E}">
        <p14:creationId xmlns:p14="http://schemas.microsoft.com/office/powerpoint/2010/main" val="13335942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BA3A4-8EFE-4B55-A021-9BD08B39911A}"/>
              </a:ext>
            </a:extLst>
          </p:cNvPr>
          <p:cNvSpPr>
            <a:spLocks noGrp="1"/>
          </p:cNvSpPr>
          <p:nvPr>
            <p:ph type="title"/>
          </p:nvPr>
        </p:nvSpPr>
        <p:spPr/>
        <p:txBody>
          <a:bodyPr/>
          <a:lstStyle/>
          <a:p>
            <a:pPr algn="ctr"/>
            <a:r>
              <a:rPr lang="en-ID"/>
              <a:t>Physical Channels In DVB-RCS2</a:t>
            </a:r>
          </a:p>
        </p:txBody>
      </p:sp>
      <p:sp>
        <p:nvSpPr>
          <p:cNvPr id="3" name="Content Placeholder 2">
            <a:extLst>
              <a:ext uri="{FF2B5EF4-FFF2-40B4-BE49-F238E27FC236}">
                <a16:creationId xmlns:a16="http://schemas.microsoft.com/office/drawing/2014/main" id="{7C0DBFDA-625F-412B-A219-BC91666C3EA2}"/>
              </a:ext>
            </a:extLst>
          </p:cNvPr>
          <p:cNvSpPr>
            <a:spLocks noGrp="1"/>
          </p:cNvSpPr>
          <p:nvPr>
            <p:ph idx="1"/>
          </p:nvPr>
        </p:nvSpPr>
        <p:spPr>
          <a:xfrm>
            <a:off x="6273800" y="1825625"/>
            <a:ext cx="5080000" cy="4351338"/>
          </a:xfrm>
        </p:spPr>
        <p:txBody>
          <a:bodyPr>
            <a:normAutofit fontScale="85000" lnSpcReduction="20000"/>
          </a:bodyPr>
          <a:lstStyle/>
          <a:p>
            <a:r>
              <a:rPr lang="en-ID"/>
              <a:t>MF-TDMA Slots</a:t>
            </a:r>
          </a:p>
          <a:p>
            <a:pPr lvl="1"/>
            <a:r>
              <a:rPr lang="en-ID"/>
              <a:t>Fundamental time–frequency units in the uplink.</a:t>
            </a:r>
          </a:p>
          <a:p>
            <a:pPr lvl="1"/>
            <a:r>
              <a:rPr lang="en-ID"/>
              <a:t>Each slot is assigned to a terminal (RCST) by the MAC Scheduler.</a:t>
            </a:r>
          </a:p>
          <a:p>
            <a:r>
              <a:rPr lang="en-ID"/>
              <a:t>Burst Structure</a:t>
            </a:r>
          </a:p>
          <a:p>
            <a:pPr lvl="1"/>
            <a:r>
              <a:rPr lang="en-ID"/>
              <a:t>Preamble → synchronization and identification.</a:t>
            </a:r>
          </a:p>
          <a:p>
            <a:pPr lvl="1"/>
            <a:r>
              <a:rPr lang="en-ID"/>
              <a:t>Payload → encapsulated data from TLC/CLC/SLC.</a:t>
            </a:r>
          </a:p>
          <a:p>
            <a:pPr lvl="1"/>
            <a:r>
              <a:rPr lang="en-ID"/>
              <a:t>Guard Time → avoids interference between bursts.</a:t>
            </a:r>
          </a:p>
          <a:p>
            <a:r>
              <a:rPr lang="en-ID"/>
              <a:t>Carrier Frequencies</a:t>
            </a:r>
          </a:p>
          <a:p>
            <a:pPr lvl="1"/>
            <a:r>
              <a:rPr lang="en-ID"/>
              <a:t>RF channels within the uplink band.</a:t>
            </a:r>
          </a:p>
          <a:p>
            <a:pPr lvl="1"/>
            <a:r>
              <a:rPr lang="en-ID"/>
              <a:t>Used to separate parallel MF-TDMA frames or carriers.</a:t>
            </a:r>
          </a:p>
        </p:txBody>
      </p:sp>
      <p:pic>
        <p:nvPicPr>
          <p:cNvPr id="4" name="Picture 3">
            <a:extLst>
              <a:ext uri="{FF2B5EF4-FFF2-40B4-BE49-F238E27FC236}">
                <a16:creationId xmlns:a16="http://schemas.microsoft.com/office/drawing/2014/main" id="{33FEC0B2-FA6F-480D-8A34-9ED4F755DA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90688"/>
            <a:ext cx="6145213" cy="2856061"/>
          </a:xfrm>
          <a:prstGeom prst="rect">
            <a:avLst/>
          </a:prstGeom>
        </p:spPr>
      </p:pic>
      <p:sp>
        <p:nvSpPr>
          <p:cNvPr id="5" name="Content Placeholder 2">
            <a:extLst>
              <a:ext uri="{FF2B5EF4-FFF2-40B4-BE49-F238E27FC236}">
                <a16:creationId xmlns:a16="http://schemas.microsoft.com/office/drawing/2014/main" id="{20188D9B-67A4-438E-AAF8-CF951269E3F8}"/>
              </a:ext>
            </a:extLst>
          </p:cNvPr>
          <p:cNvSpPr txBox="1">
            <a:spLocks/>
          </p:cNvSpPr>
          <p:nvPr/>
        </p:nvSpPr>
        <p:spPr>
          <a:xfrm>
            <a:off x="455613" y="4684861"/>
            <a:ext cx="5689600" cy="180801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MAC Scheduler allocates MF-TDMA slots in time and on specific carrier frequencies.</a:t>
            </a:r>
          </a:p>
          <a:p>
            <a:r>
              <a:rPr lang="en-US"/>
              <a:t>Each burst is structured with preamble, payload, and guard time.</a:t>
            </a:r>
          </a:p>
          <a:p>
            <a:r>
              <a:rPr lang="en-US"/>
              <a:t>This ensures precise synchronization and efficient spectrum usage.</a:t>
            </a:r>
            <a:endParaRPr lang="en-ID"/>
          </a:p>
        </p:txBody>
      </p:sp>
    </p:spTree>
    <p:extLst>
      <p:ext uri="{BB962C8B-B14F-4D97-AF65-F5344CB8AC3E}">
        <p14:creationId xmlns:p14="http://schemas.microsoft.com/office/powerpoint/2010/main" val="13031424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BC86E-6A08-49E1-98F6-D11FA64C594E}"/>
              </a:ext>
            </a:extLst>
          </p:cNvPr>
          <p:cNvSpPr>
            <a:spLocks noGrp="1"/>
          </p:cNvSpPr>
          <p:nvPr>
            <p:ph type="title"/>
          </p:nvPr>
        </p:nvSpPr>
        <p:spPr>
          <a:xfrm>
            <a:off x="6096000" y="365125"/>
            <a:ext cx="5257800" cy="1325563"/>
          </a:xfrm>
        </p:spPr>
        <p:txBody>
          <a:bodyPr/>
          <a:lstStyle/>
          <a:p>
            <a:pPr algn="ctr"/>
            <a:r>
              <a:rPr lang="en-ID"/>
              <a:t>Channel Mapping: Gateway → RCST</a:t>
            </a:r>
          </a:p>
        </p:txBody>
      </p:sp>
      <p:sp>
        <p:nvSpPr>
          <p:cNvPr id="3" name="Content Placeholder 2">
            <a:extLst>
              <a:ext uri="{FF2B5EF4-FFF2-40B4-BE49-F238E27FC236}">
                <a16:creationId xmlns:a16="http://schemas.microsoft.com/office/drawing/2014/main" id="{9C05233C-DC04-4983-AA6F-1F96D32B6D3D}"/>
              </a:ext>
            </a:extLst>
          </p:cNvPr>
          <p:cNvSpPr>
            <a:spLocks noGrp="1"/>
          </p:cNvSpPr>
          <p:nvPr>
            <p:ph idx="1"/>
          </p:nvPr>
        </p:nvSpPr>
        <p:spPr>
          <a:xfrm>
            <a:off x="6096000" y="1825624"/>
            <a:ext cx="5499100" cy="4524375"/>
          </a:xfrm>
        </p:spPr>
        <p:txBody>
          <a:bodyPr>
            <a:normAutofit fontScale="92500" lnSpcReduction="20000"/>
          </a:bodyPr>
          <a:lstStyle/>
          <a:p>
            <a:r>
              <a:rPr lang="en-ID" sz="2000"/>
              <a:t>Application / Network Layer</a:t>
            </a:r>
          </a:p>
          <a:p>
            <a:pPr lvl="1"/>
            <a:r>
              <a:rPr lang="en-ID" sz="1600"/>
              <a:t>Data originates from Gateway IP packets (Internet, video, VoIP, etc.).</a:t>
            </a:r>
          </a:p>
          <a:p>
            <a:r>
              <a:rPr lang="en-ID" sz="2000"/>
              <a:t>Logical Channels (DVB-S2X)</a:t>
            </a:r>
          </a:p>
          <a:p>
            <a:pPr lvl="1"/>
            <a:r>
              <a:rPr lang="en-ID" sz="1600"/>
              <a:t>GSE Logical Channel → encapsulates IP/MPEG-TS user traffic.</a:t>
            </a:r>
          </a:p>
          <a:p>
            <a:pPr lvl="1"/>
            <a:r>
              <a:rPr lang="en-ID" sz="1600"/>
              <a:t>Control Logical Channel → network management messages.</a:t>
            </a:r>
          </a:p>
          <a:p>
            <a:pPr lvl="1"/>
            <a:r>
              <a:rPr lang="en-ID" sz="1600"/>
              <a:t>Signaling Logical Channel → PLS, MODCOD information.</a:t>
            </a:r>
          </a:p>
          <a:p>
            <a:r>
              <a:rPr lang="en-ID" sz="2000"/>
              <a:t>MAC Scheduler (Gateway)</a:t>
            </a:r>
          </a:p>
          <a:p>
            <a:pPr lvl="1"/>
            <a:r>
              <a:rPr lang="en-ID" sz="1600"/>
              <a:t>Maps logical channels into appropriate physical layer resources based on QoS, priority, and capacity.</a:t>
            </a:r>
          </a:p>
          <a:p>
            <a:r>
              <a:rPr lang="en-ID" sz="2000"/>
              <a:t>Physical Channels (DVB-S2X)</a:t>
            </a:r>
          </a:p>
          <a:p>
            <a:pPr lvl="1"/>
            <a:r>
              <a:rPr lang="en-ID" sz="1600"/>
              <a:t>PLFRAME / BBFRAME → encapsulated payload.</a:t>
            </a:r>
          </a:p>
          <a:p>
            <a:pPr lvl="1"/>
            <a:r>
              <a:rPr lang="en-ID" sz="1600"/>
              <a:t>Carrier Frequency → assigned RF channel.</a:t>
            </a:r>
          </a:p>
          <a:p>
            <a:pPr lvl="1"/>
            <a:r>
              <a:rPr lang="en-ID" sz="1600"/>
              <a:t>MODCOD → chosen modulation &amp; coding scheme.</a:t>
            </a:r>
          </a:p>
          <a:p>
            <a:r>
              <a:rPr lang="en-ID" sz="2000"/>
              <a:t>Transmission via Satellite</a:t>
            </a:r>
          </a:p>
          <a:p>
            <a:pPr lvl="1"/>
            <a:r>
              <a:rPr lang="en-ID" sz="1600"/>
              <a:t>Forward link over the satellite downlink to the RCST.</a:t>
            </a:r>
          </a:p>
        </p:txBody>
      </p:sp>
      <p:pic>
        <p:nvPicPr>
          <p:cNvPr id="4" name="Picture 3">
            <a:extLst>
              <a:ext uri="{FF2B5EF4-FFF2-40B4-BE49-F238E27FC236}">
                <a16:creationId xmlns:a16="http://schemas.microsoft.com/office/drawing/2014/main" id="{27729223-F8DF-4FCB-AED3-ABAFBF05D7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872216" cy="6858000"/>
          </a:xfrm>
          <a:prstGeom prst="rect">
            <a:avLst/>
          </a:prstGeom>
        </p:spPr>
      </p:pic>
    </p:spTree>
    <p:extLst>
      <p:ext uri="{BB962C8B-B14F-4D97-AF65-F5344CB8AC3E}">
        <p14:creationId xmlns:p14="http://schemas.microsoft.com/office/powerpoint/2010/main" val="19212369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9E55B-B35A-4615-BA54-26E4BF5A8B0D}"/>
              </a:ext>
            </a:extLst>
          </p:cNvPr>
          <p:cNvSpPr>
            <a:spLocks noGrp="1"/>
          </p:cNvSpPr>
          <p:nvPr>
            <p:ph type="title"/>
          </p:nvPr>
        </p:nvSpPr>
        <p:spPr>
          <a:xfrm>
            <a:off x="6096000" y="365125"/>
            <a:ext cx="5257800" cy="1325563"/>
          </a:xfrm>
        </p:spPr>
        <p:txBody>
          <a:bodyPr/>
          <a:lstStyle/>
          <a:p>
            <a:pPr algn="ctr"/>
            <a:r>
              <a:rPr lang="en-ID"/>
              <a:t>Channel Mapping: RCST → Gateway</a:t>
            </a:r>
          </a:p>
        </p:txBody>
      </p:sp>
      <p:sp>
        <p:nvSpPr>
          <p:cNvPr id="3" name="Content Placeholder 2">
            <a:extLst>
              <a:ext uri="{FF2B5EF4-FFF2-40B4-BE49-F238E27FC236}">
                <a16:creationId xmlns:a16="http://schemas.microsoft.com/office/drawing/2014/main" id="{D691D22E-E601-4412-94B9-3D5E87D955F7}"/>
              </a:ext>
            </a:extLst>
          </p:cNvPr>
          <p:cNvSpPr>
            <a:spLocks noGrp="1"/>
          </p:cNvSpPr>
          <p:nvPr>
            <p:ph idx="1"/>
          </p:nvPr>
        </p:nvSpPr>
        <p:spPr>
          <a:xfrm>
            <a:off x="6096000" y="1825625"/>
            <a:ext cx="5257800" cy="4802622"/>
          </a:xfrm>
        </p:spPr>
        <p:txBody>
          <a:bodyPr>
            <a:normAutofit fontScale="62500" lnSpcReduction="20000"/>
          </a:bodyPr>
          <a:lstStyle/>
          <a:p>
            <a:r>
              <a:rPr lang="en-ID"/>
              <a:t>Application / Network Layer (RCST)</a:t>
            </a:r>
          </a:p>
          <a:p>
            <a:pPr lvl="1"/>
            <a:r>
              <a:rPr lang="en-ID"/>
              <a:t>User-generated data (web requests, VoIP, telemetry, etc.) originates from the RCST.</a:t>
            </a:r>
          </a:p>
          <a:p>
            <a:r>
              <a:rPr lang="en-ID"/>
              <a:t>Logical Channels (DVB-RCS2)</a:t>
            </a:r>
          </a:p>
          <a:p>
            <a:pPr lvl="1"/>
            <a:r>
              <a:rPr lang="en-ID"/>
              <a:t>Traffic Logical Channel (TLC) → user payload data.</a:t>
            </a:r>
          </a:p>
          <a:p>
            <a:pPr lvl="1"/>
            <a:r>
              <a:rPr lang="en-ID"/>
              <a:t>Control Logical Channel (CLC) → network control commands for the NCC.</a:t>
            </a:r>
          </a:p>
          <a:p>
            <a:pPr lvl="1"/>
            <a:r>
              <a:rPr lang="en-ID"/>
              <a:t>Signaling Logical Channel (SLC) → burst timing, slot requests.</a:t>
            </a:r>
          </a:p>
          <a:p>
            <a:r>
              <a:rPr lang="en-ID"/>
              <a:t>MAC Scheduler (RCST + NCC Coordination)</a:t>
            </a:r>
          </a:p>
          <a:p>
            <a:pPr lvl="1"/>
            <a:r>
              <a:rPr lang="en-ID"/>
              <a:t>Uses MF-TDMA slot assignments received from NCC.</a:t>
            </a:r>
          </a:p>
          <a:p>
            <a:pPr lvl="1"/>
            <a:r>
              <a:rPr lang="en-ID"/>
              <a:t>Maps logical channels into the correct time slots, frequencies, and burst parameters.</a:t>
            </a:r>
          </a:p>
          <a:p>
            <a:r>
              <a:rPr lang="en-ID"/>
              <a:t>Physical Channels (DVB-RCS2)</a:t>
            </a:r>
          </a:p>
          <a:p>
            <a:pPr lvl="1"/>
            <a:r>
              <a:rPr lang="en-ID"/>
              <a:t>MF-TDMA Slots → time–frequency resource blocks for bursts.</a:t>
            </a:r>
          </a:p>
          <a:p>
            <a:pPr lvl="1"/>
            <a:r>
              <a:rPr lang="en-ID"/>
              <a:t>Carrier Frequency → uplink RF channel.</a:t>
            </a:r>
          </a:p>
          <a:p>
            <a:pPr lvl="1"/>
            <a:r>
              <a:rPr lang="en-ID"/>
              <a:t>MODCOD → modulation &amp; coding scheme for burst.</a:t>
            </a:r>
          </a:p>
          <a:p>
            <a:r>
              <a:rPr lang="en-ID"/>
              <a:t>Transmission via Satellite</a:t>
            </a:r>
          </a:p>
          <a:p>
            <a:pPr lvl="1"/>
            <a:r>
              <a:rPr lang="en-ID"/>
              <a:t>Return link uplink from RCST to satellite, then downlink to Gateway.</a:t>
            </a:r>
          </a:p>
        </p:txBody>
      </p:sp>
      <p:pic>
        <p:nvPicPr>
          <p:cNvPr id="4" name="Picture 3">
            <a:extLst>
              <a:ext uri="{FF2B5EF4-FFF2-40B4-BE49-F238E27FC236}">
                <a16:creationId xmlns:a16="http://schemas.microsoft.com/office/drawing/2014/main" id="{AF328ECA-4C83-40E0-8D5E-0DD206F9AD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9752"/>
            <a:ext cx="5884697" cy="6398495"/>
          </a:xfrm>
          <a:prstGeom prst="rect">
            <a:avLst/>
          </a:prstGeom>
        </p:spPr>
      </p:pic>
    </p:spTree>
    <p:extLst>
      <p:ext uri="{BB962C8B-B14F-4D97-AF65-F5344CB8AC3E}">
        <p14:creationId xmlns:p14="http://schemas.microsoft.com/office/powerpoint/2010/main" val="2263623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20DCA-9532-40BF-9EBD-86FB627F8FDD}"/>
              </a:ext>
            </a:extLst>
          </p:cNvPr>
          <p:cNvSpPr>
            <a:spLocks noGrp="1"/>
          </p:cNvSpPr>
          <p:nvPr>
            <p:ph type="title"/>
          </p:nvPr>
        </p:nvSpPr>
        <p:spPr>
          <a:xfrm>
            <a:off x="7931150" y="2873373"/>
            <a:ext cx="3898900" cy="1111250"/>
          </a:xfrm>
        </p:spPr>
        <p:txBody>
          <a:bodyPr>
            <a:normAutofit fontScale="90000"/>
          </a:bodyPr>
          <a:lstStyle/>
          <a:p>
            <a:r>
              <a:rPr lang="en-ID"/>
              <a:t>Recap: Channel Abstraction vs Reality</a:t>
            </a:r>
          </a:p>
        </p:txBody>
      </p:sp>
      <p:pic>
        <p:nvPicPr>
          <p:cNvPr id="13" name="Picture 12">
            <a:extLst>
              <a:ext uri="{FF2B5EF4-FFF2-40B4-BE49-F238E27FC236}">
                <a16:creationId xmlns:a16="http://schemas.microsoft.com/office/drawing/2014/main" id="{988563AD-AE9B-4DAB-911B-55F4E095AC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663" y="772665"/>
            <a:ext cx="7542831" cy="5312665"/>
          </a:xfrm>
          <a:prstGeom prst="rect">
            <a:avLst/>
          </a:prstGeom>
        </p:spPr>
      </p:pic>
    </p:spTree>
    <p:extLst>
      <p:ext uri="{BB962C8B-B14F-4D97-AF65-F5344CB8AC3E}">
        <p14:creationId xmlns:p14="http://schemas.microsoft.com/office/powerpoint/2010/main" val="3567828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5098-C48A-404B-9DE3-483FABDDB9EA}"/>
              </a:ext>
            </a:extLst>
          </p:cNvPr>
          <p:cNvSpPr>
            <a:spLocks noGrp="1"/>
          </p:cNvSpPr>
          <p:nvPr>
            <p:ph type="ctrTitle"/>
          </p:nvPr>
        </p:nvSpPr>
        <p:spPr>
          <a:xfrm>
            <a:off x="1057656" y="1050544"/>
            <a:ext cx="10076688" cy="2387600"/>
          </a:xfrm>
        </p:spPr>
        <p:txBody>
          <a:bodyPr/>
          <a:lstStyle/>
          <a:p>
            <a:r>
              <a:rPr lang="en-ID"/>
              <a:t>NTN (Non-Terrestrial Network) NR (New Radio)</a:t>
            </a:r>
          </a:p>
        </p:txBody>
      </p:sp>
      <p:sp>
        <p:nvSpPr>
          <p:cNvPr id="3" name="Subtitle 2">
            <a:extLst>
              <a:ext uri="{FF2B5EF4-FFF2-40B4-BE49-F238E27FC236}">
                <a16:creationId xmlns:a16="http://schemas.microsoft.com/office/drawing/2014/main" id="{A45F83B2-9755-4EB8-B2E9-DE81289E8EFC}"/>
              </a:ext>
            </a:extLst>
          </p:cNvPr>
          <p:cNvSpPr>
            <a:spLocks noGrp="1"/>
          </p:cNvSpPr>
          <p:nvPr>
            <p:ph type="subTitle" idx="1"/>
          </p:nvPr>
        </p:nvSpPr>
        <p:spPr/>
        <p:txBody>
          <a:bodyPr/>
          <a:lstStyle/>
          <a:p>
            <a:r>
              <a:rPr lang="en-US"/>
              <a:t>Implementing NTN NR On Top Of DVB L1</a:t>
            </a:r>
            <a:endParaRPr lang="en-ID"/>
          </a:p>
        </p:txBody>
      </p:sp>
    </p:spTree>
    <p:extLst>
      <p:ext uri="{BB962C8B-B14F-4D97-AF65-F5344CB8AC3E}">
        <p14:creationId xmlns:p14="http://schemas.microsoft.com/office/powerpoint/2010/main" val="913861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3B3EB-1EEA-4743-B544-DE2F0D09E5E1}"/>
              </a:ext>
            </a:extLst>
          </p:cNvPr>
          <p:cNvSpPr>
            <a:spLocks noGrp="1"/>
          </p:cNvSpPr>
          <p:nvPr>
            <p:ph type="title"/>
          </p:nvPr>
        </p:nvSpPr>
        <p:spPr>
          <a:xfrm>
            <a:off x="838200" y="0"/>
            <a:ext cx="10515600" cy="1325563"/>
          </a:xfrm>
        </p:spPr>
        <p:txBody>
          <a:bodyPr/>
          <a:lstStyle/>
          <a:p>
            <a:pPr algn="ctr"/>
            <a:r>
              <a:rPr lang="en-ID"/>
              <a:t>What is NTN NR</a:t>
            </a:r>
          </a:p>
        </p:txBody>
      </p:sp>
      <p:sp>
        <p:nvSpPr>
          <p:cNvPr id="3" name="Content Placeholder 2">
            <a:extLst>
              <a:ext uri="{FF2B5EF4-FFF2-40B4-BE49-F238E27FC236}">
                <a16:creationId xmlns:a16="http://schemas.microsoft.com/office/drawing/2014/main" id="{488C8475-5DD4-429B-86CD-FFC566AC509C}"/>
              </a:ext>
            </a:extLst>
          </p:cNvPr>
          <p:cNvSpPr>
            <a:spLocks noGrp="1"/>
          </p:cNvSpPr>
          <p:nvPr>
            <p:ph idx="1"/>
          </p:nvPr>
        </p:nvSpPr>
        <p:spPr>
          <a:xfrm>
            <a:off x="320040" y="2487167"/>
            <a:ext cx="11759184" cy="3982403"/>
          </a:xfrm>
        </p:spPr>
        <p:txBody>
          <a:bodyPr>
            <a:normAutofit fontScale="70000" lnSpcReduction="20000"/>
          </a:bodyPr>
          <a:lstStyle/>
          <a:p>
            <a:pPr marL="0" indent="0">
              <a:buNone/>
            </a:pPr>
            <a:r>
              <a:rPr lang="en-ID"/>
              <a:t>Definition</a:t>
            </a:r>
          </a:p>
          <a:p>
            <a:pPr lvl="1"/>
            <a:r>
              <a:rPr lang="en-ID"/>
              <a:t>NTN NR is the 3GPP adaptation of 5G New Radio (NR) technology for non-terrestrial platforms such as satellites and high-altitude platforms (HAPS).</a:t>
            </a:r>
          </a:p>
          <a:p>
            <a:pPr lvl="1"/>
            <a:r>
              <a:rPr lang="en-ID"/>
              <a:t>It extends NR to operate over GEO, MEO, and LEO satellites.</a:t>
            </a:r>
          </a:p>
          <a:p>
            <a:pPr marL="0" indent="0">
              <a:buNone/>
            </a:pPr>
            <a:r>
              <a:rPr lang="en-ID"/>
              <a:t>Purpose</a:t>
            </a:r>
          </a:p>
          <a:p>
            <a:pPr lvl="1"/>
            <a:r>
              <a:rPr lang="en-ID"/>
              <a:t>Integrate satellite access into the global 5G ecosystem.</a:t>
            </a:r>
          </a:p>
          <a:p>
            <a:pPr lvl="1"/>
            <a:r>
              <a:rPr lang="en-ID"/>
              <a:t>Support both direct-to-device (UE ↔ Satellite) and backhaul scenarios.</a:t>
            </a:r>
          </a:p>
          <a:p>
            <a:pPr lvl="1"/>
            <a:r>
              <a:rPr lang="en-ID"/>
              <a:t>Enable seamless mobility between terrestrial and non-terrestrial coverage.</a:t>
            </a:r>
          </a:p>
          <a:p>
            <a:pPr marL="0" indent="0">
              <a:buNone/>
            </a:pPr>
            <a:r>
              <a:rPr lang="en-ID"/>
              <a:t>Key Challenges</a:t>
            </a:r>
          </a:p>
          <a:p>
            <a:pPr lvl="1"/>
            <a:r>
              <a:rPr lang="en-ID"/>
              <a:t>Long Round-Trip Time (RTT) → Impacts HARQ, timing advance, buffer sizes.</a:t>
            </a:r>
          </a:p>
          <a:p>
            <a:pPr lvl="1"/>
            <a:r>
              <a:rPr lang="en-ID"/>
              <a:t>Doppler Shift (especially in LEO) → Requires frequency pre-compensation.</a:t>
            </a:r>
          </a:p>
          <a:p>
            <a:pPr lvl="1"/>
            <a:r>
              <a:rPr lang="en-ID"/>
              <a:t>Variable Link Quality → Requires adaptive modulation/coding &amp; beam handovers.</a:t>
            </a:r>
          </a:p>
          <a:p>
            <a:pPr marL="0" indent="0">
              <a:buNone/>
            </a:pPr>
            <a:r>
              <a:rPr lang="en-ID"/>
              <a:t>Relevance to DVB</a:t>
            </a:r>
          </a:p>
          <a:p>
            <a:pPr lvl="1"/>
            <a:r>
              <a:rPr lang="en-ID"/>
              <a:t>DVB-S2X and DVB-RCS2 provide the L1 PHY framing over which NTN NR’s higher layers could operate.The question is how to map NR’s protocol stack into DVB’s PHY/MAC framing while preserving QoS and timing requirements.</a:t>
            </a:r>
          </a:p>
        </p:txBody>
      </p:sp>
      <p:pic>
        <p:nvPicPr>
          <p:cNvPr id="6" name="Picture 5">
            <a:extLst>
              <a:ext uri="{FF2B5EF4-FFF2-40B4-BE49-F238E27FC236}">
                <a16:creationId xmlns:a16="http://schemas.microsoft.com/office/drawing/2014/main" id="{EEA17FE7-2368-466D-AC14-5331293493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5360" y="1049016"/>
            <a:ext cx="8341279" cy="1438151"/>
          </a:xfrm>
          <a:prstGeom prst="rect">
            <a:avLst/>
          </a:prstGeom>
        </p:spPr>
      </p:pic>
    </p:spTree>
    <p:extLst>
      <p:ext uri="{BB962C8B-B14F-4D97-AF65-F5344CB8AC3E}">
        <p14:creationId xmlns:p14="http://schemas.microsoft.com/office/powerpoint/2010/main" val="24315308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C867-ECD3-449C-B698-9E18C7886026}"/>
              </a:ext>
            </a:extLst>
          </p:cNvPr>
          <p:cNvSpPr>
            <a:spLocks noGrp="1"/>
          </p:cNvSpPr>
          <p:nvPr>
            <p:ph type="title"/>
          </p:nvPr>
        </p:nvSpPr>
        <p:spPr>
          <a:xfrm>
            <a:off x="650747" y="0"/>
            <a:ext cx="10890504" cy="1325563"/>
          </a:xfrm>
        </p:spPr>
        <p:txBody>
          <a:bodyPr/>
          <a:lstStyle/>
          <a:p>
            <a:pPr algn="ctr"/>
            <a:r>
              <a:rPr lang="en-ID"/>
              <a:t>Required Adaptations for NTN NR over DVB L1</a:t>
            </a:r>
          </a:p>
        </p:txBody>
      </p:sp>
      <p:pic>
        <p:nvPicPr>
          <p:cNvPr id="5" name="Content Placeholder 4">
            <a:extLst>
              <a:ext uri="{FF2B5EF4-FFF2-40B4-BE49-F238E27FC236}">
                <a16:creationId xmlns:a16="http://schemas.microsoft.com/office/drawing/2014/main" id="{165D9DF2-B3DE-4345-BD61-E9CF1DF8689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73237" y="1106297"/>
            <a:ext cx="7045523" cy="5401568"/>
          </a:xfrm>
        </p:spPr>
      </p:pic>
    </p:spTree>
    <p:extLst>
      <p:ext uri="{BB962C8B-B14F-4D97-AF65-F5344CB8AC3E}">
        <p14:creationId xmlns:p14="http://schemas.microsoft.com/office/powerpoint/2010/main" val="27385789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5098-C48A-404B-9DE3-483FABDDB9EA}"/>
              </a:ext>
            </a:extLst>
          </p:cNvPr>
          <p:cNvSpPr>
            <a:spLocks noGrp="1"/>
          </p:cNvSpPr>
          <p:nvPr>
            <p:ph type="ctrTitle"/>
          </p:nvPr>
        </p:nvSpPr>
        <p:spPr>
          <a:xfrm>
            <a:off x="1057656" y="1050544"/>
            <a:ext cx="10076688" cy="2387600"/>
          </a:xfrm>
        </p:spPr>
        <p:txBody>
          <a:bodyPr/>
          <a:lstStyle/>
          <a:p>
            <a:r>
              <a:rPr lang="id-ID"/>
              <a:t>Thankyou</a:t>
            </a:r>
            <a:endParaRPr lang="en-ID"/>
          </a:p>
        </p:txBody>
      </p:sp>
      <p:sp>
        <p:nvSpPr>
          <p:cNvPr id="3" name="Subtitle 2">
            <a:extLst>
              <a:ext uri="{FF2B5EF4-FFF2-40B4-BE49-F238E27FC236}">
                <a16:creationId xmlns:a16="http://schemas.microsoft.com/office/drawing/2014/main" id="{A45F83B2-9755-4EB8-B2E9-DE81289E8EFC}"/>
              </a:ext>
            </a:extLst>
          </p:cNvPr>
          <p:cNvSpPr>
            <a:spLocks noGrp="1"/>
          </p:cNvSpPr>
          <p:nvPr>
            <p:ph type="subTitle" idx="1"/>
          </p:nvPr>
        </p:nvSpPr>
        <p:spPr/>
        <p:txBody>
          <a:bodyPr/>
          <a:lstStyle/>
          <a:p>
            <a:endParaRPr lang="en-ID"/>
          </a:p>
        </p:txBody>
      </p:sp>
    </p:spTree>
    <p:extLst>
      <p:ext uri="{BB962C8B-B14F-4D97-AF65-F5344CB8AC3E}">
        <p14:creationId xmlns:p14="http://schemas.microsoft.com/office/powerpoint/2010/main" val="487577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7094</TotalTime>
  <Words>6993</Words>
  <Application>Microsoft Office PowerPoint</Application>
  <PresentationFormat>Widescreen</PresentationFormat>
  <Paragraphs>698</Paragraphs>
  <Slides>50</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Calibri Light</vt:lpstr>
      <vt:lpstr>Office Theme</vt:lpstr>
      <vt:lpstr>DVB-S2X &amp; RCS2</vt:lpstr>
      <vt:lpstr>Contents:</vt:lpstr>
      <vt:lpstr>DVB-S2X &amp; RCS2</vt:lpstr>
      <vt:lpstr>Overview of DVB-S2X (Forward Link)</vt:lpstr>
      <vt:lpstr>Overview of DVB-RCS2 (Return Link)</vt:lpstr>
      <vt:lpstr>System Components: DVB-S2X</vt:lpstr>
      <vt:lpstr>System Components: DVB-RCS2</vt:lpstr>
      <vt:lpstr>Forward Link Architecture (DVB-S2X)</vt:lpstr>
      <vt:lpstr>Return Link Architecture (DVB-RCS2)</vt:lpstr>
      <vt:lpstr>Combined DVB System Architecture</vt:lpstr>
      <vt:lpstr>Key Takeaways</vt:lpstr>
      <vt:lpstr>DVB-S2X &amp; RCS2</vt:lpstr>
      <vt:lpstr>DVB-S2X System Overview (Forward Link)</vt:lpstr>
      <vt:lpstr>DVB-S2X Forward Link Protocol Stack</vt:lpstr>
      <vt:lpstr>Encapsulation – GSE &amp; Baseband Frame (BBFRAME)</vt:lpstr>
      <vt:lpstr>Physical Layer Framing – FEC &amp; PLFRAME</vt:lpstr>
      <vt:lpstr>DVB-RCS2 System Overview</vt:lpstr>
      <vt:lpstr>Gateway and NCC responsibilities.</vt:lpstr>
      <vt:lpstr>RCST (User Terminal) Functions</vt:lpstr>
      <vt:lpstr>DVB-RCS2 Return Link Protocol Stack</vt:lpstr>
      <vt:lpstr>Physical Layer: DVB-RCS2 Return Link Transmission</vt:lpstr>
      <vt:lpstr>QoS and Scheduling in DVB-RCS2 Return Link</vt:lpstr>
      <vt:lpstr>DVB-S2X &amp; RCS2</vt:lpstr>
      <vt:lpstr>Intro to L1 Framing (DVB-S2X &amp; RCS2)</vt:lpstr>
      <vt:lpstr>Baseband Frame (BBFRAME) Structure</vt:lpstr>
      <vt:lpstr>Forward Error Correction: LDPC + BCH</vt:lpstr>
      <vt:lpstr>PLFRAME Composition &amp; PLS Header</vt:lpstr>
      <vt:lpstr>MODCOD Mapping &amp; ACM in DVB-S2X</vt:lpstr>
      <vt:lpstr>Superframe Structure</vt:lpstr>
      <vt:lpstr>Return Link Burst Framing (MF-TDMA in DVB-RCS2)</vt:lpstr>
      <vt:lpstr>MF-TDMA Burst Grid in Return Link (DVB-RCS2)</vt:lpstr>
      <vt:lpstr>Slot Assignment Strategy in DVB-RCS2</vt:lpstr>
      <vt:lpstr>RCST Return Burst Timing</vt:lpstr>
      <vt:lpstr>RCS2 Modulation &amp; Coding</vt:lpstr>
      <vt:lpstr>Recap : End-to-End Framing</vt:lpstr>
      <vt:lpstr>DVB-S2X &amp; RCS2</vt:lpstr>
      <vt:lpstr>Intro To Logical &amp; Physical Channels</vt:lpstr>
      <vt:lpstr>What Are Logical Channels</vt:lpstr>
      <vt:lpstr>What Are Physical Channels</vt:lpstr>
      <vt:lpstr>Logical Channels In DVB-S2X</vt:lpstr>
      <vt:lpstr>Physical Channels In DVB-S2X</vt:lpstr>
      <vt:lpstr>Logical Channels In DVB-RCS2</vt:lpstr>
      <vt:lpstr>Physical Channels In DVB-RCS2</vt:lpstr>
      <vt:lpstr>Channel Mapping: Gateway → RCST</vt:lpstr>
      <vt:lpstr>Channel Mapping: RCST → Gateway</vt:lpstr>
      <vt:lpstr>Recap: Channel Abstraction vs Reality</vt:lpstr>
      <vt:lpstr>NTN (Non-Terrestrial Network) NR (New Radio)</vt:lpstr>
      <vt:lpstr>What is NTN NR</vt:lpstr>
      <vt:lpstr>Required Adaptations for NTN NR over DVB L1</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DVB-S2X &amp; RCS2</dc:title>
  <dc:creator>JOY</dc:creator>
  <cp:lastModifiedBy>JOY</cp:lastModifiedBy>
  <cp:revision>8</cp:revision>
  <dcterms:created xsi:type="dcterms:W3CDTF">2025-08-02T09:41:43Z</dcterms:created>
  <dcterms:modified xsi:type="dcterms:W3CDTF">2025-08-12T10:28:18Z</dcterms:modified>
</cp:coreProperties>
</file>